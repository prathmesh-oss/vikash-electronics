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u_fl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097280" cy="949747"/>
          </a:xfrm>
          <a:prstGeom prst="rect">
            <a:avLst/>
          </a:prstGeom>
        </p:spPr>
      </p:pic>
      <p:pic>
        <p:nvPicPr>
          <p:cNvPr id="3" name="Picture 2" descr="amtics_circl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365760"/>
            <a:ext cx="1097280" cy="804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0" y="365760"/>
            <a:ext cx="81683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Arial"/>
              </a:rPr>
              <a:t>Asha M. Tarsadia Institute of
Computer Science and Technology</a:t>
            </a:r>
          </a:p>
          <a:p>
            <a:pPr algn="ctr">
              <a:spcBef>
                <a:spcPts val="600"/>
              </a:spcBef>
            </a:pPr>
            <a:r>
              <a:rPr sz="2000" b="1">
                <a:solidFill>
                  <a:srgbClr val="0F4C81"/>
                </a:solidFill>
                <a:latin typeface="Arial"/>
              </a:rPr>
              <a:t>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284C7"/>
                </a:solidFill>
                <a:latin typeface="Arial"/>
              </a:rPr>
              <a:t>Vikash Electronics – Web-Based DJ &amp; Electronic Equipment Repair Management and Showcase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rial"/>
              </a:rPr>
              <a:t>Prepared by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Arial"/>
              </a:rPr>
              <a:t>Prathmesh Chaudhari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0F172A"/>
                </a:solidFill>
                <a:latin typeface="Arial"/>
              </a:rPr>
              <a:t>(Enrollment No: 202503103510061)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534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rial"/>
              </a:rPr>
              <a:t>Guided by</a:t>
            </a:r>
          </a:p>
          <a:p>
            <a:pPr algn="ctr">
              <a:spcBef>
                <a:spcPts val="400"/>
              </a:spcBef>
            </a:pPr>
            <a:r>
              <a:rPr sz="1500">
                <a:solidFill>
                  <a:srgbClr val="0F172A"/>
                </a:solidFill>
                <a:latin typeface="Arial"/>
              </a:rPr>
              <a:t>Prof. [Guide Name / Faculty Advisor]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8869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 Client Profile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 Project Introduction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 Objective(s)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 Problem Analysis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 Requirement Engineering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 Software Development Model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 Modeling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 Others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Client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700" b="1">
                <a:solidFill>
                  <a:srgbClr val="0F172A"/>
                </a:solidFill>
                <a:latin typeface="Arial"/>
              </a:rPr>
              <a:t>Client name and address: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    • Client / Business Name: Vikash Electronics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    • Proprietor &amp; Chief Technician: Mr. Murlidhar Chaudhari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    • Workshop Address: Plot No. 199, Sarve No. 1-2, Sanjay Nagar, Near Udhna Yard, Limbayat, Surat - 394210, Gujarat, India.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    • Direct Contact: +91 98254 85520 | Domain: Pro-Audio &amp; Stage Lighting Electronic Repairs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0F172A"/>
                </a:solidFill>
                <a:latin typeface="Arial"/>
              </a:rPr>
              <a:t>Your communication: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    • Conducted in-person field visits to the Surat workshop to observe live repair processes (voice coil rewinding, transistor testing, and Sharpy optical calibration).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    • Engaged in iterative telephonic &amp; WhatsApp sessions to prioritize essential customer touchpoints (instant phone dialer, emergency WhatsApp chat, equipment categories).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    • Demonstrated responsive prototypes on mobile and desktop devices to validate usability and local SEO requirements.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0F172A"/>
                </a:solidFill>
                <a:latin typeface="Arial"/>
              </a:rPr>
              <a:t>Contract letter: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    • Obtained formal Project Authorization &amp; Client Consent from Mr. Murlidhar Chaudhari (Owner, Vikash Electronics) endorsing the design, development, and digital launch of the web portal.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500" b="1">
                <a:solidFill>
                  <a:srgbClr val="0F172A"/>
                </a:solidFill>
                <a:latin typeface="Arial"/>
              </a:rPr>
              <a:t>•  Background of the Business:
</a:t>
            </a:r>
            <a:r>
              <a:rPr sz="1250">
                <a:solidFill>
                  <a:srgbClr val="334155"/>
                </a:solidFill>
                <a:latin typeface="Arial"/>
              </a:rPr>
              <a:t>    Surat hosts thousands of grand events, weddings, stage performances, and DJ concerts annually, creating massive demand for reliable high-voltage audio and stage lighting gear. Vikash Electronics is a premier specialized repair center handling professional power amplifiers, 18-inch subwoofers, line arrays, Sharpy moving head lights, DMX consoles, and smart TVs.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F172A"/>
                </a:solidFill>
                <a:latin typeface="Arial"/>
              </a:rPr>
              <a:t>•  The Core Problem &amp; Gap:
</a:t>
            </a:r>
            <a:r>
              <a:rPr sz="1250">
                <a:solidFill>
                  <a:srgbClr val="334155"/>
                </a:solidFill>
                <a:latin typeface="Arial"/>
              </a:rPr>
              <a:t>    Historically, specialized repair services operated strictly through word-of-mouth with zero digital presence. Event managers, DJ operators, and sound suppliers facing urgent on-site equipment breakdowns lacked immediate access to service specializations, workshop credibility, exact location, or direct emergency contact.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F172A"/>
                </a:solidFill>
                <a:latin typeface="Arial"/>
              </a:rPr>
              <a:t>•  Proposed Web-Based Solution:
</a:t>
            </a:r>
            <a:r>
              <a:rPr sz="1250">
                <a:solidFill>
                  <a:srgbClr val="334155"/>
                </a:solidFill>
                <a:latin typeface="Arial"/>
              </a:rPr>
              <a:t>    A modern, highly performant web application engineered using Next.js 14, TypeScript, and TailwindCSS. The platform serves as a complete digital service catalog, local SEO engine with Schema.org LocalBusiness structured data, authentic workshop credentialing showcase, and direct one-click communication bridge.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Objective(s)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•  1. Establish Comprehensive Online Service Showcase: </a:t>
            </a:r>
            <a:r>
              <a:rPr sz="1200">
                <a:solidFill>
                  <a:srgbClr val="334155"/>
                </a:solidFill>
                <a:latin typeface="Arial"/>
              </a:rPr>
              <a:t>Present an organized, technically detailed catalog of all 8 repair specializations (Speakers, Amplifiers, Sharpy Lights, DJ Lights, Mixers, Home Theatres, TVs, and Custom Electronics).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•  2. Enable Rapid One-Touch Customer Acquisition: </a:t>
            </a:r>
            <a:r>
              <a:rPr sz="1200">
                <a:solidFill>
                  <a:srgbClr val="334155"/>
                </a:solidFill>
                <a:latin typeface="Arial"/>
              </a:rPr>
              <a:t>Implement frictionless direct calling (`tel:`) and instant pre-filled WhatsApp inquiry bridges (`wa.me`) optimized for mobile sound engineers needing urgent event repairs.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•  3. Promote Authenticity &amp; Technical Credibility: </a:t>
            </a:r>
            <a:r>
              <a:rPr sz="1200">
                <a:solidFill>
                  <a:srgbClr val="334155"/>
                </a:solidFill>
                <a:latin typeface="Arial"/>
              </a:rPr>
              <a:t>Showcase verified workshop testing instruments (oscilloscopes, power variacs, signal generators) and chief technician profile (Murlidhar Chaudhari) to inspire customer confidence.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•  4. Dominate Local Search Indexing (Local SEO): </a:t>
            </a:r>
            <a:r>
              <a:rPr sz="1200">
                <a:solidFill>
                  <a:srgbClr val="334155"/>
                </a:solidFill>
                <a:latin typeface="Arial"/>
              </a:rPr>
              <a:t>Embed Schema.org LocalBusiness JSON-LD structured data and geo-targeted keywords to rank on Google Search for DJ &amp; electronic equipment repairs in Surat and South Gujarat.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•  5. High Performance, Accessibility &amp; Responsiveness: </a:t>
            </a:r>
            <a:r>
              <a:rPr sz="1200">
                <a:solidFill>
                  <a:srgbClr val="334155"/>
                </a:solidFill>
                <a:latin typeface="Arial"/>
              </a:rPr>
              <a:t>Achieve sub-second load times, smooth responsive UI across devices, and dark-themed aesthetics aligned with the entertainment and stage lighting industry.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Problem Analysis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(Understand the problem)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I. Who are the stakeholders in the solution to the problem?
</a:t>
            </a:r>
            <a:r>
              <a:rPr sz="1100">
                <a:solidFill>
                  <a:srgbClr val="334155"/>
                </a:solidFill>
                <a:latin typeface="Arial"/>
              </a:rPr>
              <a:t>    • Primary Stakeholders: Workshop Owner &amp; Chief Technician (Murlidhar Chaudhari), Professional DJs, Event Management Companies, Stage Lighting Operators, Sound System Rental Providers.
• Secondary Stakeholders: Marriage Band Crews, Auditorium Managers, and Household Consumers requiring AV Receiver / Smart TV repairs.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II. What are the unknowns?
</a:t>
            </a:r>
            <a:r>
              <a:rPr sz="1100">
                <a:solidFill>
                  <a:srgbClr val="334155"/>
                </a:solidFill>
                <a:latin typeface="Arial"/>
              </a:rPr>
              <a:t>    • Diverse hardware architectures across domestic and imported brands (Yamaha, Pioneer, Studio Master, Clay Paky, JBL).
• Component availability, varying degree of burn/thermal damage, and non-standard turnaround times per fault.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III. Can the problem be compartmentalized?
</a:t>
            </a:r>
            <a:r>
              <a:rPr sz="1100">
                <a:solidFill>
                  <a:srgbClr val="334155"/>
                </a:solidFill>
                <a:latin typeface="Arial"/>
              </a:rPr>
              <a:t>    • Yes, into distinct functional subsystems: (1) Service Catalog &amp; Hardware Diagnostic Showcase, (2) Direct Emergency Customer Outreach (Call/WhatsApp), (3) Workshop Credibility &amp; Bench Verification, (4) Geolocation Routing (Google Maps), and (5) Local SEO Rich Snippets.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IV. Can the problem be represented graphically?
</a:t>
            </a:r>
            <a:r>
              <a:rPr sz="1100">
                <a:solidFill>
                  <a:srgbClr val="334155"/>
                </a:solidFill>
                <a:latin typeface="Arial"/>
              </a:rPr>
              <a:t>    • Yes, via System Architecture Diagrams, User Interaction Flowcharts, Component Hierarchies, and Use Case Diagrams.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Problem Analysis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(Plan the solution)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I. Have you seen similar problem before?
</a:t>
            </a:r>
            <a:r>
              <a:rPr sz="1100">
                <a:solidFill>
                  <a:srgbClr val="334155"/>
                </a:solidFill>
                <a:latin typeface="Arial"/>
              </a:rPr>
              <a:t>    • Yes; local specialized engineering and electronics repair workshops frequently face digital invisibility, relying heavily on traditional word-of-mouth without structured online branding.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II. Has a similar problem been solved?
</a:t>
            </a:r>
            <a:r>
              <a:rPr sz="1100">
                <a:solidFill>
                  <a:srgbClr val="334155"/>
                </a:solidFill>
                <a:latin typeface="Arial"/>
              </a:rPr>
              <a:t>    • Generic business directories (e.g., Justdial, IndiaMART) list repairers, but they lack technical depth (voice coil rewinding, 2SC5200 transistor matching, DMX-512 protocols), exhibit heavy ad clutter, and do not build individual workshop brand equity.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III. Can sub-problems be defined?
</a:t>
            </a:r>
            <a:r>
              <a:rPr sz="1100">
                <a:solidFill>
                  <a:srgbClr val="334155"/>
                </a:solidFill>
                <a:latin typeface="Arial"/>
              </a:rPr>
              <a:t>    • Sub-problem 1: Technical Presentation — Explaining complex electronic repair procedures clearly to both seasoned audio engineers and non-technical clients.
• Sub-problem 2: Frictionless Engagement — Providing direct calling without burdensome account registrations.
• Sub-problem 3: Precise Geolocation — Navigating clients to the workshop located in industrial Limbayat, Surat.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IV. Can you represent a solution in a manner that leads to effective implementation?
</a:t>
            </a:r>
            <a:r>
              <a:rPr sz="1100">
                <a:solidFill>
                  <a:srgbClr val="334155"/>
                </a:solidFill>
                <a:latin typeface="Arial"/>
              </a:rPr>
              <a:t>    • Yes; by designing a decoupled component-driven web application using Next.js 14 App Router, structured TypeScript data models (`business.ts`), Tailwind CSS design tokens, and LocalBusiness schema markup.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Problem Analysis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(Carry out the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I. Does the solution conform to the plan?
</a:t>
            </a:r>
            <a:r>
              <a:rPr sz="1150">
                <a:solidFill>
                  <a:srgbClr val="334155"/>
                </a:solidFill>
                <a:latin typeface="Arial"/>
              </a:rPr>
              <a:t>    • Yes; the project strictly conforms to planned engineering architecture:
  - Framework: Next.js 14 (React 18) leveraging Server Components and fast Client hydration.
  - Layout System: Modular component hierarchy (`Navbar`, `Hero`, `Services`, `About`, `Contact`, `Footer`).
  - Data Abstraction: Centralized data repository (`src/data/business.ts`) allowing rapid maintenance.
  - Responsive Design: Tailwind CSS mobile-first breakpoint grid (`sm`, `md`, `lg`, `xl`).
  - SEO Compliance: Semantic HTML5, metadata objects, OpenGraph tags, and Schema.org JSON-LD.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II. Is each component part of the solution provably correct?
</a:t>
            </a:r>
            <a:r>
              <a:rPr sz="1150">
                <a:solidFill>
                  <a:srgbClr val="334155"/>
                </a:solidFill>
                <a:latin typeface="Arial"/>
              </a:rPr>
              <a:t>    • Verified through rigorous unit &amp; functional inspection:
  - Navigation (`Navbar.tsx`): Correct anchor routing `#home`, `#services`, `#about`, `#contact` with mobile menu toggle.
  - Service Cards (`ServiceCard.tsx`): Type-safe prop rendering with icon bindings and technical highlight tags.
  - Communication Bridges: Validated tel-links (`tel:9825485520`) and WhatsApp API endpoints.
  - Map Component: Correct Google Maps iframe integration targeting Plot 199, Sanjay Nagar, Limbayat coordinates.
  - Build Integrity: Clean compilation with zero TypeScript errors under `tsc --noEmit`.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Problem Analysis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(Examine the results)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I. Is it possible to test each component part of the solution?
</a:t>
            </a:r>
            <a:r>
              <a:rPr sz="1150">
                <a:solidFill>
                  <a:srgbClr val="334155"/>
                </a:solidFill>
                <a:latin typeface="Arial"/>
              </a:rPr>
              <a:t>    • Yes; tested comprehensively using multiple verification methods:
  - Local Server Verification: Next.js dev server running on `http://localhost:3000` with sub-100ms response times.
  - Responsive Layout Testing: Verified using Chrome DevTools across Mobile (375px), Tablet (768px), and Desktop (1280px+).
  - Link &amp; Action Verification: Validated calling functions, WhatsApp redirects, and external map routing.
  - Static Type Checking: Validated with TypeScript 5 compiler ensuring 100% type soundness.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F172A"/>
                </a:solidFill>
                <a:latin typeface="Arial"/>
              </a:rPr>
              <a:t>II. Does the solution produce results that conform to the data, functions, and features that are required?
</a:t>
            </a:r>
            <a:r>
              <a:rPr sz="1150">
                <a:solidFill>
                  <a:srgbClr val="334155"/>
                </a:solidFill>
                <a:latin typeface="Arial"/>
              </a:rPr>
              <a:t>    • Fully verified and conforming to all required business criteria:
  - Displays authentic business identity, technician name (Murlidhar Chaudhari), and Limbayat address.
  - Accurately details 8 distinct repair domains with high-resolution photographic evidence.
  - Google Rich Snippets Validator confirms valid JSON-LD LocalBusiness markup.
  - Provides instant customer touchpoints, fulfilling the core objective of digital lead generation for the workshop.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Requirement Engineering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(Client-side communication)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rial"/>
              </a:rPr>
              <a:t>Requirements collected during stakeholder meetings with Mr. Murlidhar Chaudhari (Proprietor):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•  1. Highlighting Niche DJ &amp; Pro Audio Specialization: </a:t>
            </a:r>
            <a:r>
              <a:rPr sz="1150">
                <a:solidFill>
                  <a:srgbClr val="334155"/>
                </a:solidFill>
                <a:latin typeface="Arial"/>
              </a:rPr>
              <a:t>Prioritize heavy equipment repair (voice coils, toroidal transformers, power MOSFETs) to distinguish the workshop from generic small appliance repairers.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•  2. Genuine Workshop &amp; Precision Bench Imagery: </a:t>
            </a:r>
            <a:r>
              <a:rPr sz="1150">
                <a:solidFill>
                  <a:srgbClr val="334155"/>
                </a:solidFill>
                <a:latin typeface="Arial"/>
              </a:rPr>
              <a:t>Feature real photos of the Limbayat testing facility, repair workbench, and diagnostic tools to build authentic trust among touring sound engineers and event managers.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•  3. Direct Phone &amp; Instant WhatsApp Helpline: </a:t>
            </a:r>
            <a:r>
              <a:rPr sz="1150">
                <a:solidFill>
                  <a:srgbClr val="334155"/>
                </a:solidFill>
                <a:latin typeface="Arial"/>
              </a:rPr>
              <a:t>Prominently display `+91 98254 85520` with one-tap dialer and WhatsApp chat for emergency event breakdowns (especially weekend weddings and music shows).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•  4. Geolocation Accuracy in Limbayat, Surat: </a:t>
            </a:r>
            <a:r>
              <a:rPr sz="1150">
                <a:solidFill>
                  <a:srgbClr val="334155"/>
                </a:solidFill>
                <a:latin typeface="Arial"/>
              </a:rPr>
              <a:t>Integrate explicit postal address (Plot 199, Sarve No. 1-2, Sanjay Nagar, Udhna Yard, Limbayat) and an interactive map to prevent logistics confusion.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•  5. Dark-Themed Professional Visual Tone: </a:t>
            </a:r>
            <a:r>
              <a:rPr sz="1150">
                <a:solidFill>
                  <a:srgbClr val="334155"/>
                </a:solidFill>
                <a:latin typeface="Arial"/>
              </a:rPr>
              <a:t>Adopt high-contrast dark aesthetics (navy slate `#0B1120`, amber gold `#F59E0B`, electric cyan `#38BDF8`) reflecting pro-audio concert and lighting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Requirement Engineering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(Functional Requirements)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32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0"/>
              </a:tblGrid>
              <a:tr h="4206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FR-1</a:t>
                      </a:r>
                    </a:p>
                  </a:txBody>
                  <a:tcPr>
                    <a:solidFill>
                      <a:srgbClr val="E6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Equipment Repair Service Catalog</a:t>
                      </a:r>
                    </a:p>
                  </a:txBody>
                  <a:tcPr>
                    <a:solidFill>
                      <a:srgbClr val="E6CCC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Allows users to browse categorized electronic repair capabilities with technical failure modes.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Actor(s)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Customer (DJ, Event Manager, Consumer)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Input(s)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User scrolls to services or clicks category tabs (Audio, Lighting, Visual, General).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Output(s)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Renders structured service cards with equipment images, failure symptoms, and component fixes.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4114800"/>
          <a:ext cx="10332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0"/>
              </a:tblGrid>
              <a:tr h="4206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FR-2</a:t>
                      </a:r>
                    </a:p>
                  </a:txBody>
                  <a:tcPr>
                    <a:solidFill>
                      <a:srgbClr val="E6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Direct Emergency Communication (Call &amp; WhatsApp)</a:t>
                      </a:r>
                    </a:p>
                  </a:txBody>
                  <a:tcPr>
                    <a:solidFill>
                      <a:srgbClr val="E6CCC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Provides instant telephonic and WhatsApp connection to the chief technician.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Actor(s)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Customer, Chief Technician (Murlidhar Chaudhari)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Input(s)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User clicks on 'Call Now' (+91 98254 85520) or 'Inquire on WhatsApp' action buttons.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Output(s)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Prompts mobile phone dialer or opens WhatsApp chat with pre-filled repair inquiry message.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Software Development Model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(Agile Development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rial"/>
              </a:rPr>
              <a:t>Model Chosen: Agile Methodology (Iterative &amp; Incremental Development)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•  Why Agile for this Project?
</a:t>
            </a:r>
            <a:r>
              <a:rPr sz="1050">
                <a:solidFill>
                  <a:srgbClr val="334155"/>
                </a:solidFill>
                <a:latin typeface="Arial"/>
              </a:rPr>
              <a:t>    Agile was selected due to the evolving requirement specifications from the workshop client, requiring continuous feedback loops, rapid prototype validation, and progressive photo cataloging of specialized electronic gear.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•  Sprint 1 – Requirement Engineering &amp; Wireframing:
</a:t>
            </a:r>
            <a:r>
              <a:rPr sz="1050">
                <a:solidFill>
                  <a:srgbClr val="334155"/>
                </a:solidFill>
                <a:latin typeface="Arial"/>
              </a:rPr>
              <a:t>    • On-site workshop interviews in Limbayat to capture hardware scope (Sharpy lights, line arrays, PA amps).
• Low-fidelity wireframing of responsive layouts and user flow mapping.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•  Sprint 2 – Core Architectural Scaffolding:
</a:t>
            </a:r>
            <a:r>
              <a:rPr sz="1050">
                <a:solidFill>
                  <a:srgbClr val="334155"/>
                </a:solidFill>
                <a:latin typeface="Arial"/>
              </a:rPr>
              <a:t>    • Next.js 14 project initialization with TypeScript and Tailwind CSS configuration.
• Establishment of centralized data schema in `src/data/business.ts` and component skeleton.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•  Sprint 3 – UI Implementation &amp; Interactivity:
</a:t>
            </a:r>
            <a:r>
              <a:rPr sz="1050">
                <a:solidFill>
                  <a:srgbClr val="334155"/>
                </a:solidFill>
                <a:latin typeface="Arial"/>
              </a:rPr>
              <a:t>    • Development of modular UI sections (`Hero`, `ServiceCard`, `About`, `Contact`, `Footer`).
• Implementation of Framer Motion micro-animations, responsive drawer, and Google Maps embed.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•  Sprint 4 – SEO Optimization, Quality Assurance &amp; Deployment:
</a:t>
            </a:r>
            <a:r>
              <a:rPr sz="1050">
                <a:solidFill>
                  <a:srgbClr val="334155"/>
                </a:solidFill>
                <a:latin typeface="Arial"/>
              </a:rPr>
              <a:t>    • Embedding Schema.org LocalBusiness JSON-LD markup, OpenGraph social preview tags.
• Lighthouse audit, cross-browser compatibility testing, and client sign-off.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Modeling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(Developing the use cases)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I. Primary &amp; Secondary actors? </a:t>
            </a:r>
            <a:r>
              <a:rPr sz="1000">
                <a:solidFill>
                  <a:srgbClr val="334155"/>
                </a:solidFill>
                <a:latin typeface="Arial"/>
              </a:rPr>
              <a:t>Primary: Event Organizers, DJs, Sound Rental Vendors, Household Consumers. Secondary: Chief Technician (Murlidhar Chaudhari).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II. Actor's goal(s)? </a:t>
            </a:r>
            <a:r>
              <a:rPr sz="1000">
                <a:solidFill>
                  <a:srgbClr val="334155"/>
                </a:solidFill>
                <a:latin typeface="Arial"/>
              </a:rPr>
              <a:t>Identify repair capabilities for faulty gear, verify workshop trustworthiness, and initiate instant repair inquiry.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III. Preconditions required? </a:t>
            </a:r>
            <a:r>
              <a:rPr sz="1000">
                <a:solidFill>
                  <a:srgbClr val="334155"/>
                </a:solidFill>
                <a:latin typeface="Arial"/>
              </a:rPr>
              <a:t>Active internet connection and modern web browser (mobile/desktop).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IV. Main tasks performed? </a:t>
            </a:r>
            <a:r>
              <a:rPr sz="1000">
                <a:solidFill>
                  <a:srgbClr val="334155"/>
                </a:solidFill>
                <a:latin typeface="Arial"/>
              </a:rPr>
              <a:t>Browse repair categories, review diagnostic highlights, trigger direct phone calls, initiate WhatsApp messages, and locate workshop via map.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V. Exceptions considered? </a:t>
            </a:r>
            <a:r>
              <a:rPr sz="1000">
                <a:solidFill>
                  <a:srgbClr val="334155"/>
                </a:solidFill>
                <a:latin typeface="Arial"/>
              </a:rPr>
              <a:t>Network disconnect (served via service worker/cached assets); device lacks native dialer (fallback copy-to-clipboard).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VI. Interaction variations? </a:t>
            </a:r>
            <a:r>
              <a:rPr sz="1000">
                <a:solidFill>
                  <a:srgbClr val="334155"/>
                </a:solidFill>
                <a:latin typeface="Arial"/>
              </a:rPr>
              <a:t>Direct mobile call vs. desktop WhatsApp Web redirect; list view vs. category-filtered view.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VII. System information handled? </a:t>
            </a:r>
            <a:r>
              <a:rPr sz="1000">
                <a:solidFill>
                  <a:srgbClr val="334155"/>
                </a:solidFill>
                <a:latin typeface="Arial"/>
              </a:rPr>
              <a:t>Service details, workshop GPS coordinates, business operating hours (Mon-Sat 9:30 AM - 9:00 PM).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VIII. External environment updates? </a:t>
            </a:r>
            <a:r>
              <a:rPr sz="1000">
                <a:solidFill>
                  <a:srgbClr val="334155"/>
                </a:solidFill>
                <a:latin typeface="Arial"/>
              </a:rPr>
              <a:t>Dynamic business telephone numbers or new equipment specializations updated via centralized data layer.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IX. Information desired by actor? </a:t>
            </a:r>
            <a:r>
              <a:rPr sz="1000">
                <a:solidFill>
                  <a:srgbClr val="334155"/>
                </a:solidFill>
                <a:latin typeface="Arial"/>
              </a:rPr>
              <a:t>Estimated repair turnaround time, component-level repair feasibility, workshop physical location.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X. Informed of unexpected changes? </a:t>
            </a:r>
            <a:r>
              <a:rPr sz="1000">
                <a:solidFill>
                  <a:srgbClr val="334155"/>
                </a:solidFill>
                <a:latin typeface="Arial"/>
              </a:rPr>
              <a:t>Yes; critical workshop holiday schedules or emergency on-call notices displayed in the status banner.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Modeling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(Use cases)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32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321040"/>
              </a:tblGrid>
              <a:tr h="42062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&lt;use_case_name&gt;</a:t>
                      </a:r>
                    </a:p>
                  </a:txBody>
                  <a:tcPr>
                    <a:solidFill>
                      <a:srgbClr val="E6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UC-1: Equipment Repair Consultation &amp; Booking</a:t>
                      </a:r>
                    </a:p>
                  </a:txBody>
                  <a:tcPr>
                    <a:solidFill>
                      <a:srgbClr val="E6CCC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Primary Actor(s)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Customer (DJ, Event Organizer, Sound Vendor)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Goal of the 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Inquire about diagnostic feasibility, repair estimation, and drop-off scheduling.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Precondition(s)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User has navigated to the Vikash Electronics portal on mobile or desktop.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User clicks on 'Call Now' (+91 98254 85520) or 'Inquire on WhatsApp' on a specific equipment service.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4114800"/>
          <a:ext cx="10332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321040"/>
              </a:tblGrid>
              <a:tr h="42062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&lt;use_case_name&gt;</a:t>
                      </a:r>
                    </a:p>
                  </a:txBody>
                  <a:tcPr>
                    <a:solidFill>
                      <a:srgbClr val="E6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UC-2: Workshop Geolocation &amp; Physical Drop-off</a:t>
                      </a:r>
                    </a:p>
                  </a:txBody>
                  <a:tcPr>
                    <a:solidFill>
                      <a:srgbClr val="E6CCC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Primary Actor(s)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Customer (Equipment Owner)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Goal of the 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Locate the exact workshop address in Limbayat, Surat and obtain GPS turn-by-turn directions.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Precondition(s)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Customer has identified the need for physical equipment drop-off.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User scrolls to the Contact section and clicks 'Get Directions' on the interactive Google Map.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Others</a:t>
            </a:r>
          </a:p>
          <a:p>
            <a:pPr algn="ctr">
              <a:spcBef>
                <a:spcPts val="400"/>
              </a:spcBef>
            </a:pPr>
            <a:r>
              <a:rPr sz="2200" b="1">
                <a:solidFill>
                  <a:srgbClr val="DC2626"/>
                </a:solidFill>
                <a:latin typeface="Arial"/>
              </a:rPr>
              <a:t>(Development Snapshots &amp; Technology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rial"/>
              </a:rPr>
              <a:t>Technology Stack Implemented: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•  Next.js 14 (App Router, Server-Side Rendering &amp; SEO optimization)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•  TypeScript (Robust static typing and structured business data contracts)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•  Tailwind CSS (Utility-first responsive design tokens &amp; custom dark theme)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•  Framer Motion (Hardware-accelerated UI micro-animations and transitions)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•  Lucide React (Modern, accessible SVG iconography)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•  Schema.org JSON-LD (Rich snippet LocalBusiness search integration)</a:t>
            </a:r>
          </a:p>
          <a:p>
            <a:r>
              <a:rPr sz="1400" b="1">
                <a:solidFill>
                  <a:srgbClr val="0F172A"/>
                </a:solidFill>
                <a:latin typeface="Arial"/>
              </a:rPr>
              <a:t>
Future Scope &amp; Enhancements: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334155"/>
                </a:solidFill>
                <a:latin typeface="Arial"/>
              </a:rPr>
              <a:t>•  Online Repair Ticket Tracking system with automated WhatsApp status alerts.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334155"/>
                </a:solidFill>
                <a:latin typeface="Arial"/>
              </a:rPr>
              <a:t>•  Customer portal for repair estimates, quotation approvals, and digital invoices.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334155"/>
                </a:solidFill>
                <a:latin typeface="Arial"/>
              </a:rPr>
              <a:t>•  E-commerce spare parts inventory for pro-audio cables, connectors, and discharge lamps.</a:t>
            </a:r>
          </a:p>
        </p:txBody>
      </p:sp>
      <p:pic>
        <p:nvPicPr>
          <p:cNvPr id="4" name="Picture 3" descr="about_worksh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286000"/>
          </a:xfrm>
          <a:prstGeom prst="rect">
            <a:avLst/>
          </a:prstGeom>
        </p:spPr>
      </p:pic>
      <p:pic>
        <p:nvPicPr>
          <p:cNvPr id="5" name="Picture 4" descr="speak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206240"/>
            <a:ext cx="2423160" cy="1645920"/>
          </a:xfrm>
          <a:prstGeom prst="rect">
            <a:avLst/>
          </a:prstGeom>
        </p:spPr>
      </p:pic>
      <p:pic>
        <p:nvPicPr>
          <p:cNvPr id="6" name="Picture 5" descr="amplifi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4206240"/>
            <a:ext cx="242316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
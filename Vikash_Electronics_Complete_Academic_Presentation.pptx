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tu_flame_logo.png"/>
          <p:cNvPicPr>
            <a:picLocks noChangeAspect="1"/>
          </p:cNvPicPr>
          <p:nvPr/>
        </p:nvPicPr>
        <p:blipFill>
          <a:blip r:embed="rId2"/>
          <a:stretch>
            <a:fillRect/>
          </a:stretch>
        </p:blipFill>
        <p:spPr>
          <a:xfrm>
            <a:off x="731520" y="365760"/>
            <a:ext cx="1097280" cy="949747"/>
          </a:xfrm>
          <a:prstGeom prst="rect">
            <a:avLst/>
          </a:prstGeom>
        </p:spPr>
      </p:pic>
      <p:pic>
        <p:nvPicPr>
          <p:cNvPr id="3" name="Picture 2" descr="amtics_circle_logo.png"/>
          <p:cNvPicPr>
            <a:picLocks noChangeAspect="1"/>
          </p:cNvPicPr>
          <p:nvPr/>
        </p:nvPicPr>
        <p:blipFill>
          <a:blip r:embed="rId3"/>
          <a:stretch>
            <a:fillRect/>
          </a:stretch>
        </p:blipFill>
        <p:spPr>
          <a:xfrm>
            <a:off x="10332720" y="365760"/>
            <a:ext cx="1097280" cy="804114"/>
          </a:xfrm>
          <a:prstGeom prst="rect">
            <a:avLst/>
          </a:prstGeom>
        </p:spPr>
      </p:pic>
      <p:sp>
        <p:nvSpPr>
          <p:cNvPr id="4" name="TextBox 3"/>
          <p:cNvSpPr txBox="1"/>
          <p:nvPr/>
        </p:nvSpPr>
        <p:spPr>
          <a:xfrm>
            <a:off x="2011680" y="365760"/>
            <a:ext cx="8168335" cy="1371600"/>
          </a:xfrm>
          <a:prstGeom prst="rect">
            <a:avLst/>
          </a:prstGeom>
          <a:noFill/>
        </p:spPr>
        <p:txBody>
          <a:bodyPr wrap="square">
            <a:spAutoFit/>
          </a:bodyPr>
          <a:lstStyle/>
          <a:p>
            <a:pPr algn="ctr"/>
            <a:r>
              <a:rPr sz="2400" b="1">
                <a:solidFill>
                  <a:srgbClr val="0F172A"/>
                </a:solidFill>
                <a:latin typeface="Arial"/>
              </a:rPr>
              <a:t>Asha M. Tarsadia Institute of
Computer Science and Technology</a:t>
            </a:r>
          </a:p>
          <a:p>
            <a:pPr algn="ctr">
              <a:spcBef>
                <a:spcPts val="600"/>
              </a:spcBef>
            </a:pPr>
            <a:r>
              <a:rPr sz="2000" b="1">
                <a:solidFill>
                  <a:srgbClr val="0F4C81"/>
                </a:solidFill>
                <a:latin typeface="Arial"/>
              </a:rPr>
              <a:t>Computer Science and Engineering</a:t>
            </a:r>
          </a:p>
        </p:txBody>
      </p:sp>
      <p:sp>
        <p:nvSpPr>
          <p:cNvPr id="5" name="TextBox 4"/>
          <p:cNvSpPr txBox="1"/>
          <p:nvPr/>
        </p:nvSpPr>
        <p:spPr>
          <a:xfrm>
            <a:off x="914400" y="2011680"/>
            <a:ext cx="10362895" cy="1371600"/>
          </a:xfrm>
          <a:prstGeom prst="rect">
            <a:avLst/>
          </a:prstGeom>
          <a:noFill/>
        </p:spPr>
        <p:txBody>
          <a:bodyPr wrap="square">
            <a:spAutoFit/>
          </a:bodyPr>
          <a:lstStyle/>
          <a:p>
            <a:pPr algn="ctr"/>
            <a:r>
              <a:rPr sz="2500" b="1">
                <a:solidFill>
                  <a:srgbClr val="0284C7"/>
                </a:solidFill>
                <a:latin typeface="Arial"/>
              </a:rPr>
              <a:t>Vikash Electronics – Web-Based DJ &amp; Electronic Equipment Repair Management and Showcase Portal</a:t>
            </a:r>
          </a:p>
        </p:txBody>
      </p:sp>
      <p:sp>
        <p:nvSpPr>
          <p:cNvPr id="6" name="TextBox 5"/>
          <p:cNvSpPr txBox="1"/>
          <p:nvPr/>
        </p:nvSpPr>
        <p:spPr>
          <a:xfrm>
            <a:off x="1828800" y="3749039"/>
            <a:ext cx="8534095" cy="1280160"/>
          </a:xfrm>
          <a:prstGeom prst="rect">
            <a:avLst/>
          </a:prstGeom>
          <a:noFill/>
        </p:spPr>
        <p:txBody>
          <a:bodyPr wrap="square">
            <a:spAutoFit/>
          </a:bodyPr>
          <a:lstStyle/>
          <a:p>
            <a:pPr algn="ctr"/>
            <a:r>
              <a:rPr sz="1700" b="1">
                <a:solidFill>
                  <a:srgbClr val="0F172A"/>
                </a:solidFill>
                <a:latin typeface="Arial"/>
              </a:rPr>
              <a:t>Prepared by</a:t>
            </a:r>
          </a:p>
          <a:p>
            <a:pPr algn="ctr">
              <a:spcBef>
                <a:spcPts val="400"/>
              </a:spcBef>
            </a:pPr>
            <a:r>
              <a:rPr sz="1600">
                <a:solidFill>
                  <a:srgbClr val="0F172A"/>
                </a:solidFill>
                <a:latin typeface="Arial"/>
              </a:rPr>
              <a:t>Prathmesh Chaudhari</a:t>
            </a:r>
          </a:p>
          <a:p>
            <a:pPr algn="ctr">
              <a:spcBef>
                <a:spcPts val="200"/>
              </a:spcBef>
            </a:pPr>
            <a:r>
              <a:rPr sz="1500">
                <a:solidFill>
                  <a:srgbClr val="0F172A"/>
                </a:solidFill>
                <a:latin typeface="Arial"/>
              </a:rPr>
              <a:t>(202503103510061)</a:t>
            </a:r>
          </a:p>
        </p:txBody>
      </p:sp>
      <p:sp>
        <p:nvSpPr>
          <p:cNvPr id="7" name="TextBox 6"/>
          <p:cNvSpPr txBox="1"/>
          <p:nvPr/>
        </p:nvSpPr>
        <p:spPr>
          <a:xfrm>
            <a:off x="1828800" y="5212080"/>
            <a:ext cx="8534095" cy="1188720"/>
          </a:xfrm>
          <a:prstGeom prst="rect">
            <a:avLst/>
          </a:prstGeom>
          <a:noFill/>
        </p:spPr>
        <p:txBody>
          <a:bodyPr wrap="square">
            <a:spAutoFit/>
          </a:bodyPr>
          <a:lstStyle/>
          <a:p>
            <a:pPr algn="ctr"/>
            <a:r>
              <a:rPr sz="1700" b="1">
                <a:solidFill>
                  <a:srgbClr val="0F172A"/>
                </a:solidFill>
                <a:latin typeface="Arial"/>
              </a:rPr>
              <a:t>Guided by</a:t>
            </a:r>
          </a:p>
          <a:p>
            <a:pPr algn="ctr">
              <a:spcBef>
                <a:spcPts val="400"/>
              </a:spcBef>
            </a:pPr>
            <a:r>
              <a:rPr sz="1500">
                <a:solidFill>
                  <a:srgbClr val="0F172A"/>
                </a:solidFill>
                <a:latin typeface="Arial"/>
              </a:rPr>
              <a:t>&lt;Guide Name&gt;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Outline</a:t>
            </a:r>
          </a:p>
        </p:txBody>
      </p:sp>
      <p:sp>
        <p:nvSpPr>
          <p:cNvPr id="3" name="TextBox 2"/>
          <p:cNvSpPr txBox="1"/>
          <p:nvPr/>
        </p:nvSpPr>
        <p:spPr>
          <a:xfrm>
            <a:off x="1645920" y="1645920"/>
            <a:ext cx="8869680" cy="4754880"/>
          </a:xfrm>
          <a:prstGeom prst="rect">
            <a:avLst/>
          </a:prstGeom>
          <a:noFill/>
        </p:spPr>
        <p:txBody>
          <a:bodyPr wrap="square">
            <a:spAutoFit/>
          </a:bodyPr>
          <a:lstStyle/>
          <a:p>
            <a:pPr>
              <a:spcBef>
                <a:spcPts val="1300"/>
              </a:spcBef>
            </a:pPr>
            <a:r>
              <a:rPr sz="1900" b="1">
                <a:solidFill>
                  <a:srgbClr val="0F172A"/>
                </a:solidFill>
                <a:latin typeface="Arial"/>
              </a:rPr>
              <a:t>•  Client Profile</a:t>
            </a:r>
          </a:p>
          <a:p>
            <a:pPr>
              <a:spcBef>
                <a:spcPts val="1300"/>
              </a:spcBef>
            </a:pPr>
            <a:r>
              <a:rPr sz="1900" b="1">
                <a:solidFill>
                  <a:srgbClr val="0F172A"/>
                </a:solidFill>
                <a:latin typeface="Arial"/>
              </a:rPr>
              <a:t>•  Project Introduction</a:t>
            </a:r>
          </a:p>
          <a:p>
            <a:pPr>
              <a:spcBef>
                <a:spcPts val="1300"/>
              </a:spcBef>
            </a:pPr>
            <a:r>
              <a:rPr sz="1900" b="1">
                <a:solidFill>
                  <a:srgbClr val="0F172A"/>
                </a:solidFill>
                <a:latin typeface="Arial"/>
              </a:rPr>
              <a:t>•  Objective(s)</a:t>
            </a:r>
          </a:p>
          <a:p>
            <a:pPr>
              <a:spcBef>
                <a:spcPts val="1300"/>
              </a:spcBef>
            </a:pPr>
            <a:r>
              <a:rPr sz="1900" b="1">
                <a:solidFill>
                  <a:srgbClr val="0F172A"/>
                </a:solidFill>
                <a:latin typeface="Arial"/>
              </a:rPr>
              <a:t>•  Problem Analysis</a:t>
            </a:r>
          </a:p>
          <a:p>
            <a:pPr>
              <a:spcBef>
                <a:spcPts val="1300"/>
              </a:spcBef>
            </a:pPr>
            <a:r>
              <a:rPr sz="1900" b="1">
                <a:solidFill>
                  <a:srgbClr val="0F172A"/>
                </a:solidFill>
                <a:latin typeface="Arial"/>
              </a:rPr>
              <a:t>•  Requirement Engineering</a:t>
            </a:r>
          </a:p>
          <a:p>
            <a:pPr>
              <a:spcBef>
                <a:spcPts val="1300"/>
              </a:spcBef>
            </a:pPr>
            <a:r>
              <a:rPr sz="1900" b="1">
                <a:solidFill>
                  <a:srgbClr val="0F172A"/>
                </a:solidFill>
                <a:latin typeface="Arial"/>
              </a:rPr>
              <a:t>•  Software Development Model (Waterfall, Prototype, V-Model, Spiral, Agile)</a:t>
            </a:r>
          </a:p>
          <a:p>
            <a:pPr>
              <a:spcBef>
                <a:spcPts val="1300"/>
              </a:spcBef>
            </a:pPr>
            <a:r>
              <a:rPr sz="1900" b="1">
                <a:solidFill>
                  <a:srgbClr val="0F172A"/>
                </a:solidFill>
                <a:latin typeface="Arial"/>
              </a:rPr>
              <a:t>•  Modeling (UML Diagrams: Use Case, Class, Sequence, Activity, State, Deployment)</a:t>
            </a:r>
          </a:p>
          <a:p>
            <a:pPr>
              <a:spcBef>
                <a:spcPts val="1300"/>
              </a:spcBef>
            </a:pPr>
            <a:r>
              <a:rPr sz="1900" b="1">
                <a:solidFill>
                  <a:srgbClr val="0F172A"/>
                </a:solidFill>
                <a:latin typeface="Arial"/>
              </a:rPr>
              <a:t>•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Client Profile</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0"/>
              </a:spcBef>
            </a:pPr>
            <a:r>
              <a:rPr sz="1500" b="1">
                <a:solidFill>
                  <a:srgbClr val="0F172A"/>
                </a:solidFill>
                <a:latin typeface="Arial"/>
              </a:rPr>
              <a:t>Client name and address: Vikash Electronics, a specialized DJ &amp; electronic equipment repair workshop operating in Surat, Gujarat</a:t>
            </a:r>
          </a:p>
          <a:p>
            <a:pPr>
              <a:spcBef>
                <a:spcPts val="300"/>
              </a:spcBef>
            </a:pPr>
            <a:r>
              <a:rPr sz="1150">
                <a:solidFill>
                  <a:srgbClr val="334155"/>
                </a:solidFill>
                <a:latin typeface="Arial"/>
              </a:rPr>
              <a:t>    • Proprietor &amp; Chief Technician: Mr. Murlidhar Chaudhari</a:t>
            </a:r>
          </a:p>
          <a:p>
            <a:pPr>
              <a:spcBef>
                <a:spcPts val="300"/>
              </a:spcBef>
            </a:pPr>
            <a:r>
              <a:rPr sz="1150">
                <a:solidFill>
                  <a:srgbClr val="334155"/>
                </a:solidFill>
                <a:latin typeface="Arial"/>
              </a:rPr>
              <a:t>    • Workshop Address: Plot No. 199, Sarve No. 1-2, Sanjay Nagar, Near Udhna Yard, Limbayat, Surat, Gujarat - 394210</a:t>
            </a:r>
          </a:p>
          <a:p>
            <a:pPr>
              <a:spcBef>
                <a:spcPts val="300"/>
              </a:spcBef>
            </a:pPr>
            <a:r>
              <a:rPr sz="1150">
                <a:solidFill>
                  <a:srgbClr val="334155"/>
                </a:solidFill>
                <a:latin typeface="Arial"/>
              </a:rPr>
              <a:t>    • Direct Contact: +91 98254 85520 | Domain: Pro Audio, Stage Lighting &amp; Moving Heads</a:t>
            </a:r>
          </a:p>
          <a:p>
            <a:pPr>
              <a:spcBef>
                <a:spcPts val="1600"/>
              </a:spcBef>
            </a:pPr>
            <a:r>
              <a:rPr sz="1500" b="1">
                <a:solidFill>
                  <a:srgbClr val="0F172A"/>
                </a:solidFill>
                <a:latin typeface="Arial"/>
              </a:rPr>
              <a:t>Your communication: Requirements gathered through in-person workshop meetings and WhatsApp/calls with the owner, covering repair categories, fault diagnostics, branding, and direct contact needs</a:t>
            </a:r>
          </a:p>
          <a:p>
            <a:pPr>
              <a:spcBef>
                <a:spcPts val="300"/>
              </a:spcBef>
            </a:pPr>
            <a:r>
              <a:rPr sz="1150">
                <a:solidFill>
                  <a:srgbClr val="334155"/>
                </a:solidFill>
                <a:latin typeface="Arial"/>
              </a:rPr>
              <a:t>    • Conducted on-site inspection of live repair benches, diagnostic multimeters, oscilloscopes, and coil winding fixtures.</a:t>
            </a:r>
          </a:p>
          <a:p>
            <a:pPr>
              <a:spcBef>
                <a:spcPts val="300"/>
              </a:spcBef>
            </a:pPr>
            <a:r>
              <a:rPr sz="1150">
                <a:solidFill>
                  <a:srgbClr val="334155"/>
                </a:solidFill>
                <a:latin typeface="Arial"/>
              </a:rPr>
              <a:t>    • Demonstrated responsive prototypes across mobile viewports to ensure fast one-tap direct calling.</a:t>
            </a:r>
          </a:p>
          <a:p>
            <a:pPr>
              <a:spcBef>
                <a:spcPts val="1600"/>
              </a:spcBef>
            </a:pPr>
            <a:r>
              <a:rPr sz="1500" b="1">
                <a:solidFill>
                  <a:srgbClr val="0F172A"/>
                </a:solidFill>
                <a:latin typeface="Arial"/>
              </a:rPr>
              <a:t>Contract letter: Project undertaken as a client engagement with Vikash Electronics, with scope, photography, and deliverables confirmed with the client before development</a:t>
            </a:r>
          </a:p>
          <a:p>
            <a:pPr>
              <a:spcBef>
                <a:spcPts val="300"/>
              </a:spcBef>
            </a:pPr>
            <a:r>
              <a:rPr sz="1150">
                <a:solidFill>
                  <a:srgbClr val="334155"/>
                </a:solidFill>
                <a:latin typeface="Arial"/>
              </a:rPr>
              <a:t>    • Client authorization received from Mr. Murlidhar Chaudhari endorsing the digital showcase and web launch.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Project Introduction</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400"/>
              </a:spcBef>
            </a:pPr>
            <a:r>
              <a:rPr sz="1400">
                <a:solidFill>
                  <a:srgbClr val="0F172A"/>
                </a:solidFill>
                <a:latin typeface="Arial"/>
              </a:rPr>
              <a:t>Vikash Electronics is a specialized electronic repair workshop that currently depends on offline word-of-mouth and localized walk-in customers across Surat.</a:t>
            </a:r>
          </a:p>
          <a:p>
            <a:pPr>
              <a:spcBef>
                <a:spcPts val="1400"/>
              </a:spcBef>
            </a:pPr>
            <a:r>
              <a:rPr sz="1400">
                <a:solidFill>
                  <a:srgbClr val="0F172A"/>
                </a:solidFill>
                <a:latin typeface="Arial"/>
              </a:rPr>
              <a:t>This project is a dedicated web-based electronic repair portal built exclusively for Vikash Electronics, listing its comprehensive repair capabilities with fault descriptions, turnaround details, and authentic workshop bench imagery.</a:t>
            </a:r>
          </a:p>
          <a:p>
            <a:pPr>
              <a:spcBef>
                <a:spcPts val="1400"/>
              </a:spcBef>
            </a:pPr>
            <a:r>
              <a:rPr sz="1400">
                <a:solidFill>
                  <a:srgbClr val="0F172A"/>
                </a:solidFill>
                <a:latin typeface="Arial"/>
              </a:rPr>
              <a:t>Customers (DJs, sound rental providers, event organizers, and consumers) can browse repair categories (Speakers, Power Amplifiers, Sharpy Moving Head Lights, Sound Consoles, and TVs) and contact the technician directly through one-click phone calls or WhatsApp without third-party commission middleman apps.</a:t>
            </a:r>
          </a:p>
          <a:p>
            <a:pPr>
              <a:spcBef>
                <a:spcPts val="1400"/>
              </a:spcBef>
            </a:pPr>
            <a:r>
              <a:rPr sz="1400">
                <a:solidFill>
                  <a:srgbClr val="0F172A"/>
                </a:solidFill>
                <a:latin typeface="Arial"/>
              </a:rPr>
              <a:t>The site also features the workshop's verified physical address in Limbayat, interactive Google Maps routing, operating hours, and schema-structured local SEO.</a:t>
            </a:r>
          </a:p>
          <a:p>
            <a:pPr>
              <a:spcBef>
                <a:spcPts val="1400"/>
              </a:spcBef>
            </a:pPr>
            <a:r>
              <a:rPr sz="1400">
                <a:solidFill>
                  <a:srgbClr val="0F172A"/>
                </a:solidFill>
                <a:latin typeface="Arial"/>
              </a:rPr>
              <a:t>The goal is to provide a self-owned authoritative digital presence for Vikash Electronics, eliminate reliance on fragmented generic business directories, and streamline emergency repair inquiries.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Objective(s)</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400"/>
              </a:spcBef>
            </a:pPr>
            <a:r>
              <a:rPr sz="1350">
                <a:solidFill>
                  <a:srgbClr val="0F172A"/>
                </a:solidFill>
                <a:latin typeface="Arial"/>
              </a:rPr>
              <a:t>Build a single, self-owned website where customers can view the full spectrum of electronic and DJ equipment repair services with descriptions and technical highlights</a:t>
            </a:r>
          </a:p>
          <a:p>
            <a:pPr>
              <a:spcBef>
                <a:spcPts val="1400"/>
              </a:spcBef>
            </a:pPr>
            <a:r>
              <a:rPr sz="1350">
                <a:solidFill>
                  <a:srgbClr val="0F172A"/>
                </a:solidFill>
                <a:latin typeface="Arial"/>
              </a:rPr>
              <a:t>Allow customers to initiate direct phone inquiries and instant WhatsApp consultations with the chief technician directly through the website</a:t>
            </a:r>
          </a:p>
          <a:p>
            <a:pPr>
              <a:spcBef>
                <a:spcPts val="1400"/>
              </a:spcBef>
            </a:pPr>
            <a:r>
              <a:rPr sz="1350">
                <a:solidFill>
                  <a:srgbClr val="0F172A"/>
                </a:solidFill>
                <a:latin typeface="Arial"/>
              </a:rPr>
              <a:t>Reduce reliance on third-party aggregators and directories (e.g. Justdial/Indiamart) and eliminate commission charges or ad clutter</a:t>
            </a:r>
          </a:p>
          <a:p>
            <a:pPr>
              <a:spcBef>
                <a:spcPts val="1400"/>
              </a:spcBef>
            </a:pPr>
            <a:r>
              <a:rPr sz="1350">
                <a:solidFill>
                  <a:srgbClr val="0F172A"/>
                </a:solidFill>
                <a:latin typeface="Arial"/>
              </a:rPr>
              <a:t>Display authentic business information — verified workshop bench testing images, Limbayat location, contact numbers, and operating hours — in one place</a:t>
            </a:r>
          </a:p>
          <a:p>
            <a:pPr>
              <a:spcBef>
                <a:spcPts val="1400"/>
              </a:spcBef>
            </a:pPr>
            <a:r>
              <a:rPr sz="1350">
                <a:solidFill>
                  <a:srgbClr val="0F172A"/>
                </a:solidFill>
                <a:latin typeface="Arial"/>
              </a:rPr>
              <a:t>Provide technical credibility by highlighting component-level diagnostics (voice coil rewinding, Sharpy optical alignment, transistor pair matching) performed by Murlidhar Chaudhari</a:t>
            </a:r>
          </a:p>
          <a:p>
            <a:pPr>
              <a:spcBef>
                <a:spcPts val="1400"/>
              </a:spcBef>
            </a:pPr>
            <a:r>
              <a:rPr sz="1350">
                <a:solidFill>
                  <a:srgbClr val="0F172A"/>
                </a:solidFill>
                <a:latin typeface="Arial"/>
              </a:rPr>
              <a:t>Improve customer discovery and business inquiries across Surat and South Gujarat by embedding structured Schema.org LocalBusiness SEO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Service &amp; Repair Process Flow</a:t>
            </a:r>
          </a:p>
        </p:txBody>
      </p:sp>
      <p:sp>
        <p:nvSpPr>
          <p:cNvPr id="3" name="Rounded Rectangle 2"/>
          <p:cNvSpPr/>
          <p:nvPr/>
        </p:nvSpPr>
        <p:spPr>
          <a:xfrm>
            <a:off x="73152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Browse
Services</a:t>
            </a:r>
          </a:p>
          <a:p>
            <a:pPr algn="ctr">
              <a:spcBef>
                <a:spcPts val="200"/>
              </a:spcBef>
            </a:pPr>
            <a:r>
              <a:rPr sz="950">
                <a:solidFill>
                  <a:srgbClr val="334155"/>
                </a:solidFill>
                <a:latin typeface="Arial"/>
              </a:rPr>
              <a:t>Audio, Lighting,
TV &amp; Visual</a:t>
            </a:r>
          </a:p>
        </p:txBody>
      </p:sp>
      <p:sp>
        <p:nvSpPr>
          <p:cNvPr id="4" name="Right Arrow 3"/>
          <p:cNvSpPr/>
          <p:nvPr/>
        </p:nvSpPr>
        <p:spPr>
          <a:xfrm>
            <a:off x="204825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600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Select
Equipment</a:t>
            </a:r>
          </a:p>
          <a:p>
            <a:pPr algn="ctr">
              <a:spcBef>
                <a:spcPts val="200"/>
              </a:spcBef>
            </a:pPr>
            <a:r>
              <a:rPr sz="950">
                <a:solidFill>
                  <a:srgbClr val="334155"/>
                </a:solidFill>
                <a:latin typeface="Arial"/>
              </a:rPr>
              <a:t>Speakers, Amps,
Sharpy Lights</a:t>
            </a:r>
          </a:p>
        </p:txBody>
      </p:sp>
      <p:sp>
        <p:nvSpPr>
          <p:cNvPr id="6" name="Right Arrow 5"/>
          <p:cNvSpPr/>
          <p:nvPr/>
        </p:nvSpPr>
        <p:spPr>
          <a:xfrm>
            <a:off x="360273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4048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Inspect
Diagnostics</a:t>
            </a:r>
          </a:p>
          <a:p>
            <a:pPr algn="ctr">
              <a:spcBef>
                <a:spcPts val="200"/>
              </a:spcBef>
            </a:pPr>
            <a:r>
              <a:rPr sz="950">
                <a:solidFill>
                  <a:srgbClr val="334155"/>
                </a:solidFill>
                <a:latin typeface="Arial"/>
              </a:rPr>
              <a:t>Fault Symptoms &amp;
Component Fixes</a:t>
            </a:r>
          </a:p>
        </p:txBody>
      </p:sp>
      <p:sp>
        <p:nvSpPr>
          <p:cNvPr id="8" name="Right Arrow 7"/>
          <p:cNvSpPr/>
          <p:nvPr/>
        </p:nvSpPr>
        <p:spPr>
          <a:xfrm>
            <a:off x="515721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39496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Initiate
Contact</a:t>
            </a:r>
          </a:p>
          <a:p>
            <a:pPr algn="ctr">
              <a:spcBef>
                <a:spcPts val="200"/>
              </a:spcBef>
            </a:pPr>
            <a:r>
              <a:rPr sz="950">
                <a:solidFill>
                  <a:srgbClr val="334155"/>
                </a:solidFill>
                <a:latin typeface="Arial"/>
              </a:rPr>
              <a:t>One-Tap Call or
WhatsApp Chat</a:t>
            </a:r>
          </a:p>
        </p:txBody>
      </p:sp>
      <p:sp>
        <p:nvSpPr>
          <p:cNvPr id="10" name="Right Arrow 9"/>
          <p:cNvSpPr/>
          <p:nvPr/>
        </p:nvSpPr>
        <p:spPr>
          <a:xfrm>
            <a:off x="671169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944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Workshop
Intake</a:t>
            </a:r>
          </a:p>
          <a:p>
            <a:pPr algn="ctr">
              <a:spcBef>
                <a:spcPts val="200"/>
              </a:spcBef>
            </a:pPr>
            <a:r>
              <a:rPr sz="950">
                <a:solidFill>
                  <a:srgbClr val="334155"/>
                </a:solidFill>
                <a:latin typeface="Arial"/>
              </a:rPr>
              <a:t>Physical Drop-off
&amp; Bench Check</a:t>
            </a:r>
          </a:p>
        </p:txBody>
      </p:sp>
      <p:sp>
        <p:nvSpPr>
          <p:cNvPr id="12" name="Right Arrow 11"/>
          <p:cNvSpPr/>
          <p:nvPr/>
        </p:nvSpPr>
        <p:spPr>
          <a:xfrm>
            <a:off x="826617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50392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Precision
Repair</a:t>
            </a:r>
          </a:p>
          <a:p>
            <a:pPr algn="ctr">
              <a:spcBef>
                <a:spcPts val="200"/>
              </a:spcBef>
            </a:pPr>
            <a:r>
              <a:rPr sz="950">
                <a:solidFill>
                  <a:srgbClr val="334155"/>
                </a:solidFill>
                <a:latin typeface="Arial"/>
              </a:rPr>
              <a:t>Component Fix &amp;
Stress Load Test</a:t>
            </a:r>
          </a:p>
        </p:txBody>
      </p:sp>
      <p:sp>
        <p:nvSpPr>
          <p:cNvPr id="14" name="Right Arrow 13"/>
          <p:cNvSpPr/>
          <p:nvPr/>
        </p:nvSpPr>
        <p:spPr>
          <a:xfrm>
            <a:off x="9820656" y="2971800"/>
            <a:ext cx="201168"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58400" y="2377440"/>
            <a:ext cx="1280160" cy="14630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Stage Ready
Delivery</a:t>
            </a:r>
          </a:p>
          <a:p>
            <a:pPr algn="ctr">
              <a:spcBef>
                <a:spcPts val="200"/>
              </a:spcBef>
            </a:pPr>
            <a:r>
              <a:rPr sz="950">
                <a:solidFill>
                  <a:srgbClr val="334155"/>
                </a:solidFill>
                <a:latin typeface="Arial"/>
              </a:rPr>
              <a:t>Verified Testing &amp;
Client Handover</a:t>
            </a:r>
          </a:p>
        </p:txBody>
      </p:sp>
      <p:sp>
        <p:nvSpPr>
          <p:cNvPr id="16" name="TextBox 15"/>
          <p:cNvSpPr txBox="1"/>
          <p:nvPr/>
        </p:nvSpPr>
        <p:spPr>
          <a:xfrm>
            <a:off x="731520" y="4754880"/>
            <a:ext cx="10728655" cy="1097280"/>
          </a:xfrm>
          <a:prstGeom prst="rect">
            <a:avLst/>
          </a:prstGeom>
          <a:noFill/>
        </p:spPr>
        <p:txBody>
          <a:bodyPr wrap="square">
            <a:spAutoFit/>
          </a:bodyPr>
          <a:lstStyle/>
          <a:p>
            <a:pPr algn="ctr"/>
            <a:r>
              <a:rPr sz="1400">
                <a:solidFill>
                  <a:srgbClr val="0F172A"/>
                </a:solidFill>
                <a:latin typeface="Arial"/>
              </a:rPr>
              <a:t>Customers move through the entire journey on Vikash Electronics's own website — no third-party aggregator hand-off, direct technician consultation, and zero commission paid at any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Problem Analysis</a:t>
            </a:r>
          </a:p>
          <a:p>
            <a:pPr algn="ctr">
              <a:spcBef>
                <a:spcPts val="300"/>
              </a:spcBef>
            </a:pPr>
            <a:r>
              <a:rPr sz="2200" b="1">
                <a:solidFill>
                  <a:srgbClr val="DC2626"/>
                </a:solidFill>
                <a:latin typeface="Arial"/>
              </a:rPr>
              <a:t>(Understand the problem)</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200"/>
              </a:spcBef>
            </a:pPr>
            <a:r>
              <a:rPr sz="1400" b="1">
                <a:solidFill>
                  <a:srgbClr val="0F172A"/>
                </a:solidFill>
                <a:latin typeface="Arial"/>
              </a:rPr>
              <a:t>I. Who are the stockholders in the solution to the problem?
</a:t>
            </a:r>
            <a:r>
              <a:rPr sz="1200">
                <a:solidFill>
                  <a:srgbClr val="334155"/>
                </a:solidFill>
                <a:latin typeface="Arial"/>
              </a:rPr>
              <a:t>The workshop owner &amp; chief technician (Mr. Murlidhar Chaudhari), customers needing urgent repairs (event managers, DJs, sound rental vendors, wedding planners), and the web portal administrator</a:t>
            </a:r>
          </a:p>
          <a:p>
            <a:pPr>
              <a:spcBef>
                <a:spcPts val="1200"/>
              </a:spcBef>
            </a:pPr>
            <a:r>
              <a:rPr sz="1400" b="1">
                <a:solidFill>
                  <a:srgbClr val="0F172A"/>
                </a:solidFill>
                <a:latin typeface="Arial"/>
              </a:rPr>
              <a:t>II. What are the unknowns?
</a:t>
            </a:r>
            <a:r>
              <a:rPr sz="1200">
                <a:solidFill>
                  <a:srgbClr val="334155"/>
                </a:solidFill>
                <a:latin typeface="Arial"/>
              </a:rPr>
              <a:t>The dynamic variety of hardware circuit topologies across imported and local brands, component replacement availability, fluctuating spare parts costs, and how repair status will be communicated in real time</a:t>
            </a:r>
          </a:p>
          <a:p>
            <a:pPr>
              <a:spcBef>
                <a:spcPts val="1200"/>
              </a:spcBef>
            </a:pPr>
            <a:r>
              <a:rPr sz="1400" b="1">
                <a:solidFill>
                  <a:srgbClr val="0F172A"/>
                </a:solidFill>
                <a:latin typeface="Arial"/>
              </a:rPr>
              <a:t>III. Can the problem be compartmentalized?
</a:t>
            </a:r>
            <a:r>
              <a:rPr sz="1200">
                <a:solidFill>
                  <a:srgbClr val="334155"/>
                </a:solidFill>
                <a:latin typeface="Arial"/>
              </a:rPr>
              <a:t>Yes — into modules: equipment service catalog, fault diagnostic showcase, direct telephonic/WhatsApp communication bridge, workshop location navigation, and local search engine optimization</a:t>
            </a:r>
          </a:p>
          <a:p>
            <a:pPr>
              <a:spcBef>
                <a:spcPts val="1200"/>
              </a:spcBef>
            </a:pPr>
            <a:r>
              <a:rPr sz="1400" b="1">
                <a:solidFill>
                  <a:srgbClr val="0F172A"/>
                </a:solidFill>
                <a:latin typeface="Arial"/>
              </a:rPr>
              <a:t>IV. Can the problem be represented graphically?
</a:t>
            </a:r>
            <a:r>
              <a:rPr sz="1200">
                <a:solidFill>
                  <a:srgbClr val="334155"/>
                </a:solidFill>
                <a:latin typeface="Arial"/>
              </a:rPr>
              <a:t>Yes, the flow can be represented through flowcharts, system architecture diagrams, and UML diagrams covering equipment browsing, inquiry routing, and repair lifecycle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Problem Analysis</a:t>
            </a:r>
          </a:p>
          <a:p>
            <a:pPr algn="ctr">
              <a:spcBef>
                <a:spcPts val="300"/>
              </a:spcBef>
            </a:pPr>
            <a:r>
              <a:rPr sz="2200" b="1">
                <a:solidFill>
                  <a:srgbClr val="DC2626"/>
                </a:solidFill>
                <a:latin typeface="Arial"/>
              </a:rPr>
              <a:t>(Plan the solution)</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200"/>
              </a:spcBef>
            </a:pPr>
            <a:r>
              <a:rPr sz="1400" b="1">
                <a:solidFill>
                  <a:srgbClr val="0F172A"/>
                </a:solidFill>
                <a:latin typeface="Arial"/>
              </a:rPr>
              <a:t>I. Have you seen similar problem before?
</a:t>
            </a:r>
            <a:r>
              <a:rPr sz="1200">
                <a:solidFill>
                  <a:srgbClr val="334155"/>
                </a:solidFill>
                <a:latin typeface="Arial"/>
              </a:rPr>
              <a:t>Yes, in generic local service platforms, Justdial, Indiamart, and various electronic repair shop portals</a:t>
            </a:r>
          </a:p>
          <a:p>
            <a:pPr>
              <a:spcBef>
                <a:spcPts val="1200"/>
              </a:spcBef>
            </a:pPr>
            <a:r>
              <a:rPr sz="1400" b="1">
                <a:solidFill>
                  <a:srgbClr val="0F172A"/>
                </a:solidFill>
                <a:latin typeface="Arial"/>
              </a:rPr>
              <a:t>II. Has a similar problem been solved?
</a:t>
            </a:r>
            <a:r>
              <a:rPr sz="1200">
                <a:solidFill>
                  <a:srgbClr val="334155"/>
                </a:solidFill>
                <a:latin typeface="Arial"/>
              </a:rPr>
              <a:t>Yes — many specialized businesses now run their own direct-discovery websites to establish authoritative branding and avoid aggregator fees and delays</a:t>
            </a:r>
          </a:p>
          <a:p>
            <a:pPr>
              <a:spcBef>
                <a:spcPts val="1200"/>
              </a:spcBef>
            </a:pPr>
            <a:r>
              <a:rPr sz="1400" b="1">
                <a:solidFill>
                  <a:srgbClr val="0F172A"/>
                </a:solidFill>
                <a:latin typeface="Arial"/>
              </a:rPr>
              <a:t>III. Can sub-problems be defined?
</a:t>
            </a:r>
            <a:r>
              <a:rPr sz="1200">
                <a:solidFill>
                  <a:srgbClr val="334155"/>
                </a:solidFill>
                <a:latin typeface="Arial"/>
              </a:rPr>
              <a:t>Yes: service catalog presentation, technical fault breakdown, direct contact routing (Call/WhatsApp), workshop location navigation, and search engine discoverability</a:t>
            </a:r>
          </a:p>
          <a:p>
            <a:pPr>
              <a:spcBef>
                <a:spcPts val="1200"/>
              </a:spcBef>
            </a:pPr>
            <a:r>
              <a:rPr sz="1400" b="1">
                <a:solidFill>
                  <a:srgbClr val="0F172A"/>
                </a:solidFill>
                <a:latin typeface="Arial"/>
              </a:rPr>
              <a:t>IV. Can you represent a solution in a manner that leads to effective implementation?
</a:t>
            </a:r>
            <a:r>
              <a:rPr sz="1200">
                <a:solidFill>
                  <a:srgbClr val="334155"/>
                </a:solidFill>
                <a:latin typeface="Arial"/>
              </a:rPr>
              <a:t>Yes, through a modular Next.js architecture diagram, component hierarchy, and UML modeling that leads to effective, phase-wise implementation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System Architecture</a:t>
            </a:r>
          </a:p>
        </p:txBody>
      </p:sp>
      <p:sp>
        <p:nvSpPr>
          <p:cNvPr id="3" name="Rounded Rectangle 2"/>
          <p:cNvSpPr/>
          <p:nvPr/>
        </p:nvSpPr>
        <p:spPr>
          <a:xfrm>
            <a:off x="4389120" y="1554480"/>
            <a:ext cx="3383280" cy="7315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Customer</a:t>
            </a:r>
          </a:p>
          <a:p>
            <a:pPr algn="ctr">
              <a:spcBef>
                <a:spcPts val="200"/>
              </a:spcBef>
            </a:pPr>
            <a:r>
              <a:rPr sz="950">
                <a:solidFill>
                  <a:srgbClr val="334155"/>
                </a:solidFill>
                <a:latin typeface="Arial"/>
              </a:rPr>
              <a:t>(Web / Mobile Browser)</a:t>
            </a:r>
          </a:p>
        </p:txBody>
      </p:sp>
      <p:sp>
        <p:nvSpPr>
          <p:cNvPr id="4" name="Down Arrow 3"/>
          <p:cNvSpPr/>
          <p:nvPr/>
        </p:nvSpPr>
        <p:spPr>
          <a:xfrm>
            <a:off x="5943600" y="2331720"/>
            <a:ext cx="274320" cy="32004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23360" y="2697480"/>
            <a:ext cx="411480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Website Frontend (Next.js 14)</a:t>
            </a:r>
          </a:p>
          <a:p>
            <a:pPr algn="ctr">
              <a:spcBef>
                <a:spcPts val="200"/>
              </a:spcBef>
            </a:pPr>
            <a:r>
              <a:rPr sz="950">
                <a:solidFill>
                  <a:srgbClr val="334155"/>
                </a:solidFill>
                <a:latin typeface="Arial"/>
              </a:rPr>
              <a:t>(Hero, Service Catalog, About, Contact, Map)</a:t>
            </a:r>
          </a:p>
        </p:txBody>
      </p:sp>
      <p:sp>
        <p:nvSpPr>
          <p:cNvPr id="6" name="Down Arrow 5"/>
          <p:cNvSpPr/>
          <p:nvPr/>
        </p:nvSpPr>
        <p:spPr>
          <a:xfrm>
            <a:off x="5943600" y="3566160"/>
            <a:ext cx="274320" cy="32004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23360" y="3931920"/>
            <a:ext cx="411480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Application Logic / Server</a:t>
            </a:r>
          </a:p>
          <a:p>
            <a:pPr algn="ctr">
              <a:spcBef>
                <a:spcPts val="200"/>
              </a:spcBef>
            </a:pPr>
            <a:r>
              <a:rPr sz="950">
                <a:solidFill>
                  <a:srgbClr val="334155"/>
                </a:solidFill>
                <a:latin typeface="Arial"/>
              </a:rPr>
              <a:t>(Routing, Service Data, Schema.org SEO)</a:t>
            </a:r>
          </a:p>
        </p:txBody>
      </p:sp>
      <p:sp>
        <p:nvSpPr>
          <p:cNvPr id="8" name="Rounded Rectangle 7"/>
          <p:cNvSpPr/>
          <p:nvPr/>
        </p:nvSpPr>
        <p:spPr>
          <a:xfrm>
            <a:off x="731520" y="3931920"/>
            <a:ext cx="274320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Data Repository</a:t>
            </a:r>
          </a:p>
          <a:p>
            <a:pPr algn="ctr">
              <a:spcBef>
                <a:spcPts val="200"/>
              </a:spcBef>
            </a:pPr>
            <a:r>
              <a:rPr sz="950">
                <a:solidFill>
                  <a:srgbClr val="334155"/>
                </a:solidFill>
                <a:latin typeface="Arial"/>
              </a:rPr>
              <a:t>(business.ts, Repair Specs, Assets)</a:t>
            </a:r>
          </a:p>
        </p:txBody>
      </p:sp>
      <p:sp>
        <p:nvSpPr>
          <p:cNvPr id="9" name="Rounded Rectangle 8"/>
          <p:cNvSpPr/>
          <p:nvPr/>
        </p:nvSpPr>
        <p:spPr>
          <a:xfrm>
            <a:off x="8686800" y="3931920"/>
            <a:ext cx="2743200" cy="8229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DC2626"/>
                </a:solidFill>
                <a:latin typeface="Arial"/>
              </a:rPr>
              <a:t>Communication Gateway</a:t>
            </a:r>
          </a:p>
          <a:p>
            <a:pPr algn="ctr">
              <a:spcBef>
                <a:spcPts val="200"/>
              </a:spcBef>
            </a:pPr>
            <a:r>
              <a:rPr sz="950">
                <a:solidFill>
                  <a:srgbClr val="334155"/>
                </a:solidFill>
                <a:latin typeface="Arial"/>
              </a:rPr>
              <a:t>(Direct Dialer &amp; WhatsApp API)</a:t>
            </a:r>
          </a:p>
        </p:txBody>
      </p:sp>
      <p:sp>
        <p:nvSpPr>
          <p:cNvPr id="10" name="Left Arrow 9"/>
          <p:cNvSpPr/>
          <p:nvPr/>
        </p:nvSpPr>
        <p:spPr>
          <a:xfrm>
            <a:off x="3566160" y="4206240"/>
            <a:ext cx="365760" cy="22860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8229600" y="4206240"/>
            <a:ext cx="36576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wn Arrow 11"/>
          <p:cNvSpPr/>
          <p:nvPr/>
        </p:nvSpPr>
        <p:spPr>
          <a:xfrm>
            <a:off x="5943600" y="4800600"/>
            <a:ext cx="274320" cy="27432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023360" y="5120640"/>
            <a:ext cx="4114800" cy="7315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Workshop Management</a:t>
            </a:r>
          </a:p>
          <a:p>
            <a:pPr algn="ctr">
              <a:spcBef>
                <a:spcPts val="200"/>
              </a:spcBef>
            </a:pPr>
            <a:r>
              <a:rPr sz="950">
                <a:solidFill>
                  <a:srgbClr val="334155"/>
                </a:solidFill>
                <a:latin typeface="Arial"/>
              </a:rPr>
              <a:t>(Owner: Inquiry Intake &amp; Repair Processing)</a:t>
            </a:r>
          </a:p>
        </p:txBody>
      </p:sp>
      <p:sp>
        <p:nvSpPr>
          <p:cNvPr id="14" name="TextBox 13"/>
          <p:cNvSpPr txBox="1"/>
          <p:nvPr/>
        </p:nvSpPr>
        <p:spPr>
          <a:xfrm>
            <a:off x="731520" y="6035040"/>
            <a:ext cx="10728655" cy="548640"/>
          </a:xfrm>
          <a:prstGeom prst="rect">
            <a:avLst/>
          </a:prstGeom>
          <a:noFill/>
        </p:spPr>
        <p:txBody>
          <a:bodyPr wrap="square">
            <a:spAutoFit/>
          </a:bodyPr>
          <a:lstStyle/>
          <a:p>
            <a:pPr algn="ctr"/>
            <a:r>
              <a:rPr sz="1200">
                <a:solidFill>
                  <a:srgbClr val="0F172A"/>
                </a:solidFill>
                <a:latin typeface="Arial"/>
              </a:rPr>
              <a:t>Customer requests flow from the website frontend through Next.js server components to the data layer and WhatsApp gateway; the owner manages services and inquiries directly.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Problem Analysis</a:t>
            </a:r>
          </a:p>
          <a:p>
            <a:pPr algn="ctr">
              <a:spcBef>
                <a:spcPts val="300"/>
              </a:spcBef>
            </a:pPr>
            <a:r>
              <a:rPr sz="2200" b="1">
                <a:solidFill>
                  <a:srgbClr val="DC2626"/>
                </a:solidFill>
                <a:latin typeface="Arial"/>
              </a:rPr>
              <a:t>(Carry out the plan)</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400"/>
              </a:spcBef>
            </a:pPr>
            <a:r>
              <a:rPr sz="1400" b="1">
                <a:solidFill>
                  <a:srgbClr val="0F172A"/>
                </a:solidFill>
                <a:latin typeface="Arial"/>
              </a:rPr>
              <a:t>I. Does the solution conform to the plan?
</a:t>
            </a:r>
            <a:r>
              <a:rPr sz="1200">
                <a:solidFill>
                  <a:srgbClr val="334155"/>
                </a:solidFill>
                <a:latin typeface="Arial"/>
              </a:rPr>
              <a:t>Yes — development proceeds module by module (Hero section, categorized service cards, about workshop, interactive Google Map, direct call/WhatsApp integration) as per the defined architecture</a:t>
            </a:r>
          </a:p>
          <a:p>
            <a:pPr>
              <a:spcBef>
                <a:spcPts val="1400"/>
              </a:spcBef>
            </a:pPr>
            <a:r>
              <a:rPr sz="1400" b="1">
                <a:solidFill>
                  <a:srgbClr val="0F172A"/>
                </a:solidFill>
                <a:latin typeface="Arial"/>
              </a:rPr>
              <a:t>II. Is each component part of the solution provably correct?
</a:t>
            </a:r>
            <a:r>
              <a:rPr sz="1200">
                <a:solidFill>
                  <a:srgbClr val="334155"/>
                </a:solidFill>
                <a:latin typeface="Arial"/>
              </a:rPr>
              <a:t>Yes, each component is tested independently — for example, service card rendering, click-to-call link protocols, WhatsApp pre-populated query strings, and responsive mobile drawer state are each verified before integration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Problem Analysis</a:t>
            </a:r>
          </a:p>
          <a:p>
            <a:pPr algn="ctr">
              <a:spcBef>
                <a:spcPts val="300"/>
              </a:spcBef>
            </a:pPr>
            <a:r>
              <a:rPr sz="2200" b="1">
                <a:solidFill>
                  <a:srgbClr val="DC2626"/>
                </a:solidFill>
                <a:latin typeface="Arial"/>
              </a:rPr>
              <a:t>(Examine the results)</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400"/>
              </a:spcBef>
            </a:pPr>
            <a:r>
              <a:rPr sz="1400" b="1">
                <a:solidFill>
                  <a:srgbClr val="0F172A"/>
                </a:solidFill>
                <a:latin typeface="Arial"/>
              </a:rPr>
              <a:t>I. Is it possible to test each component part of the solution?
</a:t>
            </a:r>
            <a:r>
              <a:rPr sz="1200">
                <a:solidFill>
                  <a:srgbClr val="334155"/>
                </a:solidFill>
                <a:latin typeface="Arial"/>
              </a:rPr>
              <a:t>Yes — local server page loads, interactive category filtering, one-tap mobile calling, WhatsApp URL generation, and Google Maps iframe loading are all verifiable on their own</a:t>
            </a:r>
          </a:p>
          <a:p>
            <a:pPr>
              <a:spcBef>
                <a:spcPts val="1400"/>
              </a:spcBef>
            </a:pPr>
            <a:r>
              <a:rPr sz="1400" b="1">
                <a:solidFill>
                  <a:srgbClr val="0F172A"/>
                </a:solidFill>
                <a:latin typeface="Arial"/>
              </a:rPr>
              <a:t>II. Does the solution produce results that conform to the data, functions, and features that are required?
</a:t>
            </a:r>
            <a:r>
              <a:rPr sz="1200">
                <a:solidFill>
                  <a:srgbClr val="334155"/>
                </a:solidFill>
                <a:latin typeface="Arial"/>
              </a:rPr>
              <a:t>Yes — customers can view specialized repair services, inspect genuine workshop bench credentials, and initiate direct repair booking with the technician, all without a third-party app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Requirement Engineering</a:t>
            </a:r>
          </a:p>
          <a:p>
            <a:pPr algn="ctr">
              <a:spcBef>
                <a:spcPts val="300"/>
              </a:spcBef>
            </a:pPr>
            <a:r>
              <a:rPr sz="2200" b="1">
                <a:solidFill>
                  <a:srgbClr val="DC2626"/>
                </a:solidFill>
                <a:latin typeface="Arial"/>
              </a:rPr>
              <a:t>(Client-side communication)</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200"/>
              </a:spcBef>
            </a:pPr>
            <a:r>
              <a:rPr sz="1300">
                <a:solidFill>
                  <a:srgbClr val="0F172A"/>
                </a:solidFill>
                <a:latin typeface="Arial"/>
              </a:rPr>
              <a:t>Complete repair services list with categories (Audio, Lighting, Visual, General), item images, descriptions, and technical highlight tags, matching the pro-audio positioning of the brand</a:t>
            </a:r>
          </a:p>
          <a:p>
            <a:pPr>
              <a:spcBef>
                <a:spcPts val="1200"/>
              </a:spcBef>
            </a:pPr>
            <a:r>
              <a:rPr sz="1300">
                <a:solidFill>
                  <a:srgbClr val="0F172A"/>
                </a:solidFill>
                <a:latin typeface="Arial"/>
              </a:rPr>
              <a:t>Business details to be displayed: physical workshop address in Limbayat, Surat, direct contact helpline (+91 98254 85520), and operating hours (Mon-Sat 9:30 AM – 9:00 PM)</a:t>
            </a:r>
          </a:p>
          <a:p>
            <a:pPr>
              <a:spcBef>
                <a:spcPts val="1200"/>
              </a:spcBef>
            </a:pPr>
            <a:r>
              <a:rPr sz="1300">
                <a:solidFill>
                  <a:srgbClr val="0F172A"/>
                </a:solidFill>
                <a:latin typeface="Arial"/>
              </a:rPr>
              <a:t>Instant communication support (Direct Phone Call &amp; WhatsApp chat) that avoids aggregator delays and middleman commissions</a:t>
            </a:r>
          </a:p>
          <a:p>
            <a:pPr>
              <a:spcBef>
                <a:spcPts val="1200"/>
              </a:spcBef>
            </a:pPr>
            <a:r>
              <a:rPr sz="1300">
                <a:solidFill>
                  <a:srgbClr val="0F172A"/>
                </a:solidFill>
                <a:latin typeface="Arial"/>
              </a:rPr>
              <a:t>A simple way for the technician (Murlidhar Chaudhari) to showcase specialized skills (voice coil rewinding, Sharpy moving head calibration, transistor balancing)</a:t>
            </a:r>
          </a:p>
          <a:p>
            <a:pPr>
              <a:spcBef>
                <a:spcPts val="1200"/>
              </a:spcBef>
            </a:pPr>
            <a:r>
              <a:rPr sz="1300">
                <a:solidFill>
                  <a:srgbClr val="0F172A"/>
                </a:solidFill>
                <a:latin typeface="Arial"/>
              </a:rPr>
              <a:t>A clean, mobile-friendly design consistent with the pro-audio stage concert and DJ lighting industry brand identity</a:t>
            </a:r>
          </a:p>
          <a:p>
            <a:pPr>
              <a:spcBef>
                <a:spcPts val="1200"/>
              </a:spcBef>
            </a:pPr>
            <a:r>
              <a:rPr sz="1300">
                <a:solidFill>
                  <a:srgbClr val="0F172A"/>
                </a:solidFill>
                <a:latin typeface="Arial"/>
              </a:rPr>
              <a:t>Easy updates to service details and pricing in a centralized data file without needing complex developer intervention each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Requirement Engineering</a:t>
            </a:r>
          </a:p>
          <a:p>
            <a:pPr algn="ctr">
              <a:spcBef>
                <a:spcPts val="300"/>
              </a:spcBef>
            </a:pPr>
            <a:r>
              <a:rPr sz="2200" b="1">
                <a:solidFill>
                  <a:srgbClr val="DC2626"/>
                </a:solidFill>
                <a:latin typeface="Arial"/>
              </a:rPr>
              <a:t>(Functional Requirements)</a:t>
            </a:r>
          </a:p>
        </p:txBody>
      </p:sp>
      <p:sp>
        <p:nvSpPr>
          <p:cNvPr id="3" name="TextBox 2"/>
          <p:cNvSpPr txBox="1"/>
          <p:nvPr/>
        </p:nvSpPr>
        <p:spPr>
          <a:xfrm>
            <a:off x="914400" y="1463040"/>
            <a:ext cx="10332720" cy="457200"/>
          </a:xfrm>
          <a:prstGeom prst="rect">
            <a:avLst/>
          </a:prstGeom>
          <a:noFill/>
        </p:spPr>
        <p:txBody>
          <a:bodyPr wrap="none">
            <a:spAutoFit/>
          </a:bodyPr>
          <a:lstStyle/>
          <a:p>
            <a:pPr>
              <a:defRPr sz="1400">
                <a:solidFill>
                  <a:srgbClr val="0F172A"/>
                </a:solidFill>
                <a:latin typeface="Arial"/>
              </a:defRPr>
            </a:pPr>
            <a:r>
              <a:t>Enlisted below are the functional requirements for the website:</a:t>
            </a:r>
          </a:p>
        </p:txBody>
      </p:sp>
      <p:graphicFrame>
        <p:nvGraphicFramePr>
          <p:cNvPr id="4" name="Table 3"/>
          <p:cNvGraphicFramePr>
            <a:graphicFrameLocks noGrp="1"/>
          </p:cNvGraphicFramePr>
          <p:nvPr/>
        </p:nvGraphicFramePr>
        <p:xfrm>
          <a:off x="914400" y="2011680"/>
          <a:ext cx="10332720" cy="3291840"/>
        </p:xfrm>
        <a:graphic>
          <a:graphicData uri="http://schemas.openxmlformats.org/drawingml/2006/table">
            <a:tbl>
              <a:tblPr firstRow="1" bandRow="1">
                <a:tableStyleId>{5C22544A-7EE6-4342-B048-85BDC9FD1C3A}</a:tableStyleId>
              </a:tblPr>
              <a:tblGrid>
                <a:gridCol w="2011680"/>
                <a:gridCol w="8321040"/>
              </a:tblGrid>
              <a:tr h="658368">
                <a:tc>
                  <a:txBody>
                    <a:bodyPr/>
                    <a:lstStyle/>
                    <a:p>
                      <a:pPr>
                        <a:defRPr b="1" sz="1300">
                          <a:solidFill>
                            <a:srgbClr val="0F172A"/>
                          </a:solidFill>
                        </a:defRPr>
                      </a:pPr>
                      <a:r>
                        <a:t>FR-1</a:t>
                      </a:r>
                    </a:p>
                  </a:txBody>
                  <a:tcPr>
                    <a:solidFill>
                      <a:srgbClr val="E6CCCC"/>
                    </a:solidFill>
                  </a:tcPr>
                </a:tc>
                <a:tc>
                  <a:txBody>
                    <a:bodyPr/>
                    <a:lstStyle/>
                    <a:p>
                      <a:pPr>
                        <a:defRPr b="1" sz="1300">
                          <a:solidFill>
                            <a:srgbClr val="0F172A"/>
                          </a:solidFill>
                        </a:defRPr>
                      </a:pPr>
                      <a:r>
                        <a:t>Service Browsing &amp; Equipment Selection</a:t>
                      </a:r>
                    </a:p>
                  </a:txBody>
                  <a:tcPr>
                    <a:solidFill>
                      <a:srgbClr val="E6CCCC"/>
                    </a:solidFill>
                  </a:tcPr>
                </a:tc>
              </a:tr>
              <a:tr h="658368">
                <a:tc>
                  <a:txBody>
                    <a:bodyPr/>
                    <a:lstStyle/>
                    <a:p>
                      <a:pPr>
                        <a:defRPr b="1" sz="1200">
                          <a:solidFill>
                            <a:srgbClr val="0F172A"/>
                          </a:solidFill>
                        </a:defRPr>
                      </a:pPr>
                      <a:r>
                        <a:t>Description</a:t>
                      </a:r>
                    </a:p>
                  </a:txBody>
                  <a:tcPr>
                    <a:solidFill>
                      <a:srgbClr val="FFFFFF"/>
                    </a:solidFill>
                  </a:tcPr>
                </a:tc>
                <a:tc>
                  <a:txBody>
                    <a:bodyPr/>
                    <a:lstStyle/>
                    <a:p>
                      <a:pPr>
                        <a:defRPr sz="1200">
                          <a:solidFill>
                            <a:srgbClr val="334155"/>
                          </a:solidFill>
                        </a:defRPr>
                      </a:pPr>
                      <a:r>
                        <a:t>Used to let the customer browse the specialized electronic repair services and inspect fault symptoms.</a:t>
                      </a:r>
                    </a:p>
                  </a:txBody>
                  <a:tcPr>
                    <a:solidFill>
                      <a:srgbClr val="FFFFFF"/>
                    </a:solidFill>
                  </a:tcPr>
                </a:tc>
              </a:tr>
              <a:tr h="658368">
                <a:tc>
                  <a:txBody>
                    <a:bodyPr/>
                    <a:lstStyle/>
                    <a:p>
                      <a:pPr>
                        <a:defRPr b="1" sz="1200">
                          <a:solidFill>
                            <a:srgbClr val="0F172A"/>
                          </a:solidFill>
                        </a:defRPr>
                      </a:pPr>
                      <a:r>
                        <a:t>Actor(s)</a:t>
                      </a:r>
                    </a:p>
                  </a:txBody>
                  <a:tcPr>
                    <a:solidFill>
                      <a:srgbClr val="FFFFFF"/>
                    </a:solidFill>
                  </a:tcPr>
                </a:tc>
                <a:tc>
                  <a:txBody>
                    <a:bodyPr/>
                    <a:lstStyle/>
                    <a:p>
                      <a:pPr>
                        <a:defRPr sz="1200">
                          <a:solidFill>
                            <a:srgbClr val="334155"/>
                          </a:solidFill>
                        </a:defRPr>
                      </a:pPr>
                      <a:r>
                        <a:t>Customer (DJ, Event Manager, Consumer)</a:t>
                      </a:r>
                    </a:p>
                  </a:txBody>
                  <a:tcPr>
                    <a:solidFill>
                      <a:srgbClr val="FFFFFF"/>
                    </a:solidFill>
                  </a:tcPr>
                </a:tc>
              </a:tr>
              <a:tr h="658368">
                <a:tc>
                  <a:txBody>
                    <a:bodyPr/>
                    <a:lstStyle/>
                    <a:p>
                      <a:pPr>
                        <a:defRPr b="1" sz="1200">
                          <a:solidFill>
                            <a:srgbClr val="0F172A"/>
                          </a:solidFill>
                        </a:defRPr>
                      </a:pPr>
                      <a:r>
                        <a:t>Input(s)</a:t>
                      </a:r>
                    </a:p>
                  </a:txBody>
                  <a:tcPr>
                    <a:solidFill>
                      <a:srgbClr val="FFFFFF"/>
                    </a:solidFill>
                  </a:tcPr>
                </a:tc>
                <a:tc>
                  <a:txBody>
                    <a:bodyPr/>
                    <a:lstStyle/>
                    <a:p>
                      <a:pPr>
                        <a:defRPr sz="1200">
                          <a:solidFill>
                            <a:srgbClr val="334155"/>
                          </a:solidFill>
                        </a:defRPr>
                      </a:pPr>
                      <a:r>
                        <a:t>Category selection (Audio, Lighting, Visual), selected equipment item (e.g., Speakers, Amplifiers, Sharpy).</a:t>
                      </a:r>
                    </a:p>
                  </a:txBody>
                  <a:tcPr>
                    <a:solidFill>
                      <a:srgbClr val="FFFFFF"/>
                    </a:solidFill>
                  </a:tcPr>
                </a:tc>
              </a:tr>
              <a:tr h="658368">
                <a:tc>
                  <a:txBody>
                    <a:bodyPr/>
                    <a:lstStyle/>
                    <a:p>
                      <a:pPr>
                        <a:defRPr b="1" sz="1200">
                          <a:solidFill>
                            <a:srgbClr val="0F172A"/>
                          </a:solidFill>
                        </a:defRPr>
                      </a:pPr>
                      <a:r>
                        <a:t>Output(s)</a:t>
                      </a:r>
                    </a:p>
                  </a:txBody>
                  <a:tcPr>
                    <a:solidFill>
                      <a:srgbClr val="FFFFFF"/>
                    </a:solidFill>
                  </a:tcPr>
                </a:tc>
                <a:tc>
                  <a:txBody>
                    <a:bodyPr/>
                    <a:lstStyle/>
                    <a:p>
                      <a:pPr>
                        <a:defRPr sz="1200">
                          <a:solidFill>
                            <a:srgbClr val="334155"/>
                          </a:solidFill>
                        </a:defRPr>
                      </a:pPr>
                      <a:r>
                        <a:t>Interactive service cards rendered with technical failure details, diagnostic highlights, and repair specifications.</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Requirement Engineering</a:t>
            </a:r>
          </a:p>
          <a:p>
            <a:pPr algn="ctr">
              <a:spcBef>
                <a:spcPts val="300"/>
              </a:spcBef>
            </a:pPr>
            <a:r>
              <a:rPr sz="2200" b="1">
                <a:solidFill>
                  <a:srgbClr val="DC2626"/>
                </a:solidFill>
                <a:latin typeface="Arial"/>
              </a:rPr>
              <a:t>(Functional Requirements)</a:t>
            </a:r>
          </a:p>
        </p:txBody>
      </p:sp>
      <p:graphicFrame>
        <p:nvGraphicFramePr>
          <p:cNvPr id="3" name="Table 2"/>
          <p:cNvGraphicFramePr>
            <a:graphicFrameLocks noGrp="1"/>
          </p:cNvGraphicFramePr>
          <p:nvPr/>
        </p:nvGraphicFramePr>
        <p:xfrm>
          <a:off x="914400" y="1828800"/>
          <a:ext cx="10332720" cy="3291840"/>
        </p:xfrm>
        <a:graphic>
          <a:graphicData uri="http://schemas.openxmlformats.org/drawingml/2006/table">
            <a:tbl>
              <a:tblPr firstRow="1" bandRow="1">
                <a:tableStyleId>{5C22544A-7EE6-4342-B048-85BDC9FD1C3A}</a:tableStyleId>
              </a:tblPr>
              <a:tblGrid>
                <a:gridCol w="2011680"/>
                <a:gridCol w="8321040"/>
              </a:tblGrid>
              <a:tr h="658368">
                <a:tc>
                  <a:txBody>
                    <a:bodyPr/>
                    <a:lstStyle/>
                    <a:p>
                      <a:pPr>
                        <a:defRPr b="1" sz="1300">
                          <a:solidFill>
                            <a:srgbClr val="0F172A"/>
                          </a:solidFill>
                        </a:defRPr>
                      </a:pPr>
                      <a:r>
                        <a:t>FR-2</a:t>
                      </a:r>
                    </a:p>
                  </a:txBody>
                  <a:tcPr>
                    <a:solidFill>
                      <a:srgbClr val="E6CCCC"/>
                    </a:solidFill>
                  </a:tcPr>
                </a:tc>
                <a:tc>
                  <a:txBody>
                    <a:bodyPr/>
                    <a:lstStyle/>
                    <a:p>
                      <a:pPr>
                        <a:defRPr b="1" sz="1300">
                          <a:solidFill>
                            <a:srgbClr val="0F172A"/>
                          </a:solidFill>
                        </a:defRPr>
                      </a:pPr>
                      <a:r>
                        <a:t>Direct Emergency Call &amp; WhatsApp Consultation</a:t>
                      </a:r>
                    </a:p>
                  </a:txBody>
                  <a:tcPr>
                    <a:solidFill>
                      <a:srgbClr val="E6CCCC"/>
                    </a:solidFill>
                  </a:tcPr>
                </a:tc>
              </a:tr>
              <a:tr h="658368">
                <a:tc>
                  <a:txBody>
                    <a:bodyPr/>
                    <a:lstStyle/>
                    <a:p>
                      <a:pPr>
                        <a:defRPr b="1" sz="1200">
                          <a:solidFill>
                            <a:srgbClr val="0F172A"/>
                          </a:solidFill>
                        </a:defRPr>
                      </a:pPr>
                      <a:r>
                        <a:t>Description</a:t>
                      </a:r>
                    </a:p>
                  </a:txBody>
                  <a:tcPr>
                    <a:solidFill>
                      <a:srgbClr val="FFFFFF"/>
                    </a:solidFill>
                  </a:tcPr>
                </a:tc>
                <a:tc>
                  <a:txBody>
                    <a:bodyPr/>
                    <a:lstStyle/>
                    <a:p>
                      <a:pPr>
                        <a:defRPr sz="1200">
                          <a:solidFill>
                            <a:srgbClr val="334155"/>
                          </a:solidFill>
                        </a:defRPr>
                      </a:pPr>
                      <a:r>
                        <a:t>Used to let the customer initiate instant telephonic or WhatsApp consultation directly with the technician.</a:t>
                      </a:r>
                    </a:p>
                  </a:txBody>
                  <a:tcPr>
                    <a:solidFill>
                      <a:srgbClr val="FFFFFF"/>
                    </a:solidFill>
                  </a:tcPr>
                </a:tc>
              </a:tr>
              <a:tr h="658368">
                <a:tc>
                  <a:txBody>
                    <a:bodyPr/>
                    <a:lstStyle/>
                    <a:p>
                      <a:pPr>
                        <a:defRPr b="1" sz="1200">
                          <a:solidFill>
                            <a:srgbClr val="0F172A"/>
                          </a:solidFill>
                        </a:defRPr>
                      </a:pPr>
                      <a:r>
                        <a:t>Actor(s)</a:t>
                      </a:r>
                    </a:p>
                  </a:txBody>
                  <a:tcPr>
                    <a:solidFill>
                      <a:srgbClr val="FFFFFF"/>
                    </a:solidFill>
                  </a:tcPr>
                </a:tc>
                <a:tc>
                  <a:txBody>
                    <a:bodyPr/>
                    <a:lstStyle/>
                    <a:p>
                      <a:pPr>
                        <a:defRPr sz="1200">
                          <a:solidFill>
                            <a:srgbClr val="334155"/>
                          </a:solidFill>
                        </a:defRPr>
                      </a:pPr>
                      <a:r>
                        <a:t>Customer, Chief Technician (Murlidhar Chaudhari)</a:t>
                      </a:r>
                    </a:p>
                  </a:txBody>
                  <a:tcPr>
                    <a:solidFill>
                      <a:srgbClr val="FFFFFF"/>
                    </a:solidFill>
                  </a:tcPr>
                </a:tc>
              </a:tr>
              <a:tr h="658368">
                <a:tc>
                  <a:txBody>
                    <a:bodyPr/>
                    <a:lstStyle/>
                    <a:p>
                      <a:pPr>
                        <a:defRPr b="1" sz="1200">
                          <a:solidFill>
                            <a:srgbClr val="0F172A"/>
                          </a:solidFill>
                        </a:defRPr>
                      </a:pPr>
                      <a:r>
                        <a:t>Input(s)</a:t>
                      </a:r>
                    </a:p>
                  </a:txBody>
                  <a:tcPr>
                    <a:solidFill>
                      <a:srgbClr val="FFFFFF"/>
                    </a:solidFill>
                  </a:tcPr>
                </a:tc>
                <a:tc>
                  <a:txBody>
                    <a:bodyPr/>
                    <a:lstStyle/>
                    <a:p>
                      <a:pPr>
                        <a:defRPr sz="1200">
                          <a:solidFill>
                            <a:srgbClr val="334155"/>
                          </a:solidFill>
                        </a:defRPr>
                      </a:pPr>
                      <a:r>
                        <a:t>Customer clicks 'Call Now' (+91 98254 85520) or 'Inquire on WhatsApp' action button.</a:t>
                      </a:r>
                    </a:p>
                  </a:txBody>
                  <a:tcPr>
                    <a:solidFill>
                      <a:srgbClr val="FFFFFF"/>
                    </a:solidFill>
                  </a:tcPr>
                </a:tc>
              </a:tr>
              <a:tr h="658368">
                <a:tc>
                  <a:txBody>
                    <a:bodyPr/>
                    <a:lstStyle/>
                    <a:p>
                      <a:pPr>
                        <a:defRPr b="1" sz="1200">
                          <a:solidFill>
                            <a:srgbClr val="0F172A"/>
                          </a:solidFill>
                        </a:defRPr>
                      </a:pPr>
                      <a:r>
                        <a:t>Output(s)</a:t>
                      </a:r>
                    </a:p>
                  </a:txBody>
                  <a:tcPr>
                    <a:solidFill>
                      <a:srgbClr val="FFFFFF"/>
                    </a:solidFill>
                  </a:tcPr>
                </a:tc>
                <a:tc>
                  <a:txBody>
                    <a:bodyPr/>
                    <a:lstStyle/>
                    <a:p>
                      <a:pPr>
                        <a:defRPr sz="1200">
                          <a:solidFill>
                            <a:srgbClr val="334155"/>
                          </a:solidFill>
                        </a:defRPr>
                      </a:pPr>
                      <a:r>
                        <a:t>Native phone dialer prompted with business number, or WhatsApp window launched with pre-filled inquiry text.</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Requirement Engineering</a:t>
            </a:r>
          </a:p>
          <a:p>
            <a:pPr algn="ctr">
              <a:spcBef>
                <a:spcPts val="300"/>
              </a:spcBef>
            </a:pPr>
            <a:r>
              <a:rPr sz="2200" b="1">
                <a:solidFill>
                  <a:srgbClr val="DC2626"/>
                </a:solidFill>
                <a:latin typeface="Arial"/>
              </a:rPr>
              <a:t>(Functional Requirements)</a:t>
            </a:r>
          </a:p>
        </p:txBody>
      </p:sp>
      <p:graphicFrame>
        <p:nvGraphicFramePr>
          <p:cNvPr id="3" name="Table 2"/>
          <p:cNvGraphicFramePr>
            <a:graphicFrameLocks noGrp="1"/>
          </p:cNvGraphicFramePr>
          <p:nvPr/>
        </p:nvGraphicFramePr>
        <p:xfrm>
          <a:off x="914400" y="1828800"/>
          <a:ext cx="10332720" cy="3291840"/>
        </p:xfrm>
        <a:graphic>
          <a:graphicData uri="http://schemas.openxmlformats.org/drawingml/2006/table">
            <a:tbl>
              <a:tblPr firstRow="1" bandRow="1">
                <a:tableStyleId>{5C22544A-7EE6-4342-B048-85BDC9FD1C3A}</a:tableStyleId>
              </a:tblPr>
              <a:tblGrid>
                <a:gridCol w="2011680"/>
                <a:gridCol w="8321040"/>
              </a:tblGrid>
              <a:tr h="658368">
                <a:tc>
                  <a:txBody>
                    <a:bodyPr/>
                    <a:lstStyle/>
                    <a:p>
                      <a:pPr>
                        <a:defRPr b="1" sz="1300">
                          <a:solidFill>
                            <a:srgbClr val="0F172A"/>
                          </a:solidFill>
                        </a:defRPr>
                      </a:pPr>
                      <a:r>
                        <a:t>FR-3</a:t>
                      </a:r>
                    </a:p>
                  </a:txBody>
                  <a:tcPr>
                    <a:solidFill>
                      <a:srgbClr val="E6CCCC"/>
                    </a:solidFill>
                  </a:tcPr>
                </a:tc>
                <a:tc>
                  <a:txBody>
                    <a:bodyPr/>
                    <a:lstStyle/>
                    <a:p>
                      <a:pPr>
                        <a:defRPr b="1" sz="1300">
                          <a:solidFill>
                            <a:srgbClr val="0F172A"/>
                          </a:solidFill>
                        </a:defRPr>
                      </a:pPr>
                      <a:r>
                        <a:t>Workshop Geolocation &amp; Turn-by-Turn Navigation</a:t>
                      </a:r>
                    </a:p>
                  </a:txBody>
                  <a:tcPr>
                    <a:solidFill>
                      <a:srgbClr val="E6CCCC"/>
                    </a:solidFill>
                  </a:tcPr>
                </a:tc>
              </a:tr>
              <a:tr h="658368">
                <a:tc>
                  <a:txBody>
                    <a:bodyPr/>
                    <a:lstStyle/>
                    <a:p>
                      <a:pPr>
                        <a:defRPr b="1" sz="1200">
                          <a:solidFill>
                            <a:srgbClr val="0F172A"/>
                          </a:solidFill>
                        </a:defRPr>
                      </a:pPr>
                      <a:r>
                        <a:t>Description</a:t>
                      </a:r>
                    </a:p>
                  </a:txBody>
                  <a:tcPr>
                    <a:solidFill>
                      <a:srgbClr val="FFFFFF"/>
                    </a:solidFill>
                  </a:tcPr>
                </a:tc>
                <a:tc>
                  <a:txBody>
                    <a:bodyPr/>
                    <a:lstStyle/>
                    <a:p>
                      <a:pPr>
                        <a:defRPr sz="1200">
                          <a:solidFill>
                            <a:srgbClr val="334155"/>
                          </a:solidFill>
                        </a:defRPr>
                      </a:pPr>
                      <a:r>
                        <a:t>Used to display the exact workshop location in Limbayat, Surat and provide GPS routing for equipment drop-off.</a:t>
                      </a:r>
                    </a:p>
                  </a:txBody>
                  <a:tcPr>
                    <a:solidFill>
                      <a:srgbClr val="FFFFFF"/>
                    </a:solidFill>
                  </a:tcPr>
                </a:tc>
              </a:tr>
              <a:tr h="658368">
                <a:tc>
                  <a:txBody>
                    <a:bodyPr/>
                    <a:lstStyle/>
                    <a:p>
                      <a:pPr>
                        <a:defRPr b="1" sz="1200">
                          <a:solidFill>
                            <a:srgbClr val="0F172A"/>
                          </a:solidFill>
                        </a:defRPr>
                      </a:pPr>
                      <a:r>
                        <a:t>Actor(s)</a:t>
                      </a:r>
                    </a:p>
                  </a:txBody>
                  <a:tcPr>
                    <a:solidFill>
                      <a:srgbClr val="FFFFFF"/>
                    </a:solidFill>
                  </a:tcPr>
                </a:tc>
                <a:tc>
                  <a:txBody>
                    <a:bodyPr/>
                    <a:lstStyle/>
                    <a:p>
                      <a:pPr>
                        <a:defRPr sz="1200">
                          <a:solidFill>
                            <a:srgbClr val="334155"/>
                          </a:solidFill>
                        </a:defRPr>
                      </a:pPr>
                      <a:r>
                        <a:t>Customer</a:t>
                      </a:r>
                    </a:p>
                  </a:txBody>
                  <a:tcPr>
                    <a:solidFill>
                      <a:srgbClr val="FFFFFF"/>
                    </a:solidFill>
                  </a:tcPr>
                </a:tc>
              </a:tr>
              <a:tr h="658368">
                <a:tc>
                  <a:txBody>
                    <a:bodyPr/>
                    <a:lstStyle/>
                    <a:p>
                      <a:pPr>
                        <a:defRPr b="1" sz="1200">
                          <a:solidFill>
                            <a:srgbClr val="0F172A"/>
                          </a:solidFill>
                        </a:defRPr>
                      </a:pPr>
                      <a:r>
                        <a:t>Input(s)</a:t>
                      </a:r>
                    </a:p>
                  </a:txBody>
                  <a:tcPr>
                    <a:solidFill>
                      <a:srgbClr val="FFFFFF"/>
                    </a:solidFill>
                  </a:tcPr>
                </a:tc>
                <a:tc>
                  <a:txBody>
                    <a:bodyPr/>
                    <a:lstStyle/>
                    <a:p>
                      <a:pPr>
                        <a:defRPr sz="1200">
                          <a:solidFill>
                            <a:srgbClr val="334155"/>
                          </a:solidFill>
                        </a:defRPr>
                      </a:pPr>
                      <a:r>
                        <a:t>Customer scrolls to Contact section or selects 'Get Directions' on Google Map.</a:t>
                      </a:r>
                    </a:p>
                  </a:txBody>
                  <a:tcPr>
                    <a:solidFill>
                      <a:srgbClr val="FFFFFF"/>
                    </a:solidFill>
                  </a:tcPr>
                </a:tc>
              </a:tr>
              <a:tr h="658368">
                <a:tc>
                  <a:txBody>
                    <a:bodyPr/>
                    <a:lstStyle/>
                    <a:p>
                      <a:pPr>
                        <a:defRPr b="1" sz="1200">
                          <a:solidFill>
                            <a:srgbClr val="0F172A"/>
                          </a:solidFill>
                        </a:defRPr>
                      </a:pPr>
                      <a:r>
                        <a:t>Output(s)</a:t>
                      </a:r>
                    </a:p>
                  </a:txBody>
                  <a:tcPr>
                    <a:solidFill>
                      <a:srgbClr val="FFFFFF"/>
                    </a:solidFill>
                  </a:tcPr>
                </a:tc>
                <a:tc>
                  <a:txBody>
                    <a:bodyPr/>
                    <a:lstStyle/>
                    <a:p>
                      <a:pPr>
                        <a:defRPr sz="1200">
                          <a:solidFill>
                            <a:srgbClr val="334155"/>
                          </a:solidFill>
                        </a:defRPr>
                      </a:pPr>
                      <a:r>
                        <a:t>Embedded interactive Google Map centered on Plot 199, Sanjay Nagar, Limbayat, with GPS navigation route generated.</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(SDLC Models Overview &amp; Selection)</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200"/>
              </a:spcBef>
            </a:pPr>
            <a:r>
              <a:rPr sz="1400" b="1">
                <a:solidFill>
                  <a:srgbClr val="0F172A"/>
                </a:solidFill>
              </a:rPr>
              <a:t>•  Importance of SDLC in Web Engineering:
</a:t>
            </a:r>
            <a:r>
              <a:rPr sz="1200">
                <a:solidFill>
                  <a:srgbClr val="334155"/>
                </a:solidFill>
              </a:rPr>
              <a:t>    Selecting the appropriate Software Development Life Cycle (SDLC) model determines project predictability, risk mitigation, customer collaboration frequency, and software delivery quality for Vikash Electronics.</a:t>
            </a:r>
          </a:p>
          <a:p>
            <a:pPr>
              <a:spcBef>
                <a:spcPts val="1200"/>
              </a:spcBef>
            </a:pPr>
            <a:r>
              <a:rPr sz="1400" b="1">
                <a:solidFill>
                  <a:srgbClr val="0F172A"/>
                </a:solidFill>
              </a:rPr>
              <a:t>•  Key SDLC Models Evaluated for this Project:
</a:t>
            </a:r>
            <a:r>
              <a:rPr sz="1200">
                <a:solidFill>
                  <a:srgbClr val="334155"/>
                </a:solidFill>
              </a:rPr>
              <a:t>    1. Waterfall Model (Linear Sequential Model)
2. Prototype Model (Iterative Prototyping &amp; Feedback)
3. V-Model (Verification and Validation Model)
4. Spiral Model (Risk-Driven Evolutionary Model)
5. Agile (Scrum) Model (Incremental Sprints &amp; Continuous Collaboration) [SELECTED]</a:t>
            </a:r>
          </a:p>
          <a:p>
            <a:pPr>
              <a:spcBef>
                <a:spcPts val="1200"/>
              </a:spcBef>
            </a:pPr>
            <a:r>
              <a:rPr sz="1400" b="1">
                <a:solidFill>
                  <a:srgbClr val="0F172A"/>
                </a:solidFill>
              </a:rPr>
              <a:t>•  Evaluation Parameters for Vikash Electronics Portal:
</a:t>
            </a:r>
            <a:r>
              <a:rPr sz="1200">
                <a:solidFill>
                  <a:srgbClr val="334155"/>
                </a:solidFill>
              </a:rPr>
              <a:t>    • Requirement Volatility: Flexibility to incorporate evolving equipment photos and repair descriptions.
• Client Availability: Weekly collaboration sessions with workshop owner Mr. Murlidhar Chaudhari.
• Delivery Velocity: Urgent need for a functional web presence before the peak Gujarat wedding/festival DJ season.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(Waterfall Model)</a:t>
            </a:r>
          </a:p>
        </p:txBody>
      </p:sp>
      <p:sp>
        <p:nvSpPr>
          <p:cNvPr id="3" name="Rounded Rectangle 2"/>
          <p:cNvSpPr/>
          <p:nvPr/>
        </p:nvSpPr>
        <p:spPr>
          <a:xfrm>
            <a:off x="914400" y="1828800"/>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Requirements Analysis</a:t>
            </a:r>
          </a:p>
        </p:txBody>
      </p:sp>
      <p:sp>
        <p:nvSpPr>
          <p:cNvPr id="4" name="Right Arrow 3"/>
          <p:cNvSpPr/>
          <p:nvPr/>
        </p:nvSpPr>
        <p:spPr>
          <a:xfrm>
            <a:off x="3063240" y="2011680"/>
            <a:ext cx="32004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560320" y="2468880"/>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System Design</a:t>
            </a:r>
          </a:p>
        </p:txBody>
      </p:sp>
      <p:sp>
        <p:nvSpPr>
          <p:cNvPr id="6" name="Right Arrow 5"/>
          <p:cNvSpPr/>
          <p:nvPr/>
        </p:nvSpPr>
        <p:spPr>
          <a:xfrm>
            <a:off x="4709160" y="2651760"/>
            <a:ext cx="32004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3108960"/>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Implementation (Coding)</a:t>
            </a:r>
          </a:p>
        </p:txBody>
      </p:sp>
      <p:sp>
        <p:nvSpPr>
          <p:cNvPr id="8" name="Right Arrow 7"/>
          <p:cNvSpPr/>
          <p:nvPr/>
        </p:nvSpPr>
        <p:spPr>
          <a:xfrm>
            <a:off x="6355080" y="3291840"/>
            <a:ext cx="32004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52160" y="3749039"/>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Testing &amp; QA</a:t>
            </a:r>
          </a:p>
        </p:txBody>
      </p:sp>
      <p:sp>
        <p:nvSpPr>
          <p:cNvPr id="10" name="Right Arrow 9"/>
          <p:cNvSpPr/>
          <p:nvPr/>
        </p:nvSpPr>
        <p:spPr>
          <a:xfrm>
            <a:off x="8001000" y="3931919"/>
            <a:ext cx="32004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79" y="4389120"/>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Deployment</a:t>
            </a:r>
          </a:p>
        </p:txBody>
      </p:sp>
      <p:sp>
        <p:nvSpPr>
          <p:cNvPr id="12" name="Right Arrow 11"/>
          <p:cNvSpPr/>
          <p:nvPr/>
        </p:nvSpPr>
        <p:spPr>
          <a:xfrm>
            <a:off x="9646919" y="4572000"/>
            <a:ext cx="32004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5029200"/>
            <a:ext cx="210312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Maintenance</a:t>
            </a:r>
          </a:p>
        </p:txBody>
      </p:sp>
      <p:sp>
        <p:nvSpPr>
          <p:cNvPr id="14" name="TextBox 13"/>
          <p:cNvSpPr txBox="1"/>
          <p:nvPr/>
        </p:nvSpPr>
        <p:spPr>
          <a:xfrm>
            <a:off x="914400" y="5760720"/>
            <a:ext cx="10362895" cy="914400"/>
          </a:xfrm>
          <a:prstGeom prst="rect">
            <a:avLst/>
          </a:prstGeom>
          <a:noFill/>
        </p:spPr>
        <p:txBody>
          <a:bodyPr wrap="square">
            <a:spAutoFit/>
          </a:bodyPr>
          <a:lstStyle/>
          <a:p>
            <a:r>
              <a:rPr b="1" sz="1200">
                <a:solidFill>
                  <a:srgbClr val="DC2626"/>
                </a:solidFill>
              </a:rPr>
              <a:t>Evaluation for Vikash Electronics: </a:t>
            </a:r>
            <a:r>
              <a:rPr sz="1150">
                <a:solidFill>
                  <a:srgbClr val="334155"/>
                </a:solidFill>
              </a:rPr>
              <a:t>Waterfall requires 100% frozen requirements at the outset. Because equipment specifications and workshop photo assets evolved dynamically during development, a purely rigid linear model was unsuitable as the primary methodology.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(Prototype Model)</a:t>
            </a:r>
          </a:p>
        </p:txBody>
      </p:sp>
      <p:sp>
        <p:nvSpPr>
          <p:cNvPr id="3" name="Rounded Rectangle 2"/>
          <p:cNvSpPr/>
          <p:nvPr/>
        </p:nvSpPr>
        <p:spPr>
          <a:xfrm>
            <a:off x="1097280" y="2103120"/>
            <a:ext cx="201168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1. Requirement
Gathering</a:t>
            </a:r>
          </a:p>
        </p:txBody>
      </p:sp>
      <p:sp>
        <p:nvSpPr>
          <p:cNvPr id="4" name="Rounded Rectangle 3"/>
          <p:cNvSpPr/>
          <p:nvPr/>
        </p:nvSpPr>
        <p:spPr>
          <a:xfrm>
            <a:off x="3474720" y="2103120"/>
            <a:ext cx="201168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2. Quick
Design</a:t>
            </a:r>
          </a:p>
        </p:txBody>
      </p:sp>
      <p:sp>
        <p:nvSpPr>
          <p:cNvPr id="5" name="Rounded Rectangle 4"/>
          <p:cNvSpPr/>
          <p:nvPr/>
        </p:nvSpPr>
        <p:spPr>
          <a:xfrm>
            <a:off x="5852160" y="2103120"/>
            <a:ext cx="201168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3. Build Prototype
(UI Mockup)</a:t>
            </a:r>
          </a:p>
        </p:txBody>
      </p:sp>
      <p:sp>
        <p:nvSpPr>
          <p:cNvPr id="6" name="Rounded Rectangle 5"/>
          <p:cNvSpPr/>
          <p:nvPr/>
        </p:nvSpPr>
        <p:spPr>
          <a:xfrm>
            <a:off x="8229600" y="2103120"/>
            <a:ext cx="201168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4. Client Evaluation
(Murlidhar C.)</a:t>
            </a:r>
          </a:p>
        </p:txBody>
      </p:sp>
      <p:sp>
        <p:nvSpPr>
          <p:cNvPr id="7" name="Right Arrow 6"/>
          <p:cNvSpPr/>
          <p:nvPr/>
        </p:nvSpPr>
        <p:spPr>
          <a:xfrm>
            <a:off x="3154680" y="2423160"/>
            <a:ext cx="27432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5532120" y="2423160"/>
            <a:ext cx="27432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909560" y="2423160"/>
            <a:ext cx="274320" cy="22860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52160" y="3657600"/>
            <a:ext cx="20116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5. Refine Prototype
&amp; Requirements</a:t>
            </a:r>
          </a:p>
        </p:txBody>
      </p:sp>
      <p:sp>
        <p:nvSpPr>
          <p:cNvPr id="11" name="Down Arrow 10"/>
          <p:cNvSpPr/>
          <p:nvPr/>
        </p:nvSpPr>
        <p:spPr>
          <a:xfrm>
            <a:off x="9144000" y="3108960"/>
            <a:ext cx="228600" cy="45720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ft Arrow 11"/>
          <p:cNvSpPr/>
          <p:nvPr/>
        </p:nvSpPr>
        <p:spPr>
          <a:xfrm>
            <a:off x="7955279" y="3977639"/>
            <a:ext cx="228600" cy="18288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852160" y="4937760"/>
            <a:ext cx="2011680" cy="731520"/>
          </a:xfrm>
          <a:prstGeom prst="roundRect">
            <a:avLst/>
          </a:prstGeom>
          <a:solidFill>
            <a:srgbClr val="FFFFFF"/>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66534"/>
                </a:solidFill>
                <a:latin typeface="Arial"/>
              </a:rPr>
              <a:t>6. Engineer Final
Production Portal</a:t>
            </a:r>
          </a:p>
        </p:txBody>
      </p:sp>
      <p:sp>
        <p:nvSpPr>
          <p:cNvPr id="14" name="Down Arrow 13"/>
          <p:cNvSpPr/>
          <p:nvPr/>
        </p:nvSpPr>
        <p:spPr>
          <a:xfrm>
            <a:off x="6766560" y="4526280"/>
            <a:ext cx="228600" cy="365760"/>
          </a:xfrm>
          <a:prstGeom prst="downArrow">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760720"/>
            <a:ext cx="10362895" cy="914400"/>
          </a:xfrm>
          <a:prstGeom prst="rect">
            <a:avLst/>
          </a:prstGeom>
          <a:noFill/>
        </p:spPr>
        <p:txBody>
          <a:bodyPr wrap="square">
            <a:spAutoFit/>
          </a:bodyPr>
          <a:lstStyle/>
          <a:p>
            <a:r>
              <a:rPr b="1" sz="1200">
                <a:solidFill>
                  <a:srgbClr val="2563EB"/>
                </a:solidFill>
              </a:rPr>
              <a:t>Role in Vikash Electronics: </a:t>
            </a:r>
            <a:r>
              <a:rPr sz="1150">
                <a:solidFill>
                  <a:srgbClr val="334155"/>
                </a:solidFill>
              </a:rPr>
              <a:t>The Prototype Model was directly adopted during Sprint 1 &amp; 2 to design early UI mockups of the dark-themed hero section, service cards, and mobile direct-calling triggers for physical review by the workshop owner.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(V-Model: Verification &amp; Validation)</a:t>
            </a:r>
          </a:p>
        </p:txBody>
      </p:sp>
      <p:sp>
        <p:nvSpPr>
          <p:cNvPr id="3" name="Rounded Rectangle 2"/>
          <p:cNvSpPr/>
          <p:nvPr/>
        </p:nvSpPr>
        <p:spPr>
          <a:xfrm>
            <a:off x="914400" y="164592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Requirements Analysis</a:t>
            </a:r>
          </a:p>
        </p:txBody>
      </p:sp>
      <p:sp>
        <p:nvSpPr>
          <p:cNvPr id="4" name="Rounded Rectangle 3"/>
          <p:cNvSpPr/>
          <p:nvPr/>
        </p:nvSpPr>
        <p:spPr>
          <a:xfrm>
            <a:off x="2011680" y="237744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System Architecture Design</a:t>
            </a:r>
          </a:p>
        </p:txBody>
      </p:sp>
      <p:sp>
        <p:nvSpPr>
          <p:cNvPr id="5" name="Rounded Rectangle 4"/>
          <p:cNvSpPr/>
          <p:nvPr/>
        </p:nvSpPr>
        <p:spPr>
          <a:xfrm>
            <a:off x="3108960" y="310896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Component UI Design</a:t>
            </a:r>
          </a:p>
        </p:txBody>
      </p:sp>
      <p:sp>
        <p:nvSpPr>
          <p:cNvPr id="6" name="Rounded Rectangle 5"/>
          <p:cNvSpPr/>
          <p:nvPr/>
        </p:nvSpPr>
        <p:spPr>
          <a:xfrm>
            <a:off x="4206240" y="384048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Module Coding (Next.js)</a:t>
            </a:r>
          </a:p>
        </p:txBody>
      </p:sp>
      <p:sp>
        <p:nvSpPr>
          <p:cNvPr id="7" name="Rounded Rectangle 6"/>
          <p:cNvSpPr/>
          <p:nvPr/>
        </p:nvSpPr>
        <p:spPr>
          <a:xfrm>
            <a:off x="4937760" y="4663440"/>
            <a:ext cx="2286000" cy="6400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563EB"/>
                </a:solidFill>
                <a:latin typeface="Arial"/>
              </a:rPr>
              <a:t>Coding &amp; Integration
(TypeScript &amp; React)</a:t>
            </a:r>
          </a:p>
        </p:txBody>
      </p:sp>
      <p:sp>
        <p:nvSpPr>
          <p:cNvPr id="8" name="Rounded Rectangle 7"/>
          <p:cNvSpPr/>
          <p:nvPr/>
        </p:nvSpPr>
        <p:spPr>
          <a:xfrm>
            <a:off x="8961120" y="164592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Acceptance Testing</a:t>
            </a:r>
          </a:p>
        </p:txBody>
      </p:sp>
      <p:sp>
        <p:nvSpPr>
          <p:cNvPr id="9" name="Rounded Rectangle 8"/>
          <p:cNvSpPr/>
          <p:nvPr/>
        </p:nvSpPr>
        <p:spPr>
          <a:xfrm>
            <a:off x="7863840" y="237744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System Testing</a:t>
            </a:r>
          </a:p>
        </p:txBody>
      </p:sp>
      <p:sp>
        <p:nvSpPr>
          <p:cNvPr id="10" name="Rounded Rectangle 9"/>
          <p:cNvSpPr/>
          <p:nvPr/>
        </p:nvSpPr>
        <p:spPr>
          <a:xfrm>
            <a:off x="6766560" y="310896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Integration Testing</a:t>
            </a:r>
          </a:p>
        </p:txBody>
      </p:sp>
      <p:sp>
        <p:nvSpPr>
          <p:cNvPr id="11" name="Rounded Rectangle 10"/>
          <p:cNvSpPr/>
          <p:nvPr/>
        </p:nvSpPr>
        <p:spPr>
          <a:xfrm>
            <a:off x="5669280" y="3840480"/>
            <a:ext cx="2286000" cy="5943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Unit Testing</a:t>
            </a:r>
          </a:p>
        </p:txBody>
      </p:sp>
      <p:sp>
        <p:nvSpPr>
          <p:cNvPr id="12" name="Rectangle 11"/>
          <p:cNvSpPr/>
          <p:nvPr/>
        </p:nvSpPr>
        <p:spPr>
          <a:xfrm>
            <a:off x="3246120" y="1920240"/>
            <a:ext cx="5669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651760"/>
            <a:ext cx="347472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40680" y="3383280"/>
            <a:ext cx="128016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37960" y="4114800"/>
            <a:ext cx="-914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0720"/>
            <a:ext cx="10362895" cy="914400"/>
          </a:xfrm>
          <a:prstGeom prst="rect">
            <a:avLst/>
          </a:prstGeom>
          <a:noFill/>
        </p:spPr>
        <p:txBody>
          <a:bodyPr wrap="square">
            <a:spAutoFit/>
          </a:bodyPr>
          <a:lstStyle/>
          <a:p>
            <a:r>
              <a:rPr b="1" sz="1200">
                <a:solidFill>
                  <a:srgbClr val="DC2626"/>
                </a:solidFill>
              </a:rPr>
              <a:t>Evaluation for Vikash Electronics: </a:t>
            </a:r>
            <a:r>
              <a:rPr sz="1150">
                <a:solidFill>
                  <a:srgbClr val="334155"/>
                </a:solidFill>
              </a:rPr>
              <a:t>The V-Model provides exceptional test-case mapping (e.g. validating mobile tel-links and schema JSON-LD against requirements), but its rigidity makes early deployment and continuous scope refinement impractical.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(Spiral Model: Risk-Driven)</a:t>
            </a:r>
          </a:p>
        </p:txBody>
      </p:sp>
      <p:sp>
        <p:nvSpPr>
          <p:cNvPr id="3" name="Rounded Rectangle 2"/>
          <p:cNvSpPr/>
          <p:nvPr/>
        </p:nvSpPr>
        <p:spPr>
          <a:xfrm>
            <a:off x="1097280" y="1828800"/>
            <a:ext cx="4663440" cy="16459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Quadrant 1: Objective Setting</a:t>
            </a:r>
          </a:p>
          <a:p>
            <a:pPr algn="ctr">
              <a:spcBef>
                <a:spcPts val="200"/>
              </a:spcBef>
            </a:pPr>
            <a:r>
              <a:rPr sz="950">
                <a:solidFill>
                  <a:srgbClr val="334155"/>
                </a:solidFill>
                <a:latin typeface="Arial"/>
              </a:rPr>
              <a:t>Define business goals, alternatives,
and operational constraints for the web portal</a:t>
            </a:r>
          </a:p>
        </p:txBody>
      </p:sp>
      <p:sp>
        <p:nvSpPr>
          <p:cNvPr id="4" name="Rounded Rectangle 3"/>
          <p:cNvSpPr/>
          <p:nvPr/>
        </p:nvSpPr>
        <p:spPr>
          <a:xfrm>
            <a:off x="6400800" y="1828800"/>
            <a:ext cx="4663440" cy="16459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Quadrant 2: Risk Analysis &amp; Prototyping</a:t>
            </a:r>
          </a:p>
          <a:p>
            <a:pPr algn="ctr">
              <a:spcBef>
                <a:spcPts val="200"/>
              </a:spcBef>
            </a:pPr>
            <a:r>
              <a:rPr sz="950">
                <a:solidFill>
                  <a:srgbClr val="334155"/>
                </a:solidFill>
                <a:latin typeface="Arial"/>
              </a:rPr>
              <a:t>Identify technical &amp; commercial risks
(e.g., SEO visibility, mobile UX adoption)</a:t>
            </a:r>
          </a:p>
        </p:txBody>
      </p:sp>
      <p:sp>
        <p:nvSpPr>
          <p:cNvPr id="5" name="Rounded Rectangle 4"/>
          <p:cNvSpPr/>
          <p:nvPr/>
        </p:nvSpPr>
        <p:spPr>
          <a:xfrm>
            <a:off x="1097280" y="3749039"/>
            <a:ext cx="4663440" cy="16459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Quadrant 4: Review &amp; Plan Next Phase</a:t>
            </a:r>
          </a:p>
          <a:p>
            <a:pPr algn="ctr">
              <a:spcBef>
                <a:spcPts val="200"/>
              </a:spcBef>
            </a:pPr>
            <a:r>
              <a:rPr sz="950">
                <a:solidFill>
                  <a:srgbClr val="334155"/>
                </a:solidFill>
                <a:latin typeface="Arial"/>
              </a:rPr>
              <a:t>Evaluate client feedback, review milestones,
and plan next evolutionary cycle</a:t>
            </a:r>
          </a:p>
        </p:txBody>
      </p:sp>
      <p:sp>
        <p:nvSpPr>
          <p:cNvPr id="6" name="Rounded Rectangle 5"/>
          <p:cNvSpPr/>
          <p:nvPr/>
        </p:nvSpPr>
        <p:spPr>
          <a:xfrm>
            <a:off x="6400800" y="3749039"/>
            <a:ext cx="4663440" cy="164592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Quadrant 3: Engineering &amp; Testing</a:t>
            </a:r>
          </a:p>
          <a:p>
            <a:pPr algn="ctr">
              <a:spcBef>
                <a:spcPts val="200"/>
              </a:spcBef>
            </a:pPr>
            <a:r>
              <a:rPr sz="950">
                <a:solidFill>
                  <a:srgbClr val="334155"/>
                </a:solidFill>
                <a:latin typeface="Arial"/>
              </a:rPr>
              <a:t>Develop Next.js components, integrate APIs,
and conduct verification tests</a:t>
            </a:r>
          </a:p>
        </p:txBody>
      </p:sp>
      <p:sp>
        <p:nvSpPr>
          <p:cNvPr id="7" name="Rectangle 6"/>
          <p:cNvSpPr/>
          <p:nvPr/>
        </p:nvSpPr>
        <p:spPr>
          <a:xfrm>
            <a:off x="6035040" y="1645920"/>
            <a:ext cx="36576" cy="3840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3611880"/>
            <a:ext cx="10332720"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60720"/>
            <a:ext cx="10362895" cy="914400"/>
          </a:xfrm>
          <a:prstGeom prst="rect">
            <a:avLst/>
          </a:prstGeom>
          <a:noFill/>
        </p:spPr>
        <p:txBody>
          <a:bodyPr wrap="square">
            <a:spAutoFit/>
          </a:bodyPr>
          <a:lstStyle/>
          <a:p>
            <a:r>
              <a:rPr b="1" sz="1200">
                <a:solidFill>
                  <a:srgbClr val="0F172A"/>
                </a:solidFill>
              </a:rPr>
              <a:t>Evaluation for Vikash Electronics: </a:t>
            </a:r>
            <a:r>
              <a:rPr sz="1150">
                <a:solidFill>
                  <a:srgbClr val="334155"/>
                </a:solidFill>
              </a:rPr>
              <a:t>The Spiral Model excels in massive, high-budget, high-uncertainty systems. While we leveraged its risk-analysis principles to mitigate local SEO and mobile usability risks, the overall overhead is excessive for a small-business web platform.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(Agile Scrum Model: Selected Approach)</a:t>
            </a:r>
          </a:p>
        </p:txBody>
      </p:sp>
      <p:sp>
        <p:nvSpPr>
          <p:cNvPr id="3" name="TextBox 2"/>
          <p:cNvSpPr txBox="1"/>
          <p:nvPr/>
        </p:nvSpPr>
        <p:spPr>
          <a:xfrm>
            <a:off x="1097280" y="1554480"/>
            <a:ext cx="9966960" cy="2011680"/>
          </a:xfrm>
          <a:prstGeom prst="rect">
            <a:avLst/>
          </a:prstGeom>
          <a:noFill/>
        </p:spPr>
        <p:txBody>
          <a:bodyPr wrap="square">
            <a:spAutoFit/>
          </a:bodyPr>
          <a:lstStyle/>
          <a:p>
            <a:r>
              <a:rPr sz="1400" b="1">
                <a:solidFill>
                  <a:srgbClr val="166534"/>
                </a:solidFill>
              </a:rPr>
              <a:t>Why Agile Scrum was Chosen for Vikash Electronics:</a:t>
            </a:r>
          </a:p>
          <a:p>
            <a:pPr>
              <a:spcBef>
                <a:spcPts val="600"/>
              </a:spcBef>
            </a:pPr>
            <a:r>
              <a:rPr sz="1200">
                <a:solidFill>
                  <a:srgbClr val="0F172A"/>
                </a:solidFill>
              </a:rPr>
              <a:t>• Iterative Sprints: Allows delivering functional increments (e.g. Hero &amp; Services first, then interactive Maps &amp; SEO) without waiting for full completion.</a:t>
            </a:r>
          </a:p>
          <a:p>
            <a:pPr>
              <a:spcBef>
                <a:spcPts val="400"/>
              </a:spcBef>
            </a:pPr>
            <a:r>
              <a:rPr sz="1200">
                <a:solidFill>
                  <a:srgbClr val="0F172A"/>
                </a:solidFill>
              </a:rPr>
              <a:t>• Continuous Stakeholder Collaboration: Bi-weekly review demos with Mr. Murlidhar Chaudhari to incorporate newly photographed workshop equipment.</a:t>
            </a:r>
          </a:p>
        </p:txBody>
      </p:sp>
      <p:sp>
        <p:nvSpPr>
          <p:cNvPr id="4" name="Rounded Rectangle 3"/>
          <p:cNvSpPr/>
          <p:nvPr/>
        </p:nvSpPr>
        <p:spPr>
          <a:xfrm>
            <a:off x="1280160" y="3931920"/>
            <a:ext cx="164592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Plan</a:t>
            </a:r>
          </a:p>
        </p:txBody>
      </p:sp>
      <p:sp>
        <p:nvSpPr>
          <p:cNvPr id="5" name="Right Arrow 4"/>
          <p:cNvSpPr/>
          <p:nvPr/>
        </p:nvSpPr>
        <p:spPr>
          <a:xfrm>
            <a:off x="2999232" y="4251960"/>
            <a:ext cx="219456"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91840" y="3931920"/>
            <a:ext cx="164592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Design</a:t>
            </a:r>
          </a:p>
        </p:txBody>
      </p:sp>
      <p:sp>
        <p:nvSpPr>
          <p:cNvPr id="7" name="Right Arrow 6"/>
          <p:cNvSpPr/>
          <p:nvPr/>
        </p:nvSpPr>
        <p:spPr>
          <a:xfrm>
            <a:off x="5010912" y="4251960"/>
            <a:ext cx="219456"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0" y="3931920"/>
            <a:ext cx="164592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Develop</a:t>
            </a:r>
          </a:p>
        </p:txBody>
      </p:sp>
      <p:sp>
        <p:nvSpPr>
          <p:cNvPr id="9" name="Right Arrow 8"/>
          <p:cNvSpPr/>
          <p:nvPr/>
        </p:nvSpPr>
        <p:spPr>
          <a:xfrm>
            <a:off x="7022592" y="4251960"/>
            <a:ext cx="219456"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3931920"/>
            <a:ext cx="164592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Test</a:t>
            </a:r>
          </a:p>
        </p:txBody>
      </p:sp>
      <p:sp>
        <p:nvSpPr>
          <p:cNvPr id="11" name="Right Arrow 10"/>
          <p:cNvSpPr/>
          <p:nvPr/>
        </p:nvSpPr>
        <p:spPr>
          <a:xfrm>
            <a:off x="9034272" y="4251960"/>
            <a:ext cx="219456" cy="27432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326880" y="3931920"/>
            <a:ext cx="1645920" cy="9144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Review</a:t>
            </a:r>
          </a:p>
        </p:txBody>
      </p:sp>
      <p:sp>
        <p:nvSpPr>
          <p:cNvPr id="13" name="Rectangle 12"/>
          <p:cNvSpPr/>
          <p:nvPr/>
        </p:nvSpPr>
        <p:spPr>
          <a:xfrm>
            <a:off x="1280160" y="5166360"/>
            <a:ext cx="96926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1188720" y="4892040"/>
            <a:ext cx="228600" cy="320040"/>
          </a:xfrm>
          <a:prstGeom prst="up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486400"/>
            <a:ext cx="10332720" cy="548640"/>
          </a:xfrm>
          <a:prstGeom prst="rect">
            <a:avLst/>
          </a:prstGeom>
          <a:noFill/>
        </p:spPr>
        <p:txBody>
          <a:bodyPr wrap="none">
            <a:spAutoFit/>
          </a:bodyPr>
          <a:lstStyle/>
          <a:p>
            <a:pPr algn="ctr"/>
            <a:r>
              <a:rPr sz="1300">
                <a:solidFill>
                  <a:srgbClr val="0F172A"/>
                </a:solidFill>
              </a:rPr>
              <a:t>repeats every sprint, with client review at the end of each cycle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Software Development Model</a:t>
            </a:r>
          </a:p>
          <a:p>
            <a:pPr algn="ctr">
              <a:spcBef>
                <a:spcPts val="300"/>
              </a:spcBef>
            </a:pPr>
            <a:r>
              <a:rPr sz="2200" b="1">
                <a:solidFill>
                  <a:srgbClr val="DC2626"/>
                </a:solidFill>
                <a:latin typeface="Arial"/>
              </a:rPr>
              <a:t>(Comparative Analysis &amp; Selection Matrix)</a:t>
            </a:r>
          </a:p>
        </p:txBody>
      </p:sp>
      <p:graphicFrame>
        <p:nvGraphicFramePr>
          <p:cNvPr id="3" name="Table 2"/>
          <p:cNvGraphicFramePr>
            <a:graphicFrameLocks noGrp="1"/>
          </p:cNvGraphicFramePr>
          <p:nvPr/>
        </p:nvGraphicFramePr>
        <p:xfrm>
          <a:off x="731520" y="1645920"/>
          <a:ext cx="10728655" cy="4114800"/>
        </p:xfrm>
        <a:graphic>
          <a:graphicData uri="http://schemas.openxmlformats.org/drawingml/2006/table">
            <a:tbl>
              <a:tblPr firstRow="1" bandRow="1">
                <a:tableStyleId>{5C22544A-7EE6-4342-B048-85BDC9FD1C3A}</a:tableStyleId>
              </a:tblPr>
              <a:tblGrid>
                <a:gridCol w="1828800"/>
                <a:gridCol w="1828800"/>
                <a:gridCol w="1828800"/>
                <a:gridCol w="1645920"/>
                <a:gridCol w="1645920"/>
                <a:gridCol w="1950415"/>
              </a:tblGrid>
              <a:tr h="685800">
                <a:tc>
                  <a:txBody>
                    <a:bodyPr/>
                    <a:lstStyle/>
                    <a:p>
                      <a:pPr>
                        <a:defRPr b="1" sz="1100">
                          <a:solidFill>
                            <a:srgbClr val="0F172A"/>
                          </a:solidFill>
                        </a:defRPr>
                      </a:pPr>
                      <a:r>
                        <a:t>SDLC Model</a:t>
                      </a:r>
                    </a:p>
                  </a:txBody>
                  <a:tcPr>
                    <a:solidFill>
                      <a:srgbClr val="E6CCCC"/>
                    </a:solidFill>
                  </a:tcPr>
                </a:tc>
                <a:tc>
                  <a:txBody>
                    <a:bodyPr/>
                    <a:lstStyle/>
                    <a:p>
                      <a:pPr>
                        <a:defRPr b="1" sz="1100">
                          <a:solidFill>
                            <a:srgbClr val="0F172A"/>
                          </a:solidFill>
                        </a:defRPr>
                      </a:pPr>
                      <a:r>
                        <a:t>Requirement Flexibility</a:t>
                      </a:r>
                    </a:p>
                  </a:txBody>
                  <a:tcPr>
                    <a:solidFill>
                      <a:srgbClr val="E6CCCC"/>
                    </a:solidFill>
                  </a:tcPr>
                </a:tc>
                <a:tc>
                  <a:txBody>
                    <a:bodyPr/>
                    <a:lstStyle/>
                    <a:p>
                      <a:pPr>
                        <a:defRPr b="1" sz="1100">
                          <a:solidFill>
                            <a:srgbClr val="0F172A"/>
                          </a:solidFill>
                        </a:defRPr>
                      </a:pPr>
                      <a:r>
                        <a:t>Customer Involvement</a:t>
                      </a:r>
                    </a:p>
                  </a:txBody>
                  <a:tcPr>
                    <a:solidFill>
                      <a:srgbClr val="E6CCCC"/>
                    </a:solidFill>
                  </a:tcPr>
                </a:tc>
                <a:tc>
                  <a:txBody>
                    <a:bodyPr/>
                    <a:lstStyle/>
                    <a:p>
                      <a:pPr>
                        <a:defRPr b="1" sz="1100">
                          <a:solidFill>
                            <a:srgbClr val="0F172A"/>
                          </a:solidFill>
                        </a:defRPr>
                      </a:pPr>
                      <a:r>
                        <a:t>Risk Handling</a:t>
                      </a:r>
                    </a:p>
                  </a:txBody>
                  <a:tcPr>
                    <a:solidFill>
                      <a:srgbClr val="E6CCCC"/>
                    </a:solidFill>
                  </a:tcPr>
                </a:tc>
                <a:tc>
                  <a:txBody>
                    <a:bodyPr/>
                    <a:lstStyle/>
                    <a:p>
                      <a:pPr>
                        <a:defRPr b="1" sz="1100">
                          <a:solidFill>
                            <a:srgbClr val="0F172A"/>
                          </a:solidFill>
                        </a:defRPr>
                      </a:pPr>
                      <a:r>
                        <a:t>Delivery Speed</a:t>
                      </a:r>
                    </a:p>
                  </a:txBody>
                  <a:tcPr>
                    <a:solidFill>
                      <a:srgbClr val="E6CCCC"/>
                    </a:solidFill>
                  </a:tcPr>
                </a:tc>
                <a:tc>
                  <a:txBody>
                    <a:bodyPr/>
                    <a:lstStyle/>
                    <a:p>
                      <a:pPr>
                        <a:defRPr b="1" sz="1100">
                          <a:solidFill>
                            <a:srgbClr val="0F172A"/>
                          </a:solidFill>
                        </a:defRPr>
                      </a:pPr>
                      <a:r>
                        <a:t>Suitability for Project</a:t>
                      </a:r>
                    </a:p>
                  </a:txBody>
                  <a:tcPr>
                    <a:solidFill>
                      <a:srgbClr val="E6CCCC"/>
                    </a:solidFill>
                  </a:tcPr>
                </a:tc>
              </a:tr>
              <a:tr h="685800">
                <a:tc>
                  <a:txBody>
                    <a:bodyPr/>
                    <a:lstStyle/>
                    <a:p>
                      <a:pPr>
                        <a:defRPr b="1" sz="1000">
                          <a:solidFill>
                            <a:srgbClr val="0F172A"/>
                          </a:solidFill>
                        </a:defRPr>
                      </a:pPr>
                      <a:r>
                        <a:t>Waterfall Model</a:t>
                      </a:r>
                    </a:p>
                  </a:txBody>
                  <a:tcPr>
                    <a:solidFill>
                      <a:srgbClr val="FFFFFF"/>
                    </a:solidFill>
                  </a:tcPr>
                </a:tc>
                <a:tc>
                  <a:txBody>
                    <a:bodyPr/>
                    <a:lstStyle/>
                    <a:p>
                      <a:pPr>
                        <a:defRPr sz="1000">
                          <a:solidFill>
                            <a:srgbClr val="0F172A"/>
                          </a:solidFill>
                        </a:defRPr>
                      </a:pPr>
                      <a:r>
                        <a:t>Very Low (Rigid)</a:t>
                      </a:r>
                    </a:p>
                  </a:txBody>
                  <a:tcPr>
                    <a:solidFill>
                      <a:srgbClr val="FFFFFF"/>
                    </a:solidFill>
                  </a:tcPr>
                </a:tc>
                <a:tc>
                  <a:txBody>
                    <a:bodyPr/>
                    <a:lstStyle/>
                    <a:p>
                      <a:pPr>
                        <a:defRPr sz="1000">
                          <a:solidFill>
                            <a:srgbClr val="0F172A"/>
                          </a:solidFill>
                        </a:defRPr>
                      </a:pPr>
                      <a:r>
                        <a:t>Low (Start &amp; End)</a:t>
                      </a:r>
                    </a:p>
                  </a:txBody>
                  <a:tcPr>
                    <a:solidFill>
                      <a:srgbClr val="FFFFFF"/>
                    </a:solidFill>
                  </a:tcPr>
                </a:tc>
                <a:tc>
                  <a:txBody>
                    <a:bodyPr/>
                    <a:lstStyle/>
                    <a:p>
                      <a:pPr>
                        <a:defRPr sz="1000">
                          <a:solidFill>
                            <a:srgbClr val="0F172A"/>
                          </a:solidFill>
                        </a:defRPr>
                      </a:pPr>
                      <a:r>
                        <a:t>Low (Late Discovery)</a:t>
                      </a:r>
                    </a:p>
                  </a:txBody>
                  <a:tcPr>
                    <a:solidFill>
                      <a:srgbClr val="FFFFFF"/>
                    </a:solidFill>
                  </a:tcPr>
                </a:tc>
                <a:tc>
                  <a:txBody>
                    <a:bodyPr/>
                    <a:lstStyle/>
                    <a:p>
                      <a:pPr>
                        <a:defRPr sz="1000">
                          <a:solidFill>
                            <a:srgbClr val="0F172A"/>
                          </a:solidFill>
                        </a:defRPr>
                      </a:pPr>
                      <a:r>
                        <a:t>Slow (End of Life)</a:t>
                      </a:r>
                    </a:p>
                  </a:txBody>
                  <a:tcPr>
                    <a:solidFill>
                      <a:srgbClr val="FFFFFF"/>
                    </a:solidFill>
                  </a:tcPr>
                </a:tc>
                <a:tc>
                  <a:txBody>
                    <a:bodyPr/>
                    <a:lstStyle/>
                    <a:p>
                      <a:pPr>
                        <a:defRPr sz="1000">
                          <a:solidFill>
                            <a:srgbClr val="0F172A"/>
                          </a:solidFill>
                        </a:defRPr>
                      </a:pPr>
                      <a:r>
                        <a:t>Unsuitable (Inflexible)</a:t>
                      </a:r>
                    </a:p>
                  </a:txBody>
                  <a:tcPr>
                    <a:solidFill>
                      <a:srgbClr val="FFFFFF"/>
                    </a:solidFill>
                  </a:tcPr>
                </a:tc>
              </a:tr>
              <a:tr h="685800">
                <a:tc>
                  <a:txBody>
                    <a:bodyPr/>
                    <a:lstStyle/>
                    <a:p>
                      <a:pPr>
                        <a:defRPr b="1" sz="1000">
                          <a:solidFill>
                            <a:srgbClr val="0F172A"/>
                          </a:solidFill>
                        </a:defRPr>
                      </a:pPr>
                      <a:r>
                        <a:t>Prototype Model</a:t>
                      </a:r>
                    </a:p>
                  </a:txBody>
                  <a:tcPr>
                    <a:solidFill>
                      <a:srgbClr val="FFFFFF"/>
                    </a:solidFill>
                  </a:tcPr>
                </a:tc>
                <a:tc>
                  <a:txBody>
                    <a:bodyPr/>
                    <a:lstStyle/>
                    <a:p>
                      <a:pPr>
                        <a:defRPr sz="1000">
                          <a:solidFill>
                            <a:srgbClr val="0F172A"/>
                          </a:solidFill>
                        </a:defRPr>
                      </a:pPr>
                      <a:r>
                        <a:t>High (Iterative)</a:t>
                      </a:r>
                    </a:p>
                  </a:txBody>
                  <a:tcPr>
                    <a:solidFill>
                      <a:srgbClr val="FFFFFF"/>
                    </a:solidFill>
                  </a:tcPr>
                </a:tc>
                <a:tc>
                  <a:txBody>
                    <a:bodyPr/>
                    <a:lstStyle/>
                    <a:p>
                      <a:pPr>
                        <a:defRPr sz="1000">
                          <a:solidFill>
                            <a:srgbClr val="0F172A"/>
                          </a:solidFill>
                        </a:defRPr>
                      </a:pPr>
                      <a:r>
                        <a:t>Very High (Evaluations)</a:t>
                      </a:r>
                    </a:p>
                  </a:txBody>
                  <a:tcPr>
                    <a:solidFill>
                      <a:srgbClr val="FFFFFF"/>
                    </a:solidFill>
                  </a:tcPr>
                </a:tc>
                <a:tc>
                  <a:txBody>
                    <a:bodyPr/>
                    <a:lstStyle/>
                    <a:p>
                      <a:pPr>
                        <a:defRPr sz="1000">
                          <a:solidFill>
                            <a:srgbClr val="0F172A"/>
                          </a:solidFill>
                        </a:defRPr>
                      </a:pPr>
                      <a:r>
                        <a:t>Medium (UI/UX Focus)</a:t>
                      </a:r>
                    </a:p>
                  </a:txBody>
                  <a:tcPr>
                    <a:solidFill>
                      <a:srgbClr val="FFFFFF"/>
                    </a:solidFill>
                  </a:tcPr>
                </a:tc>
                <a:tc>
                  <a:txBody>
                    <a:bodyPr/>
                    <a:lstStyle/>
                    <a:p>
                      <a:pPr>
                        <a:defRPr sz="1000">
                          <a:solidFill>
                            <a:srgbClr val="0F172A"/>
                          </a:solidFill>
                        </a:defRPr>
                      </a:pPr>
                      <a:r>
                        <a:t>Medium (Prototype loop)</a:t>
                      </a:r>
                    </a:p>
                  </a:txBody>
                  <a:tcPr>
                    <a:solidFill>
                      <a:srgbClr val="FFFFFF"/>
                    </a:solidFill>
                  </a:tcPr>
                </a:tc>
                <a:tc>
                  <a:txBody>
                    <a:bodyPr/>
                    <a:lstStyle/>
                    <a:p>
                      <a:pPr>
                        <a:defRPr sz="1000">
                          <a:solidFill>
                            <a:srgbClr val="0F172A"/>
                          </a:solidFill>
                        </a:defRPr>
                      </a:pPr>
                      <a:r>
                        <a:t>Adopted for UI Mockups</a:t>
                      </a:r>
                    </a:p>
                  </a:txBody>
                  <a:tcPr>
                    <a:solidFill>
                      <a:srgbClr val="FFFFFF"/>
                    </a:solidFill>
                  </a:tcPr>
                </a:tc>
              </a:tr>
              <a:tr h="685800">
                <a:tc>
                  <a:txBody>
                    <a:bodyPr/>
                    <a:lstStyle/>
                    <a:p>
                      <a:pPr>
                        <a:defRPr b="1" sz="1000">
                          <a:solidFill>
                            <a:srgbClr val="0F172A"/>
                          </a:solidFill>
                        </a:defRPr>
                      </a:pPr>
                      <a:r>
                        <a:t>V-Model</a:t>
                      </a:r>
                    </a:p>
                  </a:txBody>
                  <a:tcPr>
                    <a:solidFill>
                      <a:srgbClr val="FFFFFF"/>
                    </a:solidFill>
                  </a:tcPr>
                </a:tc>
                <a:tc>
                  <a:txBody>
                    <a:bodyPr/>
                    <a:lstStyle/>
                    <a:p>
                      <a:pPr>
                        <a:defRPr sz="1000">
                          <a:solidFill>
                            <a:srgbClr val="0F172A"/>
                          </a:solidFill>
                        </a:defRPr>
                      </a:pPr>
                      <a:r>
                        <a:t>Low (Sequential)</a:t>
                      </a:r>
                    </a:p>
                  </a:txBody>
                  <a:tcPr>
                    <a:solidFill>
                      <a:srgbClr val="FFFFFF"/>
                    </a:solidFill>
                  </a:tcPr>
                </a:tc>
                <a:tc>
                  <a:txBody>
                    <a:bodyPr/>
                    <a:lstStyle/>
                    <a:p>
                      <a:pPr>
                        <a:defRPr sz="1000">
                          <a:solidFill>
                            <a:srgbClr val="0F172A"/>
                          </a:solidFill>
                        </a:defRPr>
                      </a:pPr>
                      <a:r>
                        <a:t>Low (Sign-offs only)</a:t>
                      </a:r>
                    </a:p>
                  </a:txBody>
                  <a:tcPr>
                    <a:solidFill>
                      <a:srgbClr val="FFFFFF"/>
                    </a:solidFill>
                  </a:tcPr>
                </a:tc>
                <a:tc>
                  <a:txBody>
                    <a:bodyPr/>
                    <a:lstStyle/>
                    <a:p>
                      <a:pPr>
                        <a:defRPr sz="1000">
                          <a:solidFill>
                            <a:srgbClr val="0F172A"/>
                          </a:solidFill>
                        </a:defRPr>
                      </a:pPr>
                      <a:r>
                        <a:t>Medium (Testing Heavy)</a:t>
                      </a:r>
                    </a:p>
                  </a:txBody>
                  <a:tcPr>
                    <a:solidFill>
                      <a:srgbClr val="FFFFFF"/>
                    </a:solidFill>
                  </a:tcPr>
                </a:tc>
                <a:tc>
                  <a:txBody>
                    <a:bodyPr/>
                    <a:lstStyle/>
                    <a:p>
                      <a:pPr>
                        <a:defRPr sz="1000">
                          <a:solidFill>
                            <a:srgbClr val="0F172A"/>
                          </a:solidFill>
                        </a:defRPr>
                      </a:pPr>
                      <a:r>
                        <a:t>Slow (Full Cycle)</a:t>
                      </a:r>
                    </a:p>
                  </a:txBody>
                  <a:tcPr>
                    <a:solidFill>
                      <a:srgbClr val="FFFFFF"/>
                    </a:solidFill>
                  </a:tcPr>
                </a:tc>
                <a:tc>
                  <a:txBody>
                    <a:bodyPr/>
                    <a:lstStyle/>
                    <a:p>
                      <a:pPr>
                        <a:defRPr sz="1000">
                          <a:solidFill>
                            <a:srgbClr val="0F172A"/>
                          </a:solidFill>
                        </a:defRPr>
                      </a:pPr>
                      <a:r>
                        <a:t>Too Rigid for fast web</a:t>
                      </a:r>
                    </a:p>
                  </a:txBody>
                  <a:tcPr>
                    <a:solidFill>
                      <a:srgbClr val="FFFFFF"/>
                    </a:solidFill>
                  </a:tcPr>
                </a:tc>
              </a:tr>
              <a:tr h="685800">
                <a:tc>
                  <a:txBody>
                    <a:bodyPr/>
                    <a:lstStyle/>
                    <a:p>
                      <a:pPr>
                        <a:defRPr b="1" sz="1000">
                          <a:solidFill>
                            <a:srgbClr val="0F172A"/>
                          </a:solidFill>
                        </a:defRPr>
                      </a:pPr>
                      <a:r>
                        <a:t>Spiral Model</a:t>
                      </a:r>
                    </a:p>
                  </a:txBody>
                  <a:tcPr>
                    <a:solidFill>
                      <a:srgbClr val="FFFFFF"/>
                    </a:solidFill>
                  </a:tcPr>
                </a:tc>
                <a:tc>
                  <a:txBody>
                    <a:bodyPr/>
                    <a:lstStyle/>
                    <a:p>
                      <a:pPr>
                        <a:defRPr sz="1000">
                          <a:solidFill>
                            <a:srgbClr val="0F172A"/>
                          </a:solidFill>
                        </a:defRPr>
                      </a:pPr>
                      <a:r>
                        <a:t>High (Evolutionary)</a:t>
                      </a:r>
                    </a:p>
                  </a:txBody>
                  <a:tcPr>
                    <a:solidFill>
                      <a:srgbClr val="FFFFFF"/>
                    </a:solidFill>
                  </a:tcPr>
                </a:tc>
                <a:tc>
                  <a:txBody>
                    <a:bodyPr/>
                    <a:lstStyle/>
                    <a:p>
                      <a:pPr>
                        <a:defRPr sz="1000">
                          <a:solidFill>
                            <a:srgbClr val="0F172A"/>
                          </a:solidFill>
                        </a:defRPr>
                      </a:pPr>
                      <a:r>
                        <a:t>High (Per Spiral)</a:t>
                      </a:r>
                    </a:p>
                  </a:txBody>
                  <a:tcPr>
                    <a:solidFill>
                      <a:srgbClr val="FFFFFF"/>
                    </a:solidFill>
                  </a:tcPr>
                </a:tc>
                <a:tc>
                  <a:txBody>
                    <a:bodyPr/>
                    <a:lstStyle/>
                    <a:p>
                      <a:pPr>
                        <a:defRPr sz="1000">
                          <a:solidFill>
                            <a:srgbClr val="0F172A"/>
                          </a:solidFill>
                        </a:defRPr>
                      </a:pPr>
                      <a:r>
                        <a:t>Very High (Core Focus)</a:t>
                      </a:r>
                    </a:p>
                  </a:txBody>
                  <a:tcPr>
                    <a:solidFill>
                      <a:srgbClr val="FFFFFF"/>
                    </a:solidFill>
                  </a:tcPr>
                </a:tc>
                <a:tc>
                  <a:txBody>
                    <a:bodyPr/>
                    <a:lstStyle/>
                    <a:p>
                      <a:pPr>
                        <a:defRPr sz="1000">
                          <a:solidFill>
                            <a:srgbClr val="0F172A"/>
                          </a:solidFill>
                        </a:defRPr>
                      </a:pPr>
                      <a:r>
                        <a:t>Slow to Medium</a:t>
                      </a:r>
                    </a:p>
                  </a:txBody>
                  <a:tcPr>
                    <a:solidFill>
                      <a:srgbClr val="FFFFFF"/>
                    </a:solidFill>
                  </a:tcPr>
                </a:tc>
                <a:tc>
                  <a:txBody>
                    <a:bodyPr/>
                    <a:lstStyle/>
                    <a:p>
                      <a:pPr>
                        <a:defRPr sz="1000">
                          <a:solidFill>
                            <a:srgbClr val="0F172A"/>
                          </a:solidFill>
                        </a:defRPr>
                      </a:pPr>
                      <a:r>
                        <a:t>Overhead too heavy</a:t>
                      </a:r>
                    </a:p>
                  </a:txBody>
                  <a:tcPr>
                    <a:solidFill>
                      <a:srgbClr val="FFFFFF"/>
                    </a:solidFill>
                  </a:tcPr>
                </a:tc>
              </a:tr>
              <a:tr h="685800">
                <a:tc>
                  <a:txBody>
                    <a:bodyPr/>
                    <a:lstStyle/>
                    <a:p>
                      <a:pPr>
                        <a:defRPr b="1" sz="1000">
                          <a:solidFill>
                            <a:srgbClr val="166534"/>
                          </a:solidFill>
                        </a:defRPr>
                      </a:pPr>
                      <a:r>
                        <a:t>Agile (Scrum) [SELECTED]</a:t>
                      </a:r>
                    </a:p>
                  </a:txBody>
                  <a:tcPr>
                    <a:solidFill>
                      <a:srgbClr val="ECFDF5"/>
                    </a:solidFill>
                  </a:tcPr>
                </a:tc>
                <a:tc>
                  <a:txBody>
                    <a:bodyPr/>
                    <a:lstStyle/>
                    <a:p>
                      <a:pPr>
                        <a:defRPr b="1" sz="1000">
                          <a:solidFill>
                            <a:srgbClr val="166534"/>
                          </a:solidFill>
                        </a:defRPr>
                      </a:pPr>
                      <a:r>
                        <a:t>Very High (Sprints)</a:t>
                      </a:r>
                    </a:p>
                  </a:txBody>
                  <a:tcPr>
                    <a:solidFill>
                      <a:srgbClr val="ECFDF5"/>
                    </a:solidFill>
                  </a:tcPr>
                </a:tc>
                <a:tc>
                  <a:txBody>
                    <a:bodyPr/>
                    <a:lstStyle/>
                    <a:p>
                      <a:pPr>
                        <a:defRPr b="1" sz="1000">
                          <a:solidFill>
                            <a:srgbClr val="166534"/>
                          </a:solidFill>
                        </a:defRPr>
                      </a:pPr>
                      <a:r>
                        <a:t>Continuous / Active</a:t>
                      </a:r>
                    </a:p>
                  </a:txBody>
                  <a:tcPr>
                    <a:solidFill>
                      <a:srgbClr val="ECFDF5"/>
                    </a:solidFill>
                  </a:tcPr>
                </a:tc>
                <a:tc>
                  <a:txBody>
                    <a:bodyPr/>
                    <a:lstStyle/>
                    <a:p>
                      <a:pPr>
                        <a:defRPr b="1" sz="1000">
                          <a:solidFill>
                            <a:srgbClr val="166534"/>
                          </a:solidFill>
                        </a:defRPr>
                      </a:pPr>
                      <a:r>
                        <a:t>High (Sprint Backlog)</a:t>
                      </a:r>
                    </a:p>
                  </a:txBody>
                  <a:tcPr>
                    <a:solidFill>
                      <a:srgbClr val="ECFDF5"/>
                    </a:solidFill>
                  </a:tcPr>
                </a:tc>
                <a:tc>
                  <a:txBody>
                    <a:bodyPr/>
                    <a:lstStyle/>
                    <a:p>
                      <a:pPr>
                        <a:defRPr b="1" sz="1000">
                          <a:solidFill>
                            <a:srgbClr val="166534"/>
                          </a:solidFill>
                        </a:defRPr>
                      </a:pPr>
                      <a:r>
                        <a:t>Fast (Bi-weekly Increments)</a:t>
                      </a:r>
                    </a:p>
                  </a:txBody>
                  <a:tcPr>
                    <a:solidFill>
                      <a:srgbClr val="ECFDF5"/>
                    </a:solidFill>
                  </a:tcPr>
                </a:tc>
                <a:tc>
                  <a:txBody>
                    <a:bodyPr/>
                    <a:lstStyle/>
                    <a:p>
                      <a:pPr>
                        <a:defRPr b="1" sz="1000">
                          <a:solidFill>
                            <a:srgbClr val="166534"/>
                          </a:solidFill>
                        </a:defRPr>
                      </a:pPr>
                      <a:r>
                        <a:t>Highly Recommended &amp; Chosen</a:t>
                      </a:r>
                    </a:p>
                  </a:txBody>
                  <a:tcPr>
                    <a:solidFill>
                      <a:srgbClr val="ECFDF5"/>
                    </a:solidFill>
                  </a:tcPr>
                </a:tc>
              </a:tr>
            </a:tbl>
          </a:graphicData>
        </a:graphic>
      </p:graphicFrame>
      <p:sp>
        <p:nvSpPr>
          <p:cNvPr id="4" name="TextBox 3"/>
          <p:cNvSpPr txBox="1"/>
          <p:nvPr/>
        </p:nvSpPr>
        <p:spPr>
          <a:xfrm>
            <a:off x="731520" y="6035040"/>
            <a:ext cx="10728655" cy="548640"/>
          </a:xfrm>
          <a:prstGeom prst="rect">
            <a:avLst/>
          </a:prstGeom>
          <a:noFill/>
        </p:spPr>
        <p:txBody>
          <a:bodyPr wrap="none">
            <a:spAutoFit/>
          </a:bodyPr>
          <a:lstStyle/>
          <a:p>
            <a:r>
              <a:rPr b="1" sz="1150">
                <a:solidFill>
                  <a:srgbClr val="0F172A"/>
                </a:solidFill>
              </a:rPr>
              <a:t>Final Decision: Agile Scrum was chosen as the overarching SDLC model, complemented by Rapid Prototyping in Sprint 1 to design and approve the website's dark-mode visual interface with the client.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(Developing the use cases)</a:t>
            </a:r>
          </a:p>
        </p:txBody>
      </p:sp>
      <p:sp>
        <p:nvSpPr>
          <p:cNvPr id="3" name="TextBox 2"/>
          <p:cNvSpPr txBox="1"/>
          <p:nvPr/>
        </p:nvSpPr>
        <p:spPr>
          <a:xfrm>
            <a:off x="914400" y="1554480"/>
            <a:ext cx="10362895" cy="4937760"/>
          </a:xfrm>
          <a:prstGeom prst="rect">
            <a:avLst/>
          </a:prstGeom>
          <a:noFill/>
        </p:spPr>
        <p:txBody>
          <a:bodyPr wrap="square">
            <a:spAutoFit/>
          </a:bodyPr>
          <a:lstStyle/>
          <a:p>
            <a:pPr>
              <a:spcBef>
                <a:spcPts val="400"/>
              </a:spcBef>
            </a:pPr>
            <a:r>
              <a:rPr sz="1100" b="1">
                <a:solidFill>
                  <a:srgbClr val="0F172A"/>
                </a:solidFill>
              </a:rPr>
              <a:t>I. Who are the primary and secondary actors? </a:t>
            </a:r>
            <a:r>
              <a:rPr sz="1050">
                <a:solidFill>
                  <a:srgbClr val="334155"/>
                </a:solidFill>
              </a:rPr>
              <a:t>Primary: Event Organizers, DJs, Sound Rental Vendors, Household Consumers. Secondary: Chief Technician (Murlidhar Chaudhari).</a:t>
            </a:r>
          </a:p>
          <a:p>
            <a:pPr>
              <a:spcBef>
                <a:spcPts val="400"/>
              </a:spcBef>
            </a:pPr>
            <a:r>
              <a:rPr sz="1100" b="1">
                <a:solidFill>
                  <a:srgbClr val="0F172A"/>
                </a:solidFill>
              </a:rPr>
              <a:t>II. What are the actor's goal(s)? </a:t>
            </a:r>
            <a:r>
              <a:rPr sz="1050">
                <a:solidFill>
                  <a:srgbClr val="334155"/>
                </a:solidFill>
              </a:rPr>
              <a:t>Quickly find reliable repair capabilities for faulty equipment, verify technician credentials, and initiate direct contact.</a:t>
            </a:r>
          </a:p>
          <a:p>
            <a:pPr>
              <a:spcBef>
                <a:spcPts val="400"/>
              </a:spcBef>
            </a:pPr>
            <a:r>
              <a:rPr sz="1100" b="1">
                <a:solidFill>
                  <a:srgbClr val="0F172A"/>
                </a:solidFill>
              </a:rPr>
              <a:t>III. What preconditions should exist before the story begins? </a:t>
            </a:r>
            <a:r>
              <a:rPr sz="1050">
                <a:solidFill>
                  <a:srgbClr val="334155"/>
                </a:solidFill>
              </a:rPr>
              <a:t>Customer has access to an active internet connection and a web browser on mobile or desktop.</a:t>
            </a:r>
          </a:p>
          <a:p>
            <a:pPr>
              <a:spcBef>
                <a:spcPts val="400"/>
              </a:spcBef>
            </a:pPr>
            <a:r>
              <a:rPr sz="1100" b="1">
                <a:solidFill>
                  <a:srgbClr val="0F172A"/>
                </a:solidFill>
              </a:rPr>
              <a:t>IV. What main tasks or functions are performed by the actor? </a:t>
            </a:r>
            <a:r>
              <a:rPr sz="1050">
                <a:solidFill>
                  <a:srgbClr val="334155"/>
                </a:solidFill>
              </a:rPr>
              <a:t>Browse repair services, inspect diagnostic highlights, trigger direct phone calls, initiate WhatsApp messages, and locate the workshop on map.</a:t>
            </a:r>
          </a:p>
          <a:p>
            <a:pPr>
              <a:spcBef>
                <a:spcPts val="400"/>
              </a:spcBef>
            </a:pPr>
            <a:r>
              <a:rPr sz="1100" b="1">
                <a:solidFill>
                  <a:srgbClr val="0F172A"/>
                </a:solidFill>
              </a:rPr>
              <a:t>V. What exceptions might be considered as the story is described? </a:t>
            </a:r>
            <a:r>
              <a:rPr sz="1050">
                <a:solidFill>
                  <a:srgbClr val="334155"/>
                </a:solidFill>
              </a:rPr>
              <a:t>Customer device lacks cellular calling capability (system falls back to copy-to-clipboard or WhatsApp).</a:t>
            </a:r>
          </a:p>
          <a:p>
            <a:pPr>
              <a:spcBef>
                <a:spcPts val="400"/>
              </a:spcBef>
            </a:pPr>
            <a:r>
              <a:rPr sz="1100" b="1">
                <a:solidFill>
                  <a:srgbClr val="0F172A"/>
                </a:solidFill>
              </a:rPr>
              <a:t>VI. What variations in the actor's interaction are possible? </a:t>
            </a:r>
            <a:r>
              <a:rPr sz="1050">
                <a:solidFill>
                  <a:srgbClr val="334155"/>
                </a:solidFill>
              </a:rPr>
              <a:t>Direct mobile call vs desktop WhatsApp Web redirect; browsing by category vs scrolling full page.</a:t>
            </a:r>
          </a:p>
          <a:p>
            <a:pPr>
              <a:spcBef>
                <a:spcPts val="400"/>
              </a:spcBef>
            </a:pPr>
            <a:r>
              <a:rPr sz="1100" b="1">
                <a:solidFill>
                  <a:srgbClr val="0F172A"/>
                </a:solidFill>
              </a:rPr>
              <a:t>VII. What system information will the actor acquire, produce, or change? </a:t>
            </a:r>
            <a:r>
              <a:rPr sz="1050">
                <a:solidFill>
                  <a:srgbClr val="334155"/>
                </a:solidFill>
              </a:rPr>
              <a:t>Actor acquires repair specializations, diagnostic highlights, operating hours, and location coordinates.</a:t>
            </a:r>
          </a:p>
          <a:p>
            <a:pPr>
              <a:spcBef>
                <a:spcPts val="400"/>
              </a:spcBef>
            </a:pPr>
            <a:r>
              <a:rPr sz="1100" b="1">
                <a:solidFill>
                  <a:srgbClr val="0F172A"/>
                </a:solidFill>
              </a:rPr>
              <a:t>VIII. Will the actor have to inform the system about changes in the external environment? </a:t>
            </a:r>
            <a:r>
              <a:rPr sz="1050">
                <a:solidFill>
                  <a:srgbClr val="334155"/>
                </a:solidFill>
              </a:rPr>
              <a:t>Owner updates phone numbers or adds new equipment specializations via centralized data file.</a:t>
            </a:r>
          </a:p>
          <a:p>
            <a:pPr>
              <a:spcBef>
                <a:spcPts val="400"/>
              </a:spcBef>
            </a:pPr>
            <a:r>
              <a:rPr sz="1100" b="1">
                <a:solidFill>
                  <a:srgbClr val="0F172A"/>
                </a:solidFill>
              </a:rPr>
              <a:t>IX. What information does the actor desire from the system? </a:t>
            </a:r>
            <a:r>
              <a:rPr sz="1050">
                <a:solidFill>
                  <a:srgbClr val="334155"/>
                </a:solidFill>
              </a:rPr>
              <a:t>Turnaround feasibility, technician competence, exact workshop address in Limbayat.</a:t>
            </a:r>
          </a:p>
          <a:p>
            <a:pPr>
              <a:spcBef>
                <a:spcPts val="400"/>
              </a:spcBef>
            </a:pPr>
            <a:r>
              <a:rPr sz="1100" b="1">
                <a:solidFill>
                  <a:srgbClr val="0F172A"/>
                </a:solidFill>
              </a:rPr>
              <a:t>X. Does the actor wish to be informed about unexpected changes? </a:t>
            </a:r>
            <a:r>
              <a:rPr sz="1050">
                <a:solidFill>
                  <a:srgbClr val="334155"/>
                </a:solidFill>
              </a:rPr>
              <a:t>Yes, holiday workshop closures or emergency on-call notices displayed prominently in banner.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(Use Case Diagram)</a:t>
            </a:r>
          </a:p>
        </p:txBody>
      </p:sp>
      <p:sp>
        <p:nvSpPr>
          <p:cNvPr id="3" name="Rounded Rectangle 2"/>
          <p:cNvSpPr/>
          <p:nvPr/>
        </p:nvSpPr>
        <p:spPr>
          <a:xfrm>
            <a:off x="4114800" y="1645920"/>
            <a:ext cx="4389120" cy="4389120"/>
          </a:xfrm>
          <a:prstGeom prst="roundRect">
            <a:avLst/>
          </a:prstGeom>
          <a:noFill/>
          <a:ln w="254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5486400"/>
            <a:ext cx="4389120" cy="457200"/>
          </a:xfrm>
          <a:prstGeom prst="rect">
            <a:avLst/>
          </a:prstGeom>
          <a:noFill/>
        </p:spPr>
        <p:txBody>
          <a:bodyPr wrap="none">
            <a:spAutoFit/>
          </a:bodyPr>
          <a:lstStyle/>
          <a:p>
            <a:pPr algn="ctr"/>
            <a:r>
              <a:rPr sz="1300" b="1">
                <a:solidFill>
                  <a:srgbClr val="0F172A"/>
                </a:solidFill>
              </a:rPr>
              <a:t>Vikash Electronics Web Platform</a:t>
            </a:r>
          </a:p>
        </p:txBody>
      </p:sp>
      <p:sp>
        <p:nvSpPr>
          <p:cNvPr id="5" name="Oval 4"/>
          <p:cNvSpPr/>
          <p:nvPr/>
        </p:nvSpPr>
        <p:spPr>
          <a:xfrm>
            <a:off x="4480560" y="1920240"/>
            <a:ext cx="3657600" cy="594360"/>
          </a:xfrm>
          <a:prstGeom prst="ellipse">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DC2626"/>
                </a:solidFill>
              </a:rPr>
              <a:t>Browse Repair Services</a:t>
            </a:r>
          </a:p>
        </p:txBody>
      </p:sp>
      <p:sp>
        <p:nvSpPr>
          <p:cNvPr id="6" name="Oval 5"/>
          <p:cNvSpPr/>
          <p:nvPr/>
        </p:nvSpPr>
        <p:spPr>
          <a:xfrm>
            <a:off x="4480560" y="2651760"/>
            <a:ext cx="3657600" cy="594360"/>
          </a:xfrm>
          <a:prstGeom prst="ellipse">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DC2626"/>
                </a:solidFill>
              </a:rPr>
              <a:t>View Diagnostic Details</a:t>
            </a:r>
          </a:p>
        </p:txBody>
      </p:sp>
      <p:sp>
        <p:nvSpPr>
          <p:cNvPr id="7" name="Oval 6"/>
          <p:cNvSpPr/>
          <p:nvPr/>
        </p:nvSpPr>
        <p:spPr>
          <a:xfrm>
            <a:off x="4480560" y="3383280"/>
            <a:ext cx="3657600" cy="594360"/>
          </a:xfrm>
          <a:prstGeom prst="ellipse">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DC2626"/>
                </a:solidFill>
              </a:rPr>
              <a:t>Call Technician Directly</a:t>
            </a:r>
          </a:p>
        </p:txBody>
      </p:sp>
      <p:sp>
        <p:nvSpPr>
          <p:cNvPr id="8" name="Oval 7"/>
          <p:cNvSpPr/>
          <p:nvPr/>
        </p:nvSpPr>
        <p:spPr>
          <a:xfrm>
            <a:off x="4480560" y="4114800"/>
            <a:ext cx="3657600" cy="594360"/>
          </a:xfrm>
          <a:prstGeom prst="ellipse">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DC2626"/>
                </a:solidFill>
              </a:rPr>
              <a:t>Inquire via WhatsApp</a:t>
            </a:r>
          </a:p>
        </p:txBody>
      </p:sp>
      <p:sp>
        <p:nvSpPr>
          <p:cNvPr id="9" name="Oval 8"/>
          <p:cNvSpPr/>
          <p:nvPr/>
        </p:nvSpPr>
        <p:spPr>
          <a:xfrm>
            <a:off x="4480560" y="4846320"/>
            <a:ext cx="3657600" cy="594360"/>
          </a:xfrm>
          <a:prstGeom prst="ellipse">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DC2626"/>
                </a:solidFill>
              </a:rPr>
              <a:t>Locate Workshop &amp; Navigate</a:t>
            </a:r>
          </a:p>
        </p:txBody>
      </p:sp>
      <p:sp>
        <p:nvSpPr>
          <p:cNvPr id="10" name="TextBox 9"/>
          <p:cNvSpPr txBox="1"/>
          <p:nvPr/>
        </p:nvSpPr>
        <p:spPr>
          <a:xfrm>
            <a:off x="1097280" y="2926080"/>
            <a:ext cx="1828800" cy="1097280"/>
          </a:xfrm>
          <a:prstGeom prst="rect">
            <a:avLst/>
          </a:prstGeom>
          <a:noFill/>
        </p:spPr>
        <p:txBody>
          <a:bodyPr wrap="none">
            <a:spAutoFit/>
          </a:bodyPr>
          <a:lstStyle/>
          <a:p>
            <a:pPr algn="ctr"/>
            <a:r>
              <a:rPr sz="1200" b="1">
                <a:solidFill>
                  <a:srgbClr val="0F172A"/>
                </a:solidFill>
              </a:rPr>
              <a:t>👤
Customer
(DJ / Event Organizer)</a:t>
            </a:r>
          </a:p>
        </p:txBody>
      </p:sp>
      <p:sp>
        <p:nvSpPr>
          <p:cNvPr id="11" name="Rectangle 10"/>
          <p:cNvSpPr/>
          <p:nvPr/>
        </p:nvSpPr>
        <p:spPr>
          <a:xfrm>
            <a:off x="2560320" y="2194560"/>
            <a:ext cx="192024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0320" y="2926080"/>
            <a:ext cx="192024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0" y="3657600"/>
            <a:ext cx="192024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4389120"/>
            <a:ext cx="192024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0" y="5120640"/>
            <a:ext cx="192024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3840480"/>
            <a:ext cx="2011680" cy="1097280"/>
          </a:xfrm>
          <a:prstGeom prst="rect">
            <a:avLst/>
          </a:prstGeom>
          <a:noFill/>
        </p:spPr>
        <p:txBody>
          <a:bodyPr wrap="none">
            <a:spAutoFit/>
          </a:bodyPr>
          <a:lstStyle/>
          <a:p>
            <a:pPr algn="ctr"/>
            <a:r>
              <a:rPr sz="1200" b="1">
                <a:solidFill>
                  <a:srgbClr val="0F172A"/>
                </a:solidFill>
              </a:rPr>
              <a:t>🔧
Owner / Technician
(Murlidhar Chaudhari)</a:t>
            </a:r>
          </a:p>
        </p:txBody>
      </p:sp>
      <p:sp>
        <p:nvSpPr>
          <p:cNvPr id="17" name="Rectangle 16"/>
          <p:cNvSpPr/>
          <p:nvPr/>
        </p:nvSpPr>
        <p:spPr>
          <a:xfrm>
            <a:off x="8138160" y="3657600"/>
            <a:ext cx="137160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4389120"/>
            <a:ext cx="137160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5120640"/>
            <a:ext cx="1371600"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(Class Diagram)</a:t>
            </a:r>
          </a:p>
        </p:txBody>
      </p:sp>
      <p:sp>
        <p:nvSpPr>
          <p:cNvPr id="3" name="Rectangle 2"/>
          <p:cNvSpPr/>
          <p:nvPr/>
        </p:nvSpPr>
        <p:spPr>
          <a:xfrm>
            <a:off x="731520" y="1645920"/>
            <a:ext cx="2926080" cy="2011680"/>
          </a:xfrm>
          <a:prstGeom prst="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45920"/>
            <a:ext cx="2926080" cy="365760"/>
          </a:xfrm>
          <a:prstGeom prst="rect">
            <a:avLst/>
          </a:prstGeom>
          <a:solidFill>
            <a:srgbClr val="F0F9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0F172A"/>
                </a:solidFill>
              </a:rPr>
              <a:t>Customer</a:t>
            </a:r>
          </a:p>
        </p:txBody>
      </p:sp>
      <p:sp>
        <p:nvSpPr>
          <p:cNvPr id="5" name="TextBox 4"/>
          <p:cNvSpPr txBox="1"/>
          <p:nvPr/>
        </p:nvSpPr>
        <p:spPr>
          <a:xfrm>
            <a:off x="777240" y="2011680"/>
            <a:ext cx="2834640" cy="1600200"/>
          </a:xfrm>
          <a:prstGeom prst="rect">
            <a:avLst/>
          </a:prstGeom>
          <a:noFill/>
        </p:spPr>
        <p:txBody>
          <a:bodyPr wrap="square">
            <a:spAutoFit/>
          </a:bodyPr>
          <a:lstStyle/>
          <a:p>
            <a:r>
              <a:rPr sz="850">
                <a:solidFill>
                  <a:srgbClr val="334155"/>
                </a:solidFill>
              </a:rPr>
              <a:t>- customerId: int</a:t>
            </a:r>
          </a:p>
          <a:p>
            <a:r>
              <a:rPr sz="850">
                <a:solidFill>
                  <a:srgbClr val="334155"/>
                </a:solidFill>
              </a:rPr>
              <a:t>- name: string</a:t>
            </a:r>
          </a:p>
          <a:p>
            <a:r>
              <a:rPr sz="850">
                <a:solidFill>
                  <a:srgbClr val="334155"/>
                </a:solidFill>
              </a:rPr>
              <a:t>- phone: string</a:t>
            </a:r>
          </a:p>
          <a:p>
            <a:r>
              <a:rPr sz="850">
                <a:solidFill>
                  <a:srgbClr val="334155"/>
                </a:solidFill>
              </a:rPr>
              <a:t>- eventType: string</a:t>
            </a:r>
          </a:p>
          <a:p>
            <a:r>
              <a:rPr sz="700">
                <a:solidFill>
                  <a:srgbClr val="CBD5E1"/>
                </a:solidFill>
              </a:rPr>
              <a:t>---------------------------------</a:t>
            </a:r>
          </a:p>
          <a:p>
            <a:r>
              <a:rPr sz="850">
                <a:solidFill>
                  <a:srgbClr val="0F172A"/>
                </a:solidFill>
              </a:rPr>
              <a:t>+ browseServices()</a:t>
            </a:r>
          </a:p>
          <a:p>
            <a:r>
              <a:rPr sz="850">
                <a:solidFill>
                  <a:srgbClr val="0F172A"/>
                </a:solidFill>
              </a:rPr>
              <a:t>+ viewFaultDiagnostics()</a:t>
            </a:r>
          </a:p>
          <a:p>
            <a:r>
              <a:rPr sz="850">
                <a:solidFill>
                  <a:srgbClr val="0F172A"/>
                </a:solidFill>
              </a:rPr>
              <a:t>+ callWorkshop()</a:t>
            </a:r>
          </a:p>
          <a:p>
            <a:r>
              <a:rPr sz="850">
                <a:solidFill>
                  <a:srgbClr val="0F172A"/>
                </a:solidFill>
              </a:rPr>
              <a:t>+ sendWhatsAppInquiry()</a:t>
            </a:r>
          </a:p>
        </p:txBody>
      </p:sp>
      <p:sp>
        <p:nvSpPr>
          <p:cNvPr id="6" name="Rectangle 5"/>
          <p:cNvSpPr/>
          <p:nvPr/>
        </p:nvSpPr>
        <p:spPr>
          <a:xfrm>
            <a:off x="4572000" y="1645920"/>
            <a:ext cx="3108960" cy="2011680"/>
          </a:xfrm>
          <a:prstGeom prst="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0" y="1645920"/>
            <a:ext cx="3108960" cy="365760"/>
          </a:xfrm>
          <a:prstGeom prst="rect">
            <a:avLst/>
          </a:prstGeom>
          <a:solidFill>
            <a:srgbClr val="F0F9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0F172A"/>
                </a:solidFill>
              </a:rPr>
              <a:t>RepairService</a:t>
            </a:r>
          </a:p>
        </p:txBody>
      </p:sp>
      <p:sp>
        <p:nvSpPr>
          <p:cNvPr id="8" name="TextBox 7"/>
          <p:cNvSpPr txBox="1"/>
          <p:nvPr/>
        </p:nvSpPr>
        <p:spPr>
          <a:xfrm>
            <a:off x="4617720" y="2011680"/>
            <a:ext cx="3017520" cy="1600200"/>
          </a:xfrm>
          <a:prstGeom prst="rect">
            <a:avLst/>
          </a:prstGeom>
          <a:noFill/>
        </p:spPr>
        <p:txBody>
          <a:bodyPr wrap="square">
            <a:spAutoFit/>
          </a:bodyPr>
          <a:lstStyle/>
          <a:p>
            <a:r>
              <a:rPr sz="850">
                <a:solidFill>
                  <a:srgbClr val="334155"/>
                </a:solidFill>
              </a:rPr>
              <a:t>- serviceId: string</a:t>
            </a:r>
          </a:p>
          <a:p>
            <a:r>
              <a:rPr sz="850">
                <a:solidFill>
                  <a:srgbClr val="334155"/>
                </a:solidFill>
              </a:rPr>
              <a:t>- title: string</a:t>
            </a:r>
          </a:p>
          <a:p>
            <a:r>
              <a:rPr sz="850">
                <a:solidFill>
                  <a:srgbClr val="334155"/>
                </a:solidFill>
              </a:rPr>
              <a:t>- category: string</a:t>
            </a:r>
          </a:p>
          <a:p>
            <a:r>
              <a:rPr sz="850">
                <a:solidFill>
                  <a:srgbClr val="334155"/>
                </a:solidFill>
              </a:rPr>
              <a:t>- description: string</a:t>
            </a:r>
          </a:p>
          <a:p>
            <a:r>
              <a:rPr sz="850">
                <a:solidFill>
                  <a:srgbClr val="334155"/>
                </a:solidFill>
              </a:rPr>
              <a:t>- highlights: string[]</a:t>
            </a:r>
          </a:p>
          <a:p>
            <a:r>
              <a:rPr sz="700">
                <a:solidFill>
                  <a:srgbClr val="CBD5E1"/>
                </a:solidFill>
              </a:rPr>
              <a:t>---------------------------------</a:t>
            </a:r>
          </a:p>
          <a:p>
            <a:r>
              <a:rPr sz="850">
                <a:solidFill>
                  <a:srgbClr val="0F172A"/>
                </a:solidFill>
              </a:rPr>
              <a:t>+ getDetails()</a:t>
            </a:r>
          </a:p>
          <a:p>
            <a:r>
              <a:rPr sz="850">
                <a:solidFill>
                  <a:srgbClr val="0F172A"/>
                </a:solidFill>
              </a:rPr>
              <a:t>+ filterByCategory()</a:t>
            </a:r>
          </a:p>
          <a:p>
            <a:r>
              <a:rPr sz="850">
                <a:solidFill>
                  <a:srgbClr val="0F172A"/>
                </a:solidFill>
              </a:rPr>
              <a:t>+ getFaultGuide()</a:t>
            </a:r>
          </a:p>
        </p:txBody>
      </p:sp>
      <p:sp>
        <p:nvSpPr>
          <p:cNvPr id="9" name="Rectangle 8"/>
          <p:cNvSpPr/>
          <p:nvPr/>
        </p:nvSpPr>
        <p:spPr>
          <a:xfrm>
            <a:off x="8503920" y="1645920"/>
            <a:ext cx="2926080" cy="2011680"/>
          </a:xfrm>
          <a:prstGeom prst="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645920"/>
            <a:ext cx="2926080" cy="365760"/>
          </a:xfrm>
          <a:prstGeom prst="rect">
            <a:avLst/>
          </a:prstGeom>
          <a:solidFill>
            <a:srgbClr val="F0F9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0F172A"/>
                </a:solidFill>
              </a:rPr>
              <a:t>Technician</a:t>
            </a:r>
          </a:p>
        </p:txBody>
      </p:sp>
      <p:sp>
        <p:nvSpPr>
          <p:cNvPr id="11" name="TextBox 10"/>
          <p:cNvSpPr txBox="1"/>
          <p:nvPr/>
        </p:nvSpPr>
        <p:spPr>
          <a:xfrm>
            <a:off x="8549640" y="2011680"/>
            <a:ext cx="2834640" cy="1600200"/>
          </a:xfrm>
          <a:prstGeom prst="rect">
            <a:avLst/>
          </a:prstGeom>
          <a:noFill/>
        </p:spPr>
        <p:txBody>
          <a:bodyPr wrap="square">
            <a:spAutoFit/>
          </a:bodyPr>
          <a:lstStyle/>
          <a:p>
            <a:r>
              <a:rPr sz="850">
                <a:solidFill>
                  <a:srgbClr val="334155"/>
                </a:solidFill>
              </a:rPr>
              <a:t>- technicianId: int</a:t>
            </a:r>
          </a:p>
          <a:p>
            <a:r>
              <a:rPr sz="850">
                <a:solidFill>
                  <a:srgbClr val="334155"/>
                </a:solidFill>
              </a:rPr>
              <a:t>- name: string</a:t>
            </a:r>
          </a:p>
          <a:p>
            <a:r>
              <a:rPr sz="850">
                <a:solidFill>
                  <a:srgbClr val="334155"/>
                </a:solidFill>
              </a:rPr>
              <a:t>- phone: string</a:t>
            </a:r>
          </a:p>
          <a:p>
            <a:r>
              <a:rPr sz="850">
                <a:solidFill>
                  <a:srgbClr val="334155"/>
                </a:solidFill>
              </a:rPr>
              <a:t>- experienceYears: int</a:t>
            </a:r>
          </a:p>
          <a:p>
            <a:r>
              <a:rPr sz="700">
                <a:solidFill>
                  <a:srgbClr val="CBD5E1"/>
                </a:solidFill>
              </a:rPr>
              <a:t>---------------------------------</a:t>
            </a:r>
          </a:p>
          <a:p>
            <a:r>
              <a:rPr sz="850">
                <a:solidFill>
                  <a:srgbClr val="0F172A"/>
                </a:solidFill>
              </a:rPr>
              <a:t>+ receiveCall()</a:t>
            </a:r>
          </a:p>
          <a:p>
            <a:r>
              <a:rPr sz="850">
                <a:solidFill>
                  <a:srgbClr val="0F172A"/>
                </a:solidFill>
              </a:rPr>
              <a:t>+ respondWhatsApp()</a:t>
            </a:r>
          </a:p>
          <a:p>
            <a:r>
              <a:rPr sz="850">
                <a:solidFill>
                  <a:srgbClr val="0F172A"/>
                </a:solidFill>
              </a:rPr>
              <a:t>+ inspectEquipment()</a:t>
            </a:r>
          </a:p>
          <a:p>
            <a:r>
              <a:rPr sz="850">
                <a:solidFill>
                  <a:srgbClr val="0F172A"/>
                </a:solidFill>
              </a:rPr>
              <a:t>+ executeRepair()</a:t>
            </a:r>
          </a:p>
        </p:txBody>
      </p:sp>
      <p:sp>
        <p:nvSpPr>
          <p:cNvPr id="12" name="Rectangle 11"/>
          <p:cNvSpPr/>
          <p:nvPr/>
        </p:nvSpPr>
        <p:spPr>
          <a:xfrm>
            <a:off x="2560320" y="4206240"/>
            <a:ext cx="3108960" cy="2011680"/>
          </a:xfrm>
          <a:prstGeom prst="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0" y="4206240"/>
            <a:ext cx="3108960" cy="365760"/>
          </a:xfrm>
          <a:prstGeom prst="rect">
            <a:avLst/>
          </a:prstGeom>
          <a:solidFill>
            <a:srgbClr val="F0F9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0F172A"/>
                </a:solidFill>
              </a:rPr>
              <a:t>RepairInquiry</a:t>
            </a:r>
          </a:p>
        </p:txBody>
      </p:sp>
      <p:sp>
        <p:nvSpPr>
          <p:cNvPr id="14" name="TextBox 13"/>
          <p:cNvSpPr txBox="1"/>
          <p:nvPr/>
        </p:nvSpPr>
        <p:spPr>
          <a:xfrm>
            <a:off x="2606040" y="4572000"/>
            <a:ext cx="3017520" cy="1600200"/>
          </a:xfrm>
          <a:prstGeom prst="rect">
            <a:avLst/>
          </a:prstGeom>
          <a:noFill/>
        </p:spPr>
        <p:txBody>
          <a:bodyPr wrap="square">
            <a:spAutoFit/>
          </a:bodyPr>
          <a:lstStyle/>
          <a:p>
            <a:r>
              <a:rPr sz="850">
                <a:solidFill>
                  <a:srgbClr val="334155"/>
                </a:solidFill>
              </a:rPr>
              <a:t>- inquiryId: string</a:t>
            </a:r>
          </a:p>
          <a:p>
            <a:r>
              <a:rPr sz="850">
                <a:solidFill>
                  <a:srgbClr val="334155"/>
                </a:solidFill>
              </a:rPr>
              <a:t>- equipmentType: string</a:t>
            </a:r>
          </a:p>
          <a:p>
            <a:r>
              <a:rPr sz="850">
                <a:solidFill>
                  <a:srgbClr val="334155"/>
                </a:solidFill>
              </a:rPr>
              <a:t>- faultDescription: string</a:t>
            </a:r>
          </a:p>
          <a:p>
            <a:r>
              <a:rPr sz="850">
                <a:solidFill>
                  <a:srgbClr val="334155"/>
                </a:solidFill>
              </a:rPr>
              <a:t>- contactChannel: enum</a:t>
            </a:r>
          </a:p>
          <a:p>
            <a:r>
              <a:rPr sz="850">
                <a:solidFill>
                  <a:srgbClr val="334155"/>
                </a:solidFill>
              </a:rPr>
              <a:t>- status: string</a:t>
            </a:r>
          </a:p>
          <a:p>
            <a:r>
              <a:rPr sz="700">
                <a:solidFill>
                  <a:srgbClr val="CBD5E1"/>
                </a:solidFill>
              </a:rPr>
              <a:t>---------------------------------</a:t>
            </a:r>
          </a:p>
          <a:p>
            <a:r>
              <a:rPr sz="850">
                <a:solidFill>
                  <a:srgbClr val="0F172A"/>
                </a:solidFill>
              </a:rPr>
              <a:t>+ createInquiry()</a:t>
            </a:r>
          </a:p>
          <a:p>
            <a:r>
              <a:rPr sz="850">
                <a:solidFill>
                  <a:srgbClr val="0F172A"/>
                </a:solidFill>
              </a:rPr>
              <a:t>+ updateStatus()</a:t>
            </a:r>
          </a:p>
          <a:p>
            <a:r>
              <a:rPr sz="850">
                <a:solidFill>
                  <a:srgbClr val="0F172A"/>
                </a:solidFill>
              </a:rPr>
              <a:t>+ estimateTurnaround()</a:t>
            </a:r>
          </a:p>
        </p:txBody>
      </p:sp>
      <p:sp>
        <p:nvSpPr>
          <p:cNvPr id="15" name="Rectangle 14"/>
          <p:cNvSpPr/>
          <p:nvPr/>
        </p:nvSpPr>
        <p:spPr>
          <a:xfrm>
            <a:off x="6583680" y="4206240"/>
            <a:ext cx="3108960" cy="2011680"/>
          </a:xfrm>
          <a:prstGeom prst="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4206240"/>
            <a:ext cx="3108960" cy="365760"/>
          </a:xfrm>
          <a:prstGeom prst="rect">
            <a:avLst/>
          </a:prstGeom>
          <a:solidFill>
            <a:srgbClr val="F0F9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0F172A"/>
                </a:solidFill>
              </a:rPr>
              <a:t>WorkshopLocation</a:t>
            </a:r>
          </a:p>
        </p:txBody>
      </p:sp>
      <p:sp>
        <p:nvSpPr>
          <p:cNvPr id="17" name="TextBox 16"/>
          <p:cNvSpPr txBox="1"/>
          <p:nvPr/>
        </p:nvSpPr>
        <p:spPr>
          <a:xfrm>
            <a:off x="6629400" y="4572000"/>
            <a:ext cx="3017520" cy="1600200"/>
          </a:xfrm>
          <a:prstGeom prst="rect">
            <a:avLst/>
          </a:prstGeom>
          <a:noFill/>
        </p:spPr>
        <p:txBody>
          <a:bodyPr wrap="square">
            <a:spAutoFit/>
          </a:bodyPr>
          <a:lstStyle/>
          <a:p>
            <a:r>
              <a:rPr sz="850">
                <a:solidFill>
                  <a:srgbClr val="334155"/>
                </a:solidFill>
              </a:rPr>
              <a:t>- plotNo: string</a:t>
            </a:r>
          </a:p>
          <a:p>
            <a:r>
              <a:rPr sz="850">
                <a:solidFill>
                  <a:srgbClr val="334155"/>
                </a:solidFill>
              </a:rPr>
              <a:t>- area: string</a:t>
            </a:r>
          </a:p>
          <a:p>
            <a:r>
              <a:rPr sz="850">
                <a:solidFill>
                  <a:srgbClr val="334155"/>
                </a:solidFill>
              </a:rPr>
              <a:t>- landmark: string</a:t>
            </a:r>
          </a:p>
          <a:p>
            <a:r>
              <a:rPr sz="850">
                <a:solidFill>
                  <a:srgbClr val="334155"/>
                </a:solidFill>
              </a:rPr>
              <a:t>- city: string</a:t>
            </a:r>
          </a:p>
          <a:p>
            <a:r>
              <a:rPr sz="850">
                <a:solidFill>
                  <a:srgbClr val="334155"/>
                </a:solidFill>
              </a:rPr>
              <a:t>- latitude: float</a:t>
            </a:r>
          </a:p>
          <a:p>
            <a:r>
              <a:rPr sz="850">
                <a:solidFill>
                  <a:srgbClr val="334155"/>
                </a:solidFill>
              </a:rPr>
              <a:t>- longitude: float</a:t>
            </a:r>
          </a:p>
          <a:p>
            <a:r>
              <a:rPr sz="700">
                <a:solidFill>
                  <a:srgbClr val="CBD5E1"/>
                </a:solidFill>
              </a:rPr>
              <a:t>---------------------------------</a:t>
            </a:r>
          </a:p>
          <a:p>
            <a:r>
              <a:rPr sz="850">
                <a:solidFill>
                  <a:srgbClr val="0F172A"/>
                </a:solidFill>
              </a:rPr>
              <a:t>+ getCoordinates()</a:t>
            </a:r>
          </a:p>
          <a:p>
            <a:r>
              <a:rPr sz="850">
                <a:solidFill>
                  <a:srgbClr val="0F172A"/>
                </a:solidFill>
              </a:rPr>
              <a:t>+ openGoogleMapsRoute()</a:t>
            </a:r>
          </a:p>
          <a:p>
            <a:r>
              <a:rPr sz="850">
                <a:solidFill>
                  <a:srgbClr val="0F172A"/>
                </a:solidFill>
              </a:rPr>
              <a:t>+ getOperatingHours()</a:t>
            </a:r>
          </a:p>
        </p:txBody>
      </p:sp>
      <p:sp>
        <p:nvSpPr>
          <p:cNvPr id="18" name="TextBox 17"/>
          <p:cNvSpPr txBox="1"/>
          <p:nvPr/>
        </p:nvSpPr>
        <p:spPr>
          <a:xfrm>
            <a:off x="731520" y="6309360"/>
            <a:ext cx="10728655" cy="457200"/>
          </a:xfrm>
          <a:prstGeom prst="rect">
            <a:avLst/>
          </a:prstGeom>
          <a:noFill/>
        </p:spPr>
        <p:txBody>
          <a:bodyPr wrap="none">
            <a:spAutoFit/>
          </a:bodyPr>
          <a:lstStyle/>
          <a:p>
            <a:pPr algn="ctr"/>
            <a:r>
              <a:rPr sz="1100" b="1">
                <a:solidFill>
                  <a:srgbClr val="0F172A"/>
                </a:solidFill>
              </a:rPr>
              <a:t>Customer (1) places (*) RepairInquiry; RepairInquiry (*) references (1) RepairService managed by (1) Technician at (1) WorkshopLocation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(Sequence Diagram)</a:t>
            </a:r>
          </a:p>
        </p:txBody>
      </p:sp>
      <p:sp>
        <p:nvSpPr>
          <p:cNvPr id="3" name="TextBox 2"/>
          <p:cNvSpPr txBox="1"/>
          <p:nvPr/>
        </p:nvSpPr>
        <p:spPr>
          <a:xfrm>
            <a:off x="731520" y="1371600"/>
            <a:ext cx="10728655" cy="365760"/>
          </a:xfrm>
          <a:prstGeom prst="rect">
            <a:avLst/>
          </a:prstGeom>
          <a:noFill/>
        </p:spPr>
        <p:txBody>
          <a:bodyPr wrap="none">
            <a:spAutoFit/>
          </a:bodyPr>
          <a:lstStyle/>
          <a:p>
            <a:pPr algn="ctr"/>
            <a:r>
              <a:rPr sz="1200" b="1">
                <a:solidFill>
                  <a:srgbClr val="0F172A"/>
                </a:solidFill>
              </a:rPr>
              <a:t>Use case: Equipment Service Browsing &amp; Direct WhatsApp Consultation</a:t>
            </a:r>
          </a:p>
        </p:txBody>
      </p:sp>
      <p:sp>
        <p:nvSpPr>
          <p:cNvPr id="4" name="Rounded Rectangle 3"/>
          <p:cNvSpPr/>
          <p:nvPr/>
        </p:nvSpPr>
        <p:spPr>
          <a:xfrm>
            <a:off x="274320" y="1828800"/>
            <a:ext cx="164592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Customer</a:t>
            </a:r>
          </a:p>
        </p:txBody>
      </p:sp>
      <p:sp>
        <p:nvSpPr>
          <p:cNvPr id="5" name="Rectangle 4"/>
          <p:cNvSpPr/>
          <p:nvPr/>
        </p:nvSpPr>
        <p:spPr>
          <a:xfrm>
            <a:off x="1097280" y="2377440"/>
            <a:ext cx="18288" cy="393192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651760" y="1828800"/>
            <a:ext cx="164592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Website
(Frontend)</a:t>
            </a:r>
          </a:p>
        </p:txBody>
      </p:sp>
      <p:sp>
        <p:nvSpPr>
          <p:cNvPr id="7" name="Rectangle 6"/>
          <p:cNvSpPr/>
          <p:nvPr/>
        </p:nvSpPr>
        <p:spPr>
          <a:xfrm>
            <a:off x="3474720" y="2377440"/>
            <a:ext cx="18288" cy="393192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1828800"/>
            <a:ext cx="164592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Server Logic
(Next.js)</a:t>
            </a:r>
          </a:p>
        </p:txBody>
      </p:sp>
      <p:sp>
        <p:nvSpPr>
          <p:cNvPr id="9" name="Rectangle 8"/>
          <p:cNvSpPr/>
          <p:nvPr/>
        </p:nvSpPr>
        <p:spPr>
          <a:xfrm>
            <a:off x="5852160" y="2377440"/>
            <a:ext cx="18288" cy="393192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223760" y="1828800"/>
            <a:ext cx="164592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Data Store
(business.ts)</a:t>
            </a:r>
          </a:p>
        </p:txBody>
      </p:sp>
      <p:sp>
        <p:nvSpPr>
          <p:cNvPr id="11" name="Rectangle 10"/>
          <p:cNvSpPr/>
          <p:nvPr/>
        </p:nvSpPr>
        <p:spPr>
          <a:xfrm>
            <a:off x="8046720" y="2377440"/>
            <a:ext cx="18288" cy="393192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0" y="1828800"/>
            <a:ext cx="164592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WhatsApp / Dialer
Gateway</a:t>
            </a:r>
          </a:p>
        </p:txBody>
      </p:sp>
      <p:sp>
        <p:nvSpPr>
          <p:cNvPr id="13" name="Rectangle 12"/>
          <p:cNvSpPr/>
          <p:nvPr/>
        </p:nvSpPr>
        <p:spPr>
          <a:xfrm>
            <a:off x="10241280" y="2377440"/>
            <a:ext cx="18288" cy="393192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7280" y="2651760"/>
            <a:ext cx="237744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3364992" y="2606040"/>
            <a:ext cx="109728" cy="109728"/>
          </a:xfrm>
          <a:prstGeom prst="righ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395728"/>
            <a:ext cx="2377440" cy="274320"/>
          </a:xfrm>
          <a:prstGeom prst="rect">
            <a:avLst/>
          </a:prstGeom>
          <a:noFill/>
        </p:spPr>
        <p:txBody>
          <a:bodyPr wrap="none">
            <a:spAutoFit/>
          </a:bodyPr>
          <a:lstStyle/>
          <a:p>
            <a:pPr algn="ctr"/>
            <a:r>
              <a:rPr sz="850" b="1">
                <a:solidFill>
                  <a:srgbClr val="0F172A"/>
                </a:solidFill>
              </a:rPr>
              <a:t>1. Browse Repair Catalog</a:t>
            </a:r>
          </a:p>
        </p:txBody>
      </p:sp>
      <p:sp>
        <p:nvSpPr>
          <p:cNvPr id="17" name="Rectangle 16"/>
          <p:cNvSpPr/>
          <p:nvPr/>
        </p:nvSpPr>
        <p:spPr>
          <a:xfrm>
            <a:off x="3474720" y="3108960"/>
            <a:ext cx="237744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742432" y="3063240"/>
            <a:ext cx="109728" cy="109728"/>
          </a:xfrm>
          <a:prstGeom prst="righ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2852928"/>
            <a:ext cx="2377440" cy="274320"/>
          </a:xfrm>
          <a:prstGeom prst="rect">
            <a:avLst/>
          </a:prstGeom>
          <a:noFill/>
        </p:spPr>
        <p:txBody>
          <a:bodyPr wrap="none">
            <a:spAutoFit/>
          </a:bodyPr>
          <a:lstStyle/>
          <a:p>
            <a:pPr algn="ctr"/>
            <a:r>
              <a:rPr sz="850" b="1">
                <a:solidFill>
                  <a:srgbClr val="0F172A"/>
                </a:solidFill>
              </a:rPr>
              <a:t>2. Request Service Data</a:t>
            </a:r>
          </a:p>
        </p:txBody>
      </p:sp>
      <p:sp>
        <p:nvSpPr>
          <p:cNvPr id="20" name="Rectangle 19"/>
          <p:cNvSpPr/>
          <p:nvPr/>
        </p:nvSpPr>
        <p:spPr>
          <a:xfrm>
            <a:off x="5852160" y="3566160"/>
            <a:ext cx="219456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7936992" y="3520440"/>
            <a:ext cx="109728" cy="109728"/>
          </a:xfrm>
          <a:prstGeom prst="righ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3310128"/>
            <a:ext cx="2194560" cy="274320"/>
          </a:xfrm>
          <a:prstGeom prst="rect">
            <a:avLst/>
          </a:prstGeom>
          <a:noFill/>
        </p:spPr>
        <p:txBody>
          <a:bodyPr wrap="none">
            <a:spAutoFit/>
          </a:bodyPr>
          <a:lstStyle/>
          <a:p>
            <a:pPr algn="ctr"/>
            <a:r>
              <a:rPr sz="850" b="1">
                <a:solidFill>
                  <a:srgbClr val="0F172A"/>
                </a:solidFill>
              </a:rPr>
              <a:t>3. Query Categories &amp; Specs</a:t>
            </a:r>
          </a:p>
        </p:txBody>
      </p:sp>
      <p:sp>
        <p:nvSpPr>
          <p:cNvPr id="23" name="Rectangle 22"/>
          <p:cNvSpPr/>
          <p:nvPr/>
        </p:nvSpPr>
        <p:spPr>
          <a:xfrm>
            <a:off x="5852160" y="4023360"/>
            <a:ext cx="219456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eft Arrow 23"/>
          <p:cNvSpPr/>
          <p:nvPr/>
        </p:nvSpPr>
        <p:spPr>
          <a:xfrm>
            <a:off x="5852160" y="3977640"/>
            <a:ext cx="109728" cy="109728"/>
          </a:xfrm>
          <a:prstGeom prst="lef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0" y="3767328"/>
            <a:ext cx="2194560" cy="274320"/>
          </a:xfrm>
          <a:prstGeom prst="rect">
            <a:avLst/>
          </a:prstGeom>
          <a:noFill/>
        </p:spPr>
        <p:txBody>
          <a:bodyPr wrap="none">
            <a:spAutoFit/>
          </a:bodyPr>
          <a:lstStyle/>
          <a:p>
            <a:pPr algn="ctr"/>
            <a:r>
              <a:rPr sz="850" b="1">
                <a:solidFill>
                  <a:srgbClr val="0F172A"/>
                </a:solidFill>
              </a:rPr>
              <a:t>4. Return Equipment Specs</a:t>
            </a:r>
          </a:p>
        </p:txBody>
      </p:sp>
      <p:sp>
        <p:nvSpPr>
          <p:cNvPr id="26" name="Rectangle 25"/>
          <p:cNvSpPr/>
          <p:nvPr/>
        </p:nvSpPr>
        <p:spPr>
          <a:xfrm>
            <a:off x="3474720" y="4480560"/>
            <a:ext cx="237744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3474720" y="4434840"/>
            <a:ext cx="109728" cy="109728"/>
          </a:xfrm>
          <a:prstGeom prst="lef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4224528"/>
            <a:ext cx="2377440" cy="274320"/>
          </a:xfrm>
          <a:prstGeom prst="rect">
            <a:avLst/>
          </a:prstGeom>
          <a:noFill/>
        </p:spPr>
        <p:txBody>
          <a:bodyPr wrap="none">
            <a:spAutoFit/>
          </a:bodyPr>
          <a:lstStyle/>
          <a:p>
            <a:pPr algn="ctr"/>
            <a:r>
              <a:rPr sz="850" b="1">
                <a:solidFill>
                  <a:srgbClr val="0F172A"/>
                </a:solidFill>
              </a:rPr>
              <a:t>5. Render Service Cards &amp; Bench Photos</a:t>
            </a:r>
          </a:p>
        </p:txBody>
      </p:sp>
      <p:sp>
        <p:nvSpPr>
          <p:cNvPr id="29" name="Rectangle 28"/>
          <p:cNvSpPr/>
          <p:nvPr/>
        </p:nvSpPr>
        <p:spPr>
          <a:xfrm>
            <a:off x="1097280" y="4937760"/>
            <a:ext cx="237744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3364992" y="4892040"/>
            <a:ext cx="109728" cy="109728"/>
          </a:xfrm>
          <a:prstGeom prst="righ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4681728"/>
            <a:ext cx="2377440" cy="274320"/>
          </a:xfrm>
          <a:prstGeom prst="rect">
            <a:avLst/>
          </a:prstGeom>
          <a:noFill/>
        </p:spPr>
        <p:txBody>
          <a:bodyPr wrap="none">
            <a:spAutoFit/>
          </a:bodyPr>
          <a:lstStyle/>
          <a:p>
            <a:pPr algn="ctr"/>
            <a:r>
              <a:rPr sz="850" b="1">
                <a:solidFill>
                  <a:srgbClr val="0F172A"/>
                </a:solidFill>
              </a:rPr>
              <a:t>6. Click 'Inquire on WhatsApp'</a:t>
            </a:r>
          </a:p>
        </p:txBody>
      </p:sp>
      <p:sp>
        <p:nvSpPr>
          <p:cNvPr id="32" name="Rectangle 31"/>
          <p:cNvSpPr/>
          <p:nvPr/>
        </p:nvSpPr>
        <p:spPr>
          <a:xfrm>
            <a:off x="3474720" y="5394960"/>
            <a:ext cx="676656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10131552" y="5349240"/>
            <a:ext cx="109728" cy="109728"/>
          </a:xfrm>
          <a:prstGeom prst="righ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5138928"/>
            <a:ext cx="6766560" cy="274320"/>
          </a:xfrm>
          <a:prstGeom prst="rect">
            <a:avLst/>
          </a:prstGeom>
          <a:noFill/>
        </p:spPr>
        <p:txBody>
          <a:bodyPr wrap="none">
            <a:spAutoFit/>
          </a:bodyPr>
          <a:lstStyle/>
          <a:p>
            <a:pPr algn="ctr"/>
            <a:r>
              <a:rPr sz="850" b="1">
                <a:solidFill>
                  <a:srgbClr val="0F172A"/>
                </a:solidFill>
              </a:rPr>
              <a:t>7. Launch WhatsApp with Pre-filled Fault Query</a:t>
            </a:r>
          </a:p>
        </p:txBody>
      </p:sp>
      <p:sp>
        <p:nvSpPr>
          <p:cNvPr id="35" name="Rectangle 34"/>
          <p:cNvSpPr/>
          <p:nvPr/>
        </p:nvSpPr>
        <p:spPr>
          <a:xfrm>
            <a:off x="1097280" y="5852160"/>
            <a:ext cx="914400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eft Arrow 35"/>
          <p:cNvSpPr/>
          <p:nvPr/>
        </p:nvSpPr>
        <p:spPr>
          <a:xfrm>
            <a:off x="1097280" y="5806440"/>
            <a:ext cx="109728" cy="109728"/>
          </a:xfrm>
          <a:prstGeom prst="leftArrow">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7280" y="5596128"/>
            <a:ext cx="9144000" cy="274320"/>
          </a:xfrm>
          <a:prstGeom prst="rect">
            <a:avLst/>
          </a:prstGeom>
          <a:noFill/>
        </p:spPr>
        <p:txBody>
          <a:bodyPr wrap="none">
            <a:spAutoFit/>
          </a:bodyPr>
          <a:lstStyle/>
          <a:p>
            <a:pPr algn="ctr"/>
            <a:r>
              <a:rPr sz="850" b="1">
                <a:solidFill>
                  <a:srgbClr val="0F172A"/>
                </a:solidFill>
              </a:rPr>
              <a:t>8. Direct Chat Connected with Technician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(Activity Diagram)</a:t>
            </a:r>
          </a:p>
        </p:txBody>
      </p:sp>
      <p:sp>
        <p:nvSpPr>
          <p:cNvPr id="3" name="Oval 2"/>
          <p:cNvSpPr/>
          <p:nvPr/>
        </p:nvSpPr>
        <p:spPr>
          <a:xfrm>
            <a:off x="5760720" y="1554480"/>
            <a:ext cx="320040" cy="32004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2011680"/>
            <a:ext cx="265176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Browse Repair Services Catalog</a:t>
            </a:r>
          </a:p>
        </p:txBody>
      </p:sp>
      <p:sp>
        <p:nvSpPr>
          <p:cNvPr id="5" name="Rounded Rectangle 4"/>
          <p:cNvSpPr/>
          <p:nvPr/>
        </p:nvSpPr>
        <p:spPr>
          <a:xfrm>
            <a:off x="4572000" y="2743200"/>
            <a:ext cx="265176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Inspect Technical Fault Details</a:t>
            </a:r>
          </a:p>
        </p:txBody>
      </p:sp>
      <p:sp>
        <p:nvSpPr>
          <p:cNvPr id="6" name="Diamond 5"/>
          <p:cNvSpPr/>
          <p:nvPr/>
        </p:nvSpPr>
        <p:spPr>
          <a:xfrm>
            <a:off x="4937760" y="3474720"/>
            <a:ext cx="1920240" cy="1005840"/>
          </a:xfrm>
          <a:prstGeom prst="diamond">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DC2626"/>
                </a:solidFill>
              </a:rPr>
              <a:t>Choose
Channel?</a:t>
            </a:r>
          </a:p>
        </p:txBody>
      </p:sp>
      <p:sp>
        <p:nvSpPr>
          <p:cNvPr id="7" name="Rounded Rectangle 6"/>
          <p:cNvSpPr/>
          <p:nvPr/>
        </p:nvSpPr>
        <p:spPr>
          <a:xfrm>
            <a:off x="1645920" y="3703320"/>
            <a:ext cx="237744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Launch Native Phone Dialer
(+91 98254 85520)</a:t>
            </a:r>
          </a:p>
        </p:txBody>
      </p:sp>
      <p:sp>
        <p:nvSpPr>
          <p:cNvPr id="8" name="Rounded Rectangle 7"/>
          <p:cNvSpPr/>
          <p:nvPr/>
        </p:nvSpPr>
        <p:spPr>
          <a:xfrm>
            <a:off x="7772400" y="3703320"/>
            <a:ext cx="237744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Open Pre-filled WhatsApp Chat
(Service &amp; Fault Query)</a:t>
            </a:r>
          </a:p>
        </p:txBody>
      </p:sp>
      <p:sp>
        <p:nvSpPr>
          <p:cNvPr id="9" name="Rounded Rectangle 8"/>
          <p:cNvSpPr/>
          <p:nvPr/>
        </p:nvSpPr>
        <p:spPr>
          <a:xfrm>
            <a:off x="4572000" y="4754880"/>
            <a:ext cx="265176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Consult with Technician (Murlidhar C.)</a:t>
            </a:r>
          </a:p>
        </p:txBody>
      </p:sp>
      <p:sp>
        <p:nvSpPr>
          <p:cNvPr id="10" name="Rounded Rectangle 9"/>
          <p:cNvSpPr/>
          <p:nvPr/>
        </p:nvSpPr>
        <p:spPr>
          <a:xfrm>
            <a:off x="4572000" y="5486400"/>
            <a:ext cx="2651760" cy="54864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Drop-off Gear at Limbayat Workshop</a:t>
            </a:r>
          </a:p>
        </p:txBody>
      </p:sp>
      <p:sp>
        <p:nvSpPr>
          <p:cNvPr id="11" name="Oval 10"/>
          <p:cNvSpPr/>
          <p:nvPr/>
        </p:nvSpPr>
        <p:spPr>
          <a:xfrm>
            <a:off x="5760720" y="6217920"/>
            <a:ext cx="365760" cy="365760"/>
          </a:xfrm>
          <a:prstGeom prst="ellipse">
            <a:avLst/>
          </a:prstGeom>
          <a:noFill/>
          <a:ln w="254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06440" y="6263640"/>
            <a:ext cx="274320" cy="2743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(State Diagram)</a:t>
            </a:r>
          </a:p>
        </p:txBody>
      </p:sp>
      <p:sp>
        <p:nvSpPr>
          <p:cNvPr id="3" name="TextBox 2"/>
          <p:cNvSpPr txBox="1"/>
          <p:nvPr/>
        </p:nvSpPr>
        <p:spPr>
          <a:xfrm>
            <a:off x="731520" y="1371600"/>
            <a:ext cx="10728655" cy="365760"/>
          </a:xfrm>
          <a:prstGeom prst="rect">
            <a:avLst/>
          </a:prstGeom>
          <a:noFill/>
        </p:spPr>
        <p:txBody>
          <a:bodyPr wrap="none">
            <a:spAutoFit/>
          </a:bodyPr>
          <a:lstStyle/>
          <a:p>
            <a:pPr algn="ctr"/>
            <a:r>
              <a:rPr sz="1200" b="1">
                <a:solidFill>
                  <a:srgbClr val="0F172A"/>
                </a:solidFill>
              </a:rPr>
              <a:t>Repair Job Lifecycle (Equipment Intake to Delivery)</a:t>
            </a:r>
          </a:p>
        </p:txBody>
      </p:sp>
      <p:sp>
        <p:nvSpPr>
          <p:cNvPr id="4" name="Oval 3"/>
          <p:cNvSpPr/>
          <p:nvPr/>
        </p:nvSpPr>
        <p:spPr>
          <a:xfrm>
            <a:off x="731520" y="2926080"/>
            <a:ext cx="320040" cy="32004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2651760"/>
            <a:ext cx="15544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Inquiry
Initiated</a:t>
            </a:r>
          </a:p>
        </p:txBody>
      </p:sp>
      <p:sp>
        <p:nvSpPr>
          <p:cNvPr id="6" name="Rounded Rectangle 5"/>
          <p:cNvSpPr/>
          <p:nvPr/>
        </p:nvSpPr>
        <p:spPr>
          <a:xfrm>
            <a:off x="3291840" y="2651760"/>
            <a:ext cx="15544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Inspected &amp;
Estimated</a:t>
            </a:r>
          </a:p>
        </p:txBody>
      </p:sp>
      <p:sp>
        <p:nvSpPr>
          <p:cNvPr id="7" name="Rounded Rectangle 6"/>
          <p:cNvSpPr/>
          <p:nvPr/>
        </p:nvSpPr>
        <p:spPr>
          <a:xfrm>
            <a:off x="5212080" y="2651760"/>
            <a:ext cx="15544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Repair In
Progress</a:t>
            </a:r>
          </a:p>
        </p:txBody>
      </p:sp>
      <p:sp>
        <p:nvSpPr>
          <p:cNvPr id="8" name="Rounded Rectangle 7"/>
          <p:cNvSpPr/>
          <p:nvPr/>
        </p:nvSpPr>
        <p:spPr>
          <a:xfrm>
            <a:off x="7132320" y="2651760"/>
            <a:ext cx="15544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Stress Load
Testing</a:t>
            </a:r>
          </a:p>
        </p:txBody>
      </p:sp>
      <p:sp>
        <p:nvSpPr>
          <p:cNvPr id="9" name="Rounded Rectangle 8"/>
          <p:cNvSpPr/>
          <p:nvPr/>
        </p:nvSpPr>
        <p:spPr>
          <a:xfrm>
            <a:off x="9052560" y="2651760"/>
            <a:ext cx="1554480" cy="82296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Stage Ready
Delivered</a:t>
            </a:r>
          </a:p>
        </p:txBody>
      </p:sp>
      <p:sp>
        <p:nvSpPr>
          <p:cNvPr id="10" name="Right Arrow 9"/>
          <p:cNvSpPr/>
          <p:nvPr/>
        </p:nvSpPr>
        <p:spPr>
          <a:xfrm>
            <a:off x="2971800" y="2971800"/>
            <a:ext cx="27432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4892040" y="2971800"/>
            <a:ext cx="27432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6812280" y="2971800"/>
            <a:ext cx="27432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8732520" y="2971800"/>
            <a:ext cx="27432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72800" y="2880360"/>
            <a:ext cx="365760" cy="365760"/>
          </a:xfrm>
          <a:prstGeom prst="ellipse">
            <a:avLst/>
          </a:prstGeom>
          <a:noFill/>
          <a:ln w="254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18520" y="2926080"/>
            <a:ext cx="274320" cy="2743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114800" y="4389120"/>
            <a:ext cx="2286000" cy="82296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100">
                <a:solidFill>
                  <a:srgbClr val="DC2626"/>
                </a:solidFill>
              </a:rPr>
              <a:t>Inquiry Cancelled /
Not Repairable</a:t>
            </a:r>
          </a:p>
        </p:txBody>
      </p:sp>
      <p:sp>
        <p:nvSpPr>
          <p:cNvPr id="17" name="Down Arrow 16"/>
          <p:cNvSpPr/>
          <p:nvPr/>
        </p:nvSpPr>
        <p:spPr>
          <a:xfrm>
            <a:off x="3931920" y="3566160"/>
            <a:ext cx="182880" cy="731520"/>
          </a:xfrm>
          <a:prstGeom prst="downArrow">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Deployment Diagram</a:t>
            </a:r>
          </a:p>
        </p:txBody>
      </p:sp>
      <p:sp>
        <p:nvSpPr>
          <p:cNvPr id="3" name="Rounded Rectangle 2"/>
          <p:cNvSpPr/>
          <p:nvPr/>
        </p:nvSpPr>
        <p:spPr>
          <a:xfrm>
            <a:off x="731520" y="2011680"/>
            <a:ext cx="3108960" cy="201168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Customer Device
&lt;&lt;device&gt;&gt;</a:t>
            </a:r>
          </a:p>
          <a:p>
            <a:pPr algn="ctr">
              <a:spcBef>
                <a:spcPts val="200"/>
              </a:spcBef>
            </a:pPr>
            <a:r>
              <a:rPr sz="950">
                <a:solidFill>
                  <a:srgbClr val="334155"/>
                </a:solidFill>
                <a:latin typeface="Arial"/>
              </a:rPr>
              <a:t>
Web / Mobile Browser
(Chrome, Safari, Edge)
HTTP/2 &amp; Service Worker</a:t>
            </a:r>
          </a:p>
        </p:txBody>
      </p:sp>
      <p:sp>
        <p:nvSpPr>
          <p:cNvPr id="4" name="Rounded Rectangle 3"/>
          <p:cNvSpPr/>
          <p:nvPr/>
        </p:nvSpPr>
        <p:spPr>
          <a:xfrm>
            <a:off x="4572000" y="2011680"/>
            <a:ext cx="3108960" cy="201168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Web Server
&lt;&lt;server&gt;&gt;</a:t>
            </a:r>
          </a:p>
          <a:p>
            <a:pPr algn="ctr">
              <a:spcBef>
                <a:spcPts val="200"/>
              </a:spcBef>
            </a:pPr>
            <a:r>
              <a:rPr sz="950">
                <a:solidFill>
                  <a:srgbClr val="334155"/>
                </a:solidFill>
                <a:latin typeface="Arial"/>
              </a:rPr>
              <a:t>
Next.js 14 Node.js Runtime
Server-Side Rendering (SSR)
Frontend UI + API Handlers</a:t>
            </a:r>
          </a:p>
        </p:txBody>
      </p:sp>
      <p:sp>
        <p:nvSpPr>
          <p:cNvPr id="5" name="Rounded Rectangle 4"/>
          <p:cNvSpPr/>
          <p:nvPr/>
        </p:nvSpPr>
        <p:spPr>
          <a:xfrm>
            <a:off x="8412480" y="2011680"/>
            <a:ext cx="3108960" cy="201168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Communication Services
&lt;&lt;external system&gt;&gt;</a:t>
            </a:r>
          </a:p>
          <a:p>
            <a:pPr algn="ctr">
              <a:spcBef>
                <a:spcPts val="200"/>
              </a:spcBef>
            </a:pPr>
            <a:r>
              <a:rPr sz="950">
                <a:solidFill>
                  <a:srgbClr val="334155"/>
                </a:solidFill>
                <a:latin typeface="Arial"/>
              </a:rPr>
              <a:t>
WhatsApp Business API
Native Telephony Protocol
Google Maps Routing API</a:t>
            </a:r>
          </a:p>
        </p:txBody>
      </p:sp>
      <p:sp>
        <p:nvSpPr>
          <p:cNvPr id="6" name="Rounded Rectangle 5"/>
          <p:cNvSpPr/>
          <p:nvPr/>
        </p:nvSpPr>
        <p:spPr>
          <a:xfrm>
            <a:off x="4572000" y="4572000"/>
            <a:ext cx="3108960" cy="1371600"/>
          </a:xfrm>
          <a:prstGeom prst="roundRect">
            <a:avLst/>
          </a:prstGeom>
          <a:solidFill>
            <a:srgbClr val="F0F9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172A"/>
                </a:solidFill>
                <a:latin typeface="Arial"/>
              </a:rPr>
              <a:t>Static Data &amp; Asset Store
&lt;&lt;storage&gt;&gt;</a:t>
            </a:r>
          </a:p>
          <a:p>
            <a:pPr algn="ctr">
              <a:spcBef>
                <a:spcPts val="200"/>
              </a:spcBef>
            </a:pPr>
            <a:r>
              <a:rPr sz="950">
                <a:solidFill>
                  <a:srgbClr val="334155"/>
                </a:solidFill>
                <a:latin typeface="Arial"/>
              </a:rPr>
              <a:t>
business.ts, SEO Metadata,
Workshop &amp; Service Images</a:t>
            </a:r>
          </a:p>
        </p:txBody>
      </p:sp>
      <p:sp>
        <p:nvSpPr>
          <p:cNvPr id="7" name="Right Arrow 6"/>
          <p:cNvSpPr/>
          <p:nvPr/>
        </p:nvSpPr>
        <p:spPr>
          <a:xfrm>
            <a:off x="3931920" y="2926080"/>
            <a:ext cx="54864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0" y="2560320"/>
            <a:ext cx="731520" cy="274320"/>
          </a:xfrm>
          <a:prstGeom prst="rect">
            <a:avLst/>
          </a:prstGeom>
          <a:noFill/>
        </p:spPr>
        <p:txBody>
          <a:bodyPr wrap="none">
            <a:spAutoFit/>
          </a:bodyPr>
          <a:lstStyle/>
          <a:p>
            <a:pPr>
              <a:defRPr sz="900" b="1"/>
            </a:pPr>
            <a:r>
              <a:t>HTTPS</a:t>
            </a:r>
          </a:p>
        </p:txBody>
      </p:sp>
      <p:sp>
        <p:nvSpPr>
          <p:cNvPr id="9" name="Right Arrow 8"/>
          <p:cNvSpPr/>
          <p:nvPr/>
        </p:nvSpPr>
        <p:spPr>
          <a:xfrm>
            <a:off x="7772400" y="2926080"/>
            <a:ext cx="548640" cy="182880"/>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2560320"/>
            <a:ext cx="731520" cy="274320"/>
          </a:xfrm>
          <a:prstGeom prst="rect">
            <a:avLst/>
          </a:prstGeom>
          <a:noFill/>
        </p:spPr>
        <p:txBody>
          <a:bodyPr wrap="none">
            <a:spAutoFit/>
          </a:bodyPr>
          <a:lstStyle/>
          <a:p>
            <a:pPr>
              <a:defRPr sz="900" b="1"/>
            </a:pPr>
            <a:r>
              <a:t>API / Tel</a:t>
            </a:r>
          </a:p>
        </p:txBody>
      </p:sp>
      <p:sp>
        <p:nvSpPr>
          <p:cNvPr id="11" name="Down Arrow 10"/>
          <p:cNvSpPr/>
          <p:nvPr/>
        </p:nvSpPr>
        <p:spPr>
          <a:xfrm>
            <a:off x="6035040" y="4114800"/>
            <a:ext cx="182880" cy="36576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126480"/>
            <a:ext cx="10728655" cy="457200"/>
          </a:xfrm>
          <a:prstGeom prst="rect">
            <a:avLst/>
          </a:prstGeom>
          <a:noFill/>
        </p:spPr>
        <p:txBody>
          <a:bodyPr wrap="none">
            <a:spAutoFit/>
          </a:bodyPr>
          <a:lstStyle/>
          <a:p>
            <a:pPr algn="ctr"/>
            <a:r>
              <a:rPr sz="1200">
                <a:solidFill>
                  <a:srgbClr val="0F172A"/>
                </a:solidFill>
              </a:rPr>
              <a:t>The customer's browser communicates with the Next.js web server over HTTPS; the server queries the structured data store and redirects to WhatsApp/Google Maps API.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(Use cases)</a:t>
            </a:r>
          </a:p>
        </p:txBody>
      </p:sp>
      <p:graphicFrame>
        <p:nvGraphicFramePr>
          <p:cNvPr id="3" name="Table 2"/>
          <p:cNvGraphicFramePr>
            <a:graphicFrameLocks noGrp="1"/>
          </p:cNvGraphicFramePr>
          <p:nvPr/>
        </p:nvGraphicFramePr>
        <p:xfrm>
          <a:off x="914400" y="1828800"/>
          <a:ext cx="10332720" cy="3474720"/>
        </p:xfrm>
        <a:graphic>
          <a:graphicData uri="http://schemas.openxmlformats.org/drawingml/2006/table">
            <a:tbl>
              <a:tblPr firstRow="1" bandRow="1">
                <a:tableStyleId>{5C22544A-7EE6-4342-B048-85BDC9FD1C3A}</a:tableStyleId>
              </a:tblPr>
              <a:tblGrid>
                <a:gridCol w="2194560"/>
                <a:gridCol w="8138160"/>
              </a:tblGrid>
              <a:tr h="694944">
                <a:tc>
                  <a:txBody>
                    <a:bodyPr/>
                    <a:lstStyle/>
                    <a:p>
                      <a:pPr>
                        <a:defRPr b="1" sz="1300">
                          <a:solidFill>
                            <a:srgbClr val="0F172A"/>
                          </a:solidFill>
                        </a:defRPr>
                      </a:pPr>
                      <a:r>
                        <a:t>Use Case Name</a:t>
                      </a:r>
                    </a:p>
                  </a:txBody>
                  <a:tcPr>
                    <a:solidFill>
                      <a:srgbClr val="E6CCCC"/>
                    </a:solidFill>
                  </a:tcPr>
                </a:tc>
                <a:tc>
                  <a:txBody>
                    <a:bodyPr/>
                    <a:lstStyle/>
                    <a:p>
                      <a:pPr>
                        <a:defRPr b="1" sz="1300">
                          <a:solidFill>
                            <a:srgbClr val="0F172A"/>
                          </a:solidFill>
                        </a:defRPr>
                      </a:pPr>
                      <a:r>
                        <a:t>Inquire for Equipment Repair</a:t>
                      </a:r>
                    </a:p>
                  </a:txBody>
                  <a:tcPr>
                    <a:solidFill>
                      <a:srgbClr val="E6CCCC"/>
                    </a:solidFill>
                  </a:tcPr>
                </a:tc>
              </a:tr>
              <a:tr h="694944">
                <a:tc>
                  <a:txBody>
                    <a:bodyPr/>
                    <a:lstStyle/>
                    <a:p>
                      <a:pPr>
                        <a:defRPr b="1" sz="1200">
                          <a:solidFill>
                            <a:srgbClr val="0F172A"/>
                          </a:solidFill>
                        </a:defRPr>
                      </a:pPr>
                      <a:r>
                        <a:t>Primary Actor(s)</a:t>
                      </a:r>
                    </a:p>
                  </a:txBody>
                  <a:tcPr>
                    <a:solidFill>
                      <a:srgbClr val="FFFFFF"/>
                    </a:solidFill>
                  </a:tcPr>
                </a:tc>
                <a:tc>
                  <a:txBody>
                    <a:bodyPr/>
                    <a:lstStyle/>
                    <a:p>
                      <a:pPr>
                        <a:defRPr sz="1200">
                          <a:solidFill>
                            <a:srgbClr val="334155"/>
                          </a:solidFill>
                        </a:defRPr>
                      </a:pPr>
                      <a:r>
                        <a:t>Customer (DJ, Event Organizer, Consumer)</a:t>
                      </a:r>
                    </a:p>
                  </a:txBody>
                  <a:tcPr>
                    <a:solidFill>
                      <a:srgbClr val="FFFFFF"/>
                    </a:solidFill>
                  </a:tcPr>
                </a:tc>
              </a:tr>
              <a:tr h="694944">
                <a:tc>
                  <a:txBody>
                    <a:bodyPr/>
                    <a:lstStyle/>
                    <a:p>
                      <a:pPr>
                        <a:defRPr b="1" sz="1200">
                          <a:solidFill>
                            <a:srgbClr val="0F172A"/>
                          </a:solidFill>
                        </a:defRPr>
                      </a:pPr>
                      <a:r>
                        <a:t>Goal of the use case</a:t>
                      </a:r>
                    </a:p>
                  </a:txBody>
                  <a:tcPr>
                    <a:solidFill>
                      <a:srgbClr val="FFFFFF"/>
                    </a:solidFill>
                  </a:tcPr>
                </a:tc>
                <a:tc>
                  <a:txBody>
                    <a:bodyPr/>
                    <a:lstStyle/>
                    <a:p>
                      <a:pPr>
                        <a:defRPr sz="1200">
                          <a:solidFill>
                            <a:srgbClr val="334155"/>
                          </a:solidFill>
                        </a:defRPr>
                      </a:pPr>
                      <a:r>
                        <a:t>To browse the specialized repair services and successfully initiate a direct repair consultation with the chief technician</a:t>
                      </a:r>
                    </a:p>
                  </a:txBody>
                  <a:tcPr>
                    <a:solidFill>
                      <a:srgbClr val="FFFFFF"/>
                    </a:solidFill>
                  </a:tcPr>
                </a:tc>
              </a:tr>
              <a:tr h="694944">
                <a:tc>
                  <a:txBody>
                    <a:bodyPr/>
                    <a:lstStyle/>
                    <a:p>
                      <a:pPr>
                        <a:defRPr b="1" sz="1200">
                          <a:solidFill>
                            <a:srgbClr val="0F172A"/>
                          </a:solidFill>
                        </a:defRPr>
                      </a:pPr>
                      <a:r>
                        <a:t>Precondition(s)</a:t>
                      </a:r>
                    </a:p>
                  </a:txBody>
                  <a:tcPr>
                    <a:solidFill>
                      <a:srgbClr val="FFFFFF"/>
                    </a:solidFill>
                  </a:tcPr>
                </a:tc>
                <a:tc>
                  <a:txBody>
                    <a:bodyPr/>
                    <a:lstStyle/>
                    <a:p>
                      <a:pPr>
                        <a:defRPr sz="1200">
                          <a:solidFill>
                            <a:srgbClr val="334155"/>
                          </a:solidFill>
                        </a:defRPr>
                      </a:pPr>
                      <a:r>
                        <a:t>Customer has an active internet connection, and the Vikash Electronics website is loaded on mobile or desktop</a:t>
                      </a:r>
                    </a:p>
                  </a:txBody>
                  <a:tcPr>
                    <a:solidFill>
                      <a:srgbClr val="FFFFFF"/>
                    </a:solidFill>
                  </a:tcPr>
                </a:tc>
              </a:tr>
              <a:tr h="694944">
                <a:tc>
                  <a:txBody>
                    <a:bodyPr/>
                    <a:lstStyle/>
                    <a:p>
                      <a:pPr>
                        <a:defRPr b="1" sz="1200">
                          <a:solidFill>
                            <a:srgbClr val="0F172A"/>
                          </a:solidFill>
                        </a:defRPr>
                      </a:pPr>
                      <a:r>
                        <a:t>Trigger</a:t>
                      </a:r>
                    </a:p>
                  </a:txBody>
                  <a:tcPr>
                    <a:solidFill>
                      <a:srgbClr val="FFFFFF"/>
                    </a:solidFill>
                  </a:tcPr>
                </a:tc>
                <a:tc>
                  <a:txBody>
                    <a:bodyPr/>
                    <a:lstStyle/>
                    <a:p>
                      <a:pPr>
                        <a:defRPr sz="1200">
                          <a:solidFill>
                            <a:srgbClr val="334155"/>
                          </a:solidFill>
                        </a:defRPr>
                      </a:pPr>
                      <a:r>
                        <a:t>Customer selects a specific equipment service (e.g. Speakers, Amplifiers, Sharpy Lights) and taps 'Call Now' or 'Inquire on WhatsApp'</a:t>
                      </a:r>
                    </a:p>
                  </a:txBody>
                  <a:tcP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Modeling</a:t>
            </a:r>
          </a:p>
          <a:p>
            <a:pPr algn="ctr">
              <a:spcBef>
                <a:spcPts val="300"/>
              </a:spcBef>
            </a:pPr>
            <a:r>
              <a:rPr sz="2200" b="1">
                <a:solidFill>
                  <a:srgbClr val="DC2626"/>
                </a:solidFill>
                <a:latin typeface="Arial"/>
              </a:rPr>
              <a:t>(Use cases)</a:t>
            </a:r>
          </a:p>
        </p:txBody>
      </p:sp>
      <p:graphicFrame>
        <p:nvGraphicFramePr>
          <p:cNvPr id="3" name="Table 2"/>
          <p:cNvGraphicFramePr>
            <a:graphicFrameLocks noGrp="1"/>
          </p:cNvGraphicFramePr>
          <p:nvPr/>
        </p:nvGraphicFramePr>
        <p:xfrm>
          <a:off x="914400" y="1828800"/>
          <a:ext cx="10332720" cy="3474720"/>
        </p:xfrm>
        <a:graphic>
          <a:graphicData uri="http://schemas.openxmlformats.org/drawingml/2006/table">
            <a:tbl>
              <a:tblPr firstRow="1" bandRow="1">
                <a:tableStyleId>{5C22544A-7EE6-4342-B048-85BDC9FD1C3A}</a:tableStyleId>
              </a:tblPr>
              <a:tblGrid>
                <a:gridCol w="2194560"/>
                <a:gridCol w="8138160"/>
              </a:tblGrid>
              <a:tr h="694944">
                <a:tc>
                  <a:txBody>
                    <a:bodyPr/>
                    <a:lstStyle/>
                    <a:p>
                      <a:pPr>
                        <a:defRPr b="1" sz="1300">
                          <a:solidFill>
                            <a:srgbClr val="0F172A"/>
                          </a:solidFill>
                        </a:defRPr>
                      </a:pPr>
                      <a:r>
                        <a:t>Use Case Name</a:t>
                      </a:r>
                    </a:p>
                  </a:txBody>
                  <a:tcPr>
                    <a:solidFill>
                      <a:srgbClr val="E6CCCC"/>
                    </a:solidFill>
                  </a:tcPr>
                </a:tc>
                <a:tc>
                  <a:txBody>
                    <a:bodyPr/>
                    <a:lstStyle/>
                    <a:p>
                      <a:pPr>
                        <a:defRPr b="1" sz="1300">
                          <a:solidFill>
                            <a:srgbClr val="0F172A"/>
                          </a:solidFill>
                        </a:defRPr>
                      </a:pPr>
                      <a:r>
                        <a:t>Locate Workshop &amp; Navigate</a:t>
                      </a:r>
                    </a:p>
                  </a:txBody>
                  <a:tcPr>
                    <a:solidFill>
                      <a:srgbClr val="E6CCCC"/>
                    </a:solidFill>
                  </a:tcPr>
                </a:tc>
              </a:tr>
              <a:tr h="694944">
                <a:tc>
                  <a:txBody>
                    <a:bodyPr/>
                    <a:lstStyle/>
                    <a:p>
                      <a:pPr>
                        <a:defRPr b="1" sz="1200">
                          <a:solidFill>
                            <a:srgbClr val="0F172A"/>
                          </a:solidFill>
                        </a:defRPr>
                      </a:pPr>
                      <a:r>
                        <a:t>Primary Actor(s)</a:t>
                      </a:r>
                    </a:p>
                  </a:txBody>
                  <a:tcPr>
                    <a:solidFill>
                      <a:srgbClr val="FFFFFF"/>
                    </a:solidFill>
                  </a:tcPr>
                </a:tc>
                <a:tc>
                  <a:txBody>
                    <a:bodyPr/>
                    <a:lstStyle/>
                    <a:p>
                      <a:pPr>
                        <a:defRPr sz="1200">
                          <a:solidFill>
                            <a:srgbClr val="334155"/>
                          </a:solidFill>
                        </a:defRPr>
                      </a:pPr>
                      <a:r>
                        <a:t>Customer (Equipment Owner)</a:t>
                      </a:r>
                    </a:p>
                  </a:txBody>
                  <a:tcPr>
                    <a:solidFill>
                      <a:srgbClr val="FFFFFF"/>
                    </a:solidFill>
                  </a:tcPr>
                </a:tc>
              </a:tr>
              <a:tr h="694944">
                <a:tc>
                  <a:txBody>
                    <a:bodyPr/>
                    <a:lstStyle/>
                    <a:p>
                      <a:pPr>
                        <a:defRPr b="1" sz="1200">
                          <a:solidFill>
                            <a:srgbClr val="0F172A"/>
                          </a:solidFill>
                        </a:defRPr>
                      </a:pPr>
                      <a:r>
                        <a:t>Goal of the use case</a:t>
                      </a:r>
                    </a:p>
                  </a:txBody>
                  <a:tcPr>
                    <a:solidFill>
                      <a:srgbClr val="FFFFFF"/>
                    </a:solidFill>
                  </a:tcPr>
                </a:tc>
                <a:tc>
                  <a:txBody>
                    <a:bodyPr/>
                    <a:lstStyle/>
                    <a:p>
                      <a:pPr>
                        <a:defRPr sz="1200">
                          <a:solidFill>
                            <a:srgbClr val="334155"/>
                          </a:solidFill>
                        </a:defRPr>
                      </a:pPr>
                      <a:r>
                        <a:t>To locate the physical workshop address in Limbayat, Surat and obtain GPS turn-by-turn navigation for equipment drop-off</a:t>
                      </a:r>
                    </a:p>
                  </a:txBody>
                  <a:tcPr>
                    <a:solidFill>
                      <a:srgbClr val="FFFFFF"/>
                    </a:solidFill>
                  </a:tcPr>
                </a:tc>
              </a:tr>
              <a:tr h="694944">
                <a:tc>
                  <a:txBody>
                    <a:bodyPr/>
                    <a:lstStyle/>
                    <a:p>
                      <a:pPr>
                        <a:defRPr b="1" sz="1200">
                          <a:solidFill>
                            <a:srgbClr val="0F172A"/>
                          </a:solidFill>
                        </a:defRPr>
                      </a:pPr>
                      <a:r>
                        <a:t>Precondition(s)</a:t>
                      </a:r>
                    </a:p>
                  </a:txBody>
                  <a:tcPr>
                    <a:solidFill>
                      <a:srgbClr val="FFFFFF"/>
                    </a:solidFill>
                  </a:tcPr>
                </a:tc>
                <a:tc>
                  <a:txBody>
                    <a:bodyPr/>
                    <a:lstStyle/>
                    <a:p>
                      <a:pPr>
                        <a:defRPr sz="1200">
                          <a:solidFill>
                            <a:srgbClr val="334155"/>
                          </a:solidFill>
                        </a:defRPr>
                      </a:pPr>
                      <a:r>
                        <a:t>Customer has identified faulty electronic gear requiring physical diagnosis and reached the Contact section</a:t>
                      </a:r>
                    </a:p>
                  </a:txBody>
                  <a:tcPr>
                    <a:solidFill>
                      <a:srgbClr val="FFFFFF"/>
                    </a:solidFill>
                  </a:tcPr>
                </a:tc>
              </a:tr>
              <a:tr h="694944">
                <a:tc>
                  <a:txBody>
                    <a:bodyPr/>
                    <a:lstStyle/>
                    <a:p>
                      <a:pPr>
                        <a:defRPr b="1" sz="1200">
                          <a:solidFill>
                            <a:srgbClr val="0F172A"/>
                          </a:solidFill>
                        </a:defRPr>
                      </a:pPr>
                      <a:r>
                        <a:t>Trigger</a:t>
                      </a:r>
                    </a:p>
                  </a:txBody>
                  <a:tcPr>
                    <a:solidFill>
                      <a:srgbClr val="FFFFFF"/>
                    </a:solidFill>
                  </a:tcPr>
                </a:tc>
                <a:tc>
                  <a:txBody>
                    <a:bodyPr/>
                    <a:lstStyle/>
                    <a:p>
                      <a:pPr>
                        <a:defRPr sz="1200">
                          <a:solidFill>
                            <a:srgbClr val="334155"/>
                          </a:solidFill>
                        </a:defRPr>
                      </a:pPr>
                      <a:r>
                        <a:t>Customer clicks 'Get Directions' or interacts with the embedded Google Maps module</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188720"/>
          </a:xfrm>
          <a:prstGeom prst="rect">
            <a:avLst/>
          </a:prstGeom>
          <a:noFill/>
        </p:spPr>
        <p:txBody>
          <a:bodyPr wrap="square" lIns="0" tIns="0">
            <a:spAutoFit/>
          </a:bodyPr>
          <a:lstStyle/>
          <a:p>
            <a:pPr algn="ctr"/>
            <a:r>
              <a:rPr sz="2800" b="1">
                <a:solidFill>
                  <a:srgbClr val="0F172A"/>
                </a:solidFill>
                <a:latin typeface="Arial"/>
              </a:rPr>
              <a:t>Others</a:t>
            </a:r>
          </a:p>
        </p:txBody>
      </p:sp>
      <p:sp>
        <p:nvSpPr>
          <p:cNvPr id="3" name="TextBox 2"/>
          <p:cNvSpPr txBox="1"/>
          <p:nvPr/>
        </p:nvSpPr>
        <p:spPr>
          <a:xfrm>
            <a:off x="1097280" y="1645920"/>
            <a:ext cx="9966960" cy="4754880"/>
          </a:xfrm>
          <a:prstGeom prst="rect">
            <a:avLst/>
          </a:prstGeom>
          <a:noFill/>
        </p:spPr>
        <p:txBody>
          <a:bodyPr wrap="square">
            <a:spAutoFit/>
          </a:bodyPr>
          <a:lstStyle/>
          <a:p>
            <a:pPr>
              <a:spcBef>
                <a:spcPts val="1400"/>
              </a:spcBef>
            </a:pPr>
            <a:r>
              <a:rPr sz="1350">
                <a:solidFill>
                  <a:srgbClr val="0F172A"/>
                </a:solidFill>
                <a:latin typeface="Arial"/>
              </a:rPr>
              <a:t>Technology stack implemented: Next.js 14 (React 18), TypeScript for strict type contracts, Tailwind CSS for dark-mode utility styling, Framer Motion for UI micro-animations, and Lucide Icons</a:t>
            </a:r>
          </a:p>
          <a:p>
            <a:pPr>
              <a:spcBef>
                <a:spcPts val="1400"/>
              </a:spcBef>
            </a:pPr>
            <a:r>
              <a:rPr sz="1350">
                <a:solidFill>
                  <a:srgbClr val="0F172A"/>
                </a:solidFill>
                <a:latin typeface="Arial"/>
              </a:rPr>
              <a:t>SEO &amp; Search Discovery: Schema.org LocalBusiness JSON-LD markup, OpenGraph social cards, geo-targeted meta tags for Surat pro-audio repair rankings</a:t>
            </a:r>
          </a:p>
          <a:p>
            <a:pPr>
              <a:spcBef>
                <a:spcPts val="1400"/>
              </a:spcBef>
            </a:pPr>
            <a:r>
              <a:rPr sz="1350">
                <a:solidFill>
                  <a:srgbClr val="0F172A"/>
                </a:solidFill>
                <a:latin typeface="Arial"/>
              </a:rPr>
              <a:t>Additional planned features: Online repair ticket tracking system where customers can check job status by mobile number, an admin view for the technician to log incoming equipment repairs, and direct links to YouTube repair tutorials</a:t>
            </a:r>
          </a:p>
          <a:p>
            <a:pPr>
              <a:spcBef>
                <a:spcPts val="1400"/>
              </a:spcBef>
            </a:pPr>
            <a:r>
              <a:rPr sz="1350">
                <a:solidFill>
                  <a:srgbClr val="0F172A"/>
                </a:solidFill>
                <a:latin typeface="Arial"/>
              </a:rPr>
              <a:t>Screenshots of development: Live responsive portal running in development mode on localhost:3000 featuring authentic workshop bench testing photos and full service catalog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tu_flame_logo.png"/>
          <p:cNvPicPr>
            <a:picLocks noChangeAspect="1"/>
          </p:cNvPicPr>
          <p:nvPr/>
        </p:nvPicPr>
        <p:blipFill>
          <a:blip r:embed="rId2"/>
          <a:stretch>
            <a:fillRect/>
          </a:stretch>
        </p:blipFill>
        <p:spPr>
          <a:xfrm>
            <a:off x="731520" y="365760"/>
            <a:ext cx="1097280" cy="949747"/>
          </a:xfrm>
          <a:prstGeom prst="rect">
            <a:avLst/>
          </a:prstGeom>
        </p:spPr>
      </p:pic>
      <p:pic>
        <p:nvPicPr>
          <p:cNvPr id="3" name="Picture 2" descr="amtics_circle_logo.png"/>
          <p:cNvPicPr>
            <a:picLocks noChangeAspect="1"/>
          </p:cNvPicPr>
          <p:nvPr/>
        </p:nvPicPr>
        <p:blipFill>
          <a:blip r:embed="rId3"/>
          <a:stretch>
            <a:fillRect/>
          </a:stretch>
        </p:blipFill>
        <p:spPr>
          <a:xfrm>
            <a:off x="10332720" y="365760"/>
            <a:ext cx="1097280" cy="804114"/>
          </a:xfrm>
          <a:prstGeom prst="rect">
            <a:avLst/>
          </a:prstGeom>
        </p:spPr>
      </p:pic>
      <p:sp>
        <p:nvSpPr>
          <p:cNvPr id="4" name="TextBox 3"/>
          <p:cNvSpPr txBox="1"/>
          <p:nvPr/>
        </p:nvSpPr>
        <p:spPr>
          <a:xfrm>
            <a:off x="1828800" y="2011680"/>
            <a:ext cx="8534095" cy="1828800"/>
          </a:xfrm>
          <a:prstGeom prst="rect">
            <a:avLst/>
          </a:prstGeom>
          <a:noFill/>
        </p:spPr>
        <p:txBody>
          <a:bodyPr wrap="square">
            <a:spAutoFit/>
          </a:bodyPr>
          <a:lstStyle/>
          <a:p>
            <a:pPr algn="ctr"/>
            <a:r>
              <a:rPr sz="5200" b="1">
                <a:solidFill>
                  <a:srgbClr val="0F172A"/>
                </a:solidFill>
                <a:latin typeface="Arial"/>
              </a:rPr>
              <a:t>Thank You</a:t>
            </a:r>
          </a:p>
        </p:txBody>
      </p:sp>
      <p:sp>
        <p:nvSpPr>
          <p:cNvPr id="5" name="Rectangle 4"/>
          <p:cNvSpPr/>
          <p:nvPr/>
        </p:nvSpPr>
        <p:spPr>
          <a:xfrm>
            <a:off x="4663440" y="3291840"/>
            <a:ext cx="2834640" cy="4572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3931920"/>
            <a:ext cx="8534095" cy="1645920"/>
          </a:xfrm>
          <a:prstGeom prst="rect">
            <a:avLst/>
          </a:prstGeom>
          <a:noFill/>
        </p:spPr>
        <p:txBody>
          <a:bodyPr wrap="square">
            <a:spAutoFit/>
          </a:bodyPr>
          <a:lstStyle/>
          <a:p>
            <a:pPr algn="ctr"/>
            <a:r>
              <a:rPr sz="1800" b="1">
                <a:solidFill>
                  <a:srgbClr val="0F172A"/>
                </a:solidFill>
                <a:latin typeface="Arial"/>
              </a:rPr>
              <a:t>Prathmesh Chaudhari (202503103510061)</a:t>
            </a:r>
          </a:p>
          <a:p>
            <a:pPr algn="ctr">
              <a:spcBef>
                <a:spcPts val="800"/>
              </a:spcBef>
            </a:pPr>
            <a:r>
              <a:rPr sz="1600">
                <a:solidFill>
                  <a:srgbClr val="334155"/>
                </a:solidFill>
                <a:latin typeface="Arial"/>
              </a:rPr>
              <a:t>Vikash Electronics – Web-Based DJ &amp; Electronic Equipment Repair Portal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
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utu_flame_logo.png"/>
          <p:cNvPicPr>
            <a:picLocks noChangeAspect="1"/>
          </p:cNvPicPr>
          <p:nvPr/>
        </p:nvPicPr>
        <p:blipFill>
          <a:blip r:embed="rId2"/>
          <a:stretch>
            <a:fillRect/>
          </a:stretch>
        </p:blipFill>
        <p:spPr>
          <a:xfrm>
            <a:off x="731520" y="365760"/>
            <a:ext cx="1097280" cy="949747"/>
          </a:xfrm>
          <a:prstGeom prst="rect">
            <a:avLst/>
          </a:prstGeom>
        </p:spPr>
      </p:pic>
      <p:pic>
        <p:nvPicPr>
          <p:cNvPr id="3" name="Picture 2" descr="amtics_circle_logo.png"/>
          <p:cNvPicPr>
            <a:picLocks noChangeAspect="1"/>
          </p:cNvPicPr>
          <p:nvPr/>
        </p:nvPicPr>
        <p:blipFill>
          <a:blip r:embed="rId3"/>
          <a:stretch>
            <a:fillRect/>
          </a:stretch>
        </p:blipFill>
        <p:spPr>
          <a:xfrm>
            <a:off x="10332720" y="365760"/>
            <a:ext cx="1097280" cy="804114"/>
          </a:xfrm>
          <a:prstGeom prst="rect">
            <a:avLst/>
          </a:prstGeom>
        </p:spPr>
      </p:pic>
      <p:sp>
        <p:nvSpPr>
          <p:cNvPr id="4" name="TextBox 3"/>
          <p:cNvSpPr txBox="1"/>
          <p:nvPr/>
        </p:nvSpPr>
        <p:spPr>
          <a:xfrm>
            <a:off x="2011680" y="365760"/>
            <a:ext cx="8168335" cy="1371600"/>
          </a:xfrm>
          <a:prstGeom prst="rect">
            <a:avLst/>
          </a:prstGeom>
          <a:noFill/>
        </p:spPr>
        <p:txBody>
          <a:bodyPr wrap="square">
            <a:spAutoFit/>
          </a:bodyPr>
          <a:lstStyle/>
          <a:p>
            <a:pPr algn="ctr"/>
            <a:r>
              <a:rPr sz="2400" b="1">
                <a:solidFill>
                  <a:srgbClr val="0F172A"/>
                </a:solidFill>
                <a:latin typeface="Arial"/>
              </a:rPr>
              <a:t>Asha M. Tarsadia Institute of
Computer Science and Technology</a:t>
            </a:r>
          </a:p>
          <a:p>
            <a:pPr algn="ctr">
              <a:spcBef>
                <a:spcPts val="600"/>
              </a:spcBef>
            </a:pPr>
            <a:r>
              <a:rPr sz="2000" b="1">
                <a:solidFill>
                  <a:srgbClr val="0F4C81"/>
                </a:solidFill>
                <a:latin typeface="Arial"/>
              </a:rPr>
              <a:t>Computer Science and Engineering</a:t>
            </a:r>
          </a:p>
        </p:txBody>
      </p:sp>
      <p:sp>
        <p:nvSpPr>
          <p:cNvPr id="5" name="TextBox 4"/>
          <p:cNvSpPr txBox="1"/>
          <p:nvPr/>
        </p:nvSpPr>
        <p:spPr>
          <a:xfrm>
            <a:off x="914400" y="2011680"/>
            <a:ext cx="10362895" cy="1280160"/>
          </a:xfrm>
          <a:prstGeom prst="rect">
            <a:avLst/>
          </a:prstGeom>
          <a:noFill/>
        </p:spPr>
        <p:txBody>
          <a:bodyPr wrap="square">
            <a:spAutoFit/>
          </a:bodyPr>
          <a:lstStyle/>
          <a:p>
            <a:pPr algn="ctr"/>
            <a:r>
              <a:rPr sz="2300" b="1">
                <a:solidFill>
                  <a:srgbClr val="0284C7"/>
                </a:solidFill>
                <a:latin typeface="Arial"/>
              </a:rPr>
              <a:t>Vikash Electronics – Professional DJ &amp; Electronic Equipment Repair
Showcase &amp; Service Management Web Application</a:t>
            </a:r>
          </a:p>
        </p:txBody>
      </p:sp>
      <p:sp>
        <p:nvSpPr>
          <p:cNvPr id="6" name="TextBox 5"/>
          <p:cNvSpPr txBox="1"/>
          <p:nvPr/>
        </p:nvSpPr>
        <p:spPr>
          <a:xfrm>
            <a:off x="1828800" y="3657600"/>
            <a:ext cx="8534095" cy="1280160"/>
          </a:xfrm>
          <a:prstGeom prst="rect">
            <a:avLst/>
          </a:prstGeom>
          <a:noFill/>
        </p:spPr>
        <p:txBody>
          <a:bodyPr wrap="square">
            <a:spAutoFit/>
          </a:bodyPr>
          <a:lstStyle/>
          <a:p>
            <a:pPr algn="ctr"/>
            <a:r>
              <a:rPr sz="1700" b="1">
                <a:solidFill>
                  <a:srgbClr val="0F172A"/>
                </a:solidFill>
                <a:latin typeface="Arial"/>
              </a:rPr>
              <a:t>Prepared by</a:t>
            </a:r>
          </a:p>
          <a:p>
            <a:pPr algn="ctr">
              <a:spcBef>
                <a:spcPts val="400"/>
              </a:spcBef>
            </a:pPr>
            <a:r>
              <a:rPr sz="1600" b="1">
                <a:solidFill>
                  <a:srgbClr val="0F172A"/>
                </a:solidFill>
                <a:latin typeface="Arial"/>
              </a:rPr>
              <a:t>Prathmesh Chaudhari</a:t>
            </a:r>
          </a:p>
          <a:p>
            <a:pPr algn="ctr">
              <a:spcBef>
                <a:spcPts val="200"/>
              </a:spcBef>
            </a:pPr>
            <a:r>
              <a:rPr sz="1500">
                <a:solidFill>
                  <a:srgbClr val="0F172A"/>
                </a:solidFill>
                <a:latin typeface="Arial"/>
              </a:rPr>
              <a:t>(202503103510061)</a:t>
            </a:r>
          </a:p>
        </p:txBody>
      </p:sp>
      <p:sp>
        <p:nvSpPr>
          <p:cNvPr id="7" name="TextBox 6"/>
          <p:cNvSpPr txBox="1"/>
          <p:nvPr/>
        </p:nvSpPr>
        <p:spPr>
          <a:xfrm>
            <a:off x="1828800" y="5166360"/>
            <a:ext cx="8534095" cy="1280160"/>
          </a:xfrm>
          <a:prstGeom prst="rect">
            <a:avLst/>
          </a:prstGeom>
          <a:noFill/>
        </p:spPr>
        <p:txBody>
          <a:bodyPr wrap="square">
            <a:spAutoFit/>
          </a:bodyPr>
          <a:lstStyle/>
          <a:p>
            <a:pPr algn="ctr"/>
            <a:r>
              <a:rPr sz="1700" b="1">
                <a:solidFill>
                  <a:srgbClr val="0F172A"/>
                </a:solidFill>
                <a:latin typeface="Arial"/>
              </a:rPr>
              <a:t>Guided by</a:t>
            </a:r>
          </a:p>
          <a:p>
            <a:pPr algn="ctr">
              <a:spcBef>
                <a:spcPts val="400"/>
              </a:spcBef>
            </a:pPr>
            <a:r>
              <a:rPr sz="1500">
                <a:solidFill>
                  <a:srgbClr val="0F172A"/>
                </a:solidFill>
                <a:latin typeface="Arial"/>
              </a:rPr>
              <a:t>&lt;Guide Name&gt;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Outline</a:t>
            </a:r>
          </a:p>
        </p:txBody>
      </p:sp>
      <p:sp>
        <p:nvSpPr>
          <p:cNvPr id="3" name="TextBox 2"/>
          <p:cNvSpPr txBox="1"/>
          <p:nvPr/>
        </p:nvSpPr>
        <p:spPr>
          <a:xfrm>
            <a:off x="1645920" y="1645920"/>
            <a:ext cx="8869680" cy="4754880"/>
          </a:xfrm>
          <a:prstGeom prst="rect">
            <a:avLst/>
          </a:prstGeom>
          <a:noFill/>
        </p:spPr>
        <p:txBody>
          <a:bodyPr wrap="square">
            <a:spAutoFit/>
          </a:bodyPr>
          <a:lstStyle/>
          <a:p>
            <a:pPr>
              <a:spcBef>
                <a:spcPts val="1400"/>
              </a:spcBef>
            </a:pPr>
            <a:r>
              <a:rPr sz="2000" b="1">
                <a:solidFill>
                  <a:srgbClr val="0F172A"/>
                </a:solidFill>
                <a:latin typeface="Arial"/>
              </a:rPr>
              <a:t>Client Profile</a:t>
            </a:r>
          </a:p>
          <a:p>
            <a:pPr>
              <a:spcBef>
                <a:spcPts val="1400"/>
              </a:spcBef>
            </a:pPr>
            <a:r>
              <a:rPr sz="2000" b="1">
                <a:solidFill>
                  <a:srgbClr val="0F172A"/>
                </a:solidFill>
                <a:latin typeface="Arial"/>
              </a:rPr>
              <a:t>Project Introduction</a:t>
            </a:r>
          </a:p>
          <a:p>
            <a:pPr>
              <a:spcBef>
                <a:spcPts val="1400"/>
              </a:spcBef>
            </a:pPr>
            <a:r>
              <a:rPr sz="2000" b="1">
                <a:solidFill>
                  <a:srgbClr val="0F172A"/>
                </a:solidFill>
                <a:latin typeface="Arial"/>
              </a:rPr>
              <a:t>Objective(s)</a:t>
            </a:r>
          </a:p>
          <a:p>
            <a:pPr>
              <a:spcBef>
                <a:spcPts val="1400"/>
              </a:spcBef>
            </a:pPr>
            <a:r>
              <a:rPr sz="2000" b="1">
                <a:solidFill>
                  <a:srgbClr val="0F172A"/>
                </a:solidFill>
                <a:latin typeface="Arial"/>
              </a:rPr>
              <a:t>Problem Analysis</a:t>
            </a:r>
          </a:p>
          <a:p>
            <a:pPr>
              <a:spcBef>
                <a:spcPts val="1400"/>
              </a:spcBef>
            </a:pPr>
            <a:r>
              <a:rPr sz="2000" b="1">
                <a:solidFill>
                  <a:srgbClr val="0F172A"/>
                </a:solidFill>
                <a:latin typeface="Arial"/>
              </a:rPr>
              <a:t>Requirement Engineering</a:t>
            </a:r>
          </a:p>
          <a:p>
            <a:pPr>
              <a:spcBef>
                <a:spcPts val="1400"/>
              </a:spcBef>
            </a:pPr>
            <a:r>
              <a:rPr sz="2000" b="1">
                <a:solidFill>
                  <a:srgbClr val="0F172A"/>
                </a:solidFill>
                <a:latin typeface="Arial"/>
              </a:rPr>
              <a:t>Software Development Model</a:t>
            </a:r>
          </a:p>
          <a:p>
            <a:pPr>
              <a:spcBef>
                <a:spcPts val="1400"/>
              </a:spcBef>
            </a:pPr>
            <a:r>
              <a:rPr sz="2000" b="1">
                <a:solidFill>
                  <a:srgbClr val="0F172A"/>
                </a:solidFill>
                <a:latin typeface="Arial"/>
              </a:rPr>
              <a:t>Modeling</a:t>
            </a:r>
          </a:p>
          <a:p>
            <a:pPr>
              <a:spcBef>
                <a:spcPts val="1400"/>
              </a:spcBef>
            </a:pPr>
            <a:r>
              <a:rPr sz="2000" b="1">
                <a:solidFill>
                  <a:srgbClr val="0F172A"/>
                </a:solidFill>
                <a:latin typeface="Arial"/>
              </a:rPr>
              <a:t>Others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Client Profile</a:t>
            </a:r>
          </a:p>
        </p:txBody>
      </p:sp>
      <p:sp>
        <p:nvSpPr>
          <p:cNvPr id="3" name="TextBox 2"/>
          <p:cNvSpPr txBox="1"/>
          <p:nvPr/>
        </p:nvSpPr>
        <p:spPr>
          <a:xfrm>
            <a:off x="1112367" y="928165"/>
            <a:ext cx="9966960" cy="5037276"/>
          </a:xfrm>
          <a:prstGeom prst="rect">
            <a:avLst/>
          </a:prstGeom>
          <a:noFill/>
        </p:spPr>
        <p:txBody>
          <a:bodyPr wrap="square">
            <a:spAutoFit/>
          </a:bodyPr>
          <a:lstStyle/>
          <a:p>
            <a:pPr>
              <a:spcBef>
                <a:spcPts val="0"/>
              </a:spcBef>
            </a:pPr>
            <a:r>
              <a:rPr sz="2400" b="1" dirty="0">
                <a:solidFill>
                  <a:srgbClr val="0F172A"/>
                </a:solidFill>
                <a:latin typeface="Arial"/>
              </a:rPr>
              <a:t>Client name and address: </a:t>
            </a:r>
            <a:r>
              <a:rPr sz="2400" dirty="0">
                <a:solidFill>
                  <a:srgbClr val="0F172A"/>
                </a:solidFill>
                <a:latin typeface="Arial"/>
              </a:rPr>
              <a:t>Vikash Electronics, premier professional DJ sound systems, stage lighting, power amplifiers, and electronic equipment repair center operating at Plot No. 199, Sarve No. 1-2, Sanjay Nagar, </a:t>
            </a:r>
            <a:r>
              <a:rPr sz="2400" dirty="0" err="1">
                <a:solidFill>
                  <a:srgbClr val="0F172A"/>
                </a:solidFill>
                <a:latin typeface="Arial"/>
              </a:rPr>
              <a:t>Udhna</a:t>
            </a:r>
            <a:r>
              <a:rPr sz="2400" dirty="0">
                <a:solidFill>
                  <a:srgbClr val="0F172A"/>
                </a:solidFill>
                <a:latin typeface="Arial"/>
              </a:rPr>
              <a:t> Yard, </a:t>
            </a:r>
            <a:r>
              <a:rPr sz="2400" dirty="0" err="1">
                <a:solidFill>
                  <a:srgbClr val="0F172A"/>
                </a:solidFill>
                <a:latin typeface="Arial"/>
              </a:rPr>
              <a:t>Udhna</a:t>
            </a:r>
            <a:r>
              <a:rPr sz="2400" dirty="0">
                <a:solidFill>
                  <a:srgbClr val="0F172A"/>
                </a:solidFill>
                <a:latin typeface="Arial"/>
              </a:rPr>
              <a:t>, Surat, Gujarat - 394210, India.</a:t>
            </a:r>
          </a:p>
          <a:p>
            <a:pPr>
              <a:spcBef>
                <a:spcPts val="2000"/>
              </a:spcBef>
            </a:pPr>
            <a:r>
              <a:rPr sz="2400" b="1" dirty="0">
                <a:solidFill>
                  <a:srgbClr val="0F172A"/>
                </a:solidFill>
                <a:latin typeface="Arial"/>
              </a:rPr>
              <a:t>Your communication: </a:t>
            </a:r>
            <a:r>
              <a:rPr sz="2400" dirty="0">
                <a:solidFill>
                  <a:srgbClr val="0F172A"/>
                </a:solidFill>
                <a:latin typeface="Arial"/>
              </a:rPr>
              <a:t>Requirements gathered through in-person workshop visits and WhatsApp/calls with the proprietor &amp; chief technician (Mr. Murlidhar Chaudhari), covering voice coil rewinding, amplifier transistor balancing, Sharpy optical calibration, sound mixer restoration, emergency calling, and operating hours.</a:t>
            </a:r>
          </a:p>
          <a:p>
            <a:pPr>
              <a:spcBef>
                <a:spcPts val="2000"/>
              </a:spcBef>
            </a:pPr>
            <a:r>
              <a:rPr sz="2400" b="1" dirty="0">
                <a:solidFill>
                  <a:srgbClr val="0F172A"/>
                </a:solidFill>
                <a:latin typeface="Arial"/>
              </a:rPr>
              <a:t>Contract letter: </a:t>
            </a:r>
            <a:r>
              <a:rPr sz="2400" dirty="0">
                <a:solidFill>
                  <a:srgbClr val="0F172A"/>
                </a:solidFill>
                <a:latin typeface="Arial"/>
              </a:rPr>
              <a:t>Project undertaken as an industry client engagement (IDP) to build a dedicated showcase catalog and direct customer repair consultation platform, confirmed with the client before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Project Introduction</a:t>
            </a:r>
          </a:p>
        </p:txBody>
      </p:sp>
      <p:sp>
        <p:nvSpPr>
          <p:cNvPr id="3" name="TextBox 2"/>
          <p:cNvSpPr txBox="1"/>
          <p:nvPr/>
        </p:nvSpPr>
        <p:spPr>
          <a:xfrm>
            <a:off x="731520" y="914400"/>
            <a:ext cx="9966960" cy="5734903"/>
          </a:xfrm>
          <a:prstGeom prst="rect">
            <a:avLst/>
          </a:prstGeom>
          <a:noFill/>
        </p:spPr>
        <p:txBody>
          <a:bodyPr wrap="square">
            <a:spAutoFit/>
          </a:bodyPr>
          <a:lstStyle/>
          <a:p>
            <a:pPr>
              <a:spcBef>
                <a:spcPts val="1400"/>
              </a:spcBef>
            </a:pPr>
            <a:r>
              <a:rPr sz="2000" dirty="0">
                <a:solidFill>
                  <a:srgbClr val="0F172A"/>
                </a:solidFill>
                <a:latin typeface="Arial"/>
              </a:rPr>
              <a:t>Vikash Electronics is a prominent DJ &amp; electronic equipment repair workshop in Surat that previously depended entirely on walk-in customers and third-party local directories to reach clients.</a:t>
            </a:r>
          </a:p>
          <a:p>
            <a:pPr>
              <a:spcBef>
                <a:spcPts val="1400"/>
              </a:spcBef>
            </a:pPr>
            <a:r>
              <a:rPr sz="2000" dirty="0">
                <a:solidFill>
                  <a:srgbClr val="0F172A"/>
                </a:solidFill>
                <a:latin typeface="Arial"/>
              </a:rPr>
              <a:t>This project is a dedicated repair showcase and management web application built exclusively for Vikash Electronics, listing its full specialized repair catalog (Speakers, Power Amplifiers, Sharpy Lights, DJ Lights, TVs, Sound Mixers) with diagnostic highlights and workshop bench photos.</a:t>
            </a:r>
          </a:p>
          <a:p>
            <a:pPr>
              <a:spcBef>
                <a:spcPts val="1400"/>
              </a:spcBef>
            </a:pPr>
            <a:r>
              <a:rPr sz="2000" dirty="0">
                <a:solidFill>
                  <a:srgbClr val="0F172A"/>
                </a:solidFill>
                <a:latin typeface="Arial"/>
              </a:rPr>
              <a:t>Customers (DJs, sound rental vendors, event organizers, stage technicians, and home users) can browse repair capabilities, view technical failure symptoms, and initiate instant consultations directly on the website without third-party apps.</a:t>
            </a:r>
          </a:p>
          <a:p>
            <a:pPr>
              <a:spcBef>
                <a:spcPts val="1400"/>
              </a:spcBef>
            </a:pPr>
            <a:r>
              <a:rPr sz="2000" dirty="0">
                <a:solidFill>
                  <a:srgbClr val="0F172A"/>
                </a:solidFill>
                <a:latin typeface="Arial"/>
              </a:rPr>
              <a:t>The site also provides the workshop's verified physical address in </a:t>
            </a:r>
            <a:r>
              <a:rPr sz="2000" dirty="0" err="1">
                <a:solidFill>
                  <a:srgbClr val="0F172A"/>
                </a:solidFill>
                <a:latin typeface="Arial"/>
              </a:rPr>
              <a:t>Udhna</a:t>
            </a:r>
            <a:r>
              <a:rPr sz="2000" dirty="0">
                <a:solidFill>
                  <a:srgbClr val="0F172A"/>
                </a:solidFill>
                <a:latin typeface="Arial"/>
              </a:rPr>
              <a:t> Yard, interactive Google Maps location routing, workshop operating hours, and direct telephone (+91 98254 85520) / WhatsApp chat in one place.</a:t>
            </a:r>
          </a:p>
          <a:p>
            <a:pPr>
              <a:spcBef>
                <a:spcPts val="1400"/>
              </a:spcBef>
            </a:pPr>
            <a:r>
              <a:rPr sz="2000" dirty="0">
                <a:solidFill>
                  <a:srgbClr val="0F172A"/>
                </a:solidFill>
                <a:latin typeface="Arial"/>
              </a:rPr>
              <a:t>The goal is to reduce the client's dependency on aggregator platforms (like Justdial/</a:t>
            </a:r>
            <a:r>
              <a:rPr sz="2000" dirty="0" err="1">
                <a:solidFill>
                  <a:srgbClr val="0F172A"/>
                </a:solidFill>
                <a:latin typeface="Arial"/>
              </a:rPr>
              <a:t>Indiamart</a:t>
            </a:r>
            <a:r>
              <a:rPr sz="2000" dirty="0">
                <a:solidFill>
                  <a:srgbClr val="0F172A"/>
                </a:solidFill>
                <a:latin typeface="Arial"/>
              </a:rPr>
              <a:t>) and save the high commission charges and listing delays typically paid to third-party marketplaces.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Objective(s)</a:t>
            </a:r>
          </a:p>
        </p:txBody>
      </p:sp>
      <p:sp>
        <p:nvSpPr>
          <p:cNvPr id="3" name="TextBox 2"/>
          <p:cNvSpPr txBox="1"/>
          <p:nvPr/>
        </p:nvSpPr>
        <p:spPr>
          <a:xfrm>
            <a:off x="880971" y="741352"/>
            <a:ext cx="9966960" cy="5914440"/>
          </a:xfrm>
          <a:prstGeom prst="rect">
            <a:avLst/>
          </a:prstGeom>
          <a:noFill/>
        </p:spPr>
        <p:txBody>
          <a:bodyPr wrap="square">
            <a:spAutoFit/>
          </a:bodyPr>
          <a:lstStyle/>
          <a:p>
            <a:pPr>
              <a:spcBef>
                <a:spcPts val="1400"/>
              </a:spcBef>
            </a:pPr>
            <a:r>
              <a:rPr sz="2000" dirty="0">
                <a:solidFill>
                  <a:srgbClr val="0F172A"/>
                </a:solidFill>
                <a:latin typeface="Arial"/>
              </a:rPr>
              <a:t>Build a single, self-owned website where customers can view the full pro-audio, lighting, and electronic equipment repair services with descriptions and authentic bench testing images.</a:t>
            </a:r>
          </a:p>
          <a:p>
            <a:pPr>
              <a:spcBef>
                <a:spcPts val="1400"/>
              </a:spcBef>
            </a:pPr>
            <a:r>
              <a:rPr sz="2000" dirty="0">
                <a:solidFill>
                  <a:srgbClr val="0F172A"/>
                </a:solidFill>
                <a:latin typeface="Arial"/>
              </a:rPr>
              <a:t>Allow customers to filter repair services by category (Audio, Stage Lighting, Visual, General) and submit in-store repair consultations or diagnostic requests directly on the website.</a:t>
            </a:r>
          </a:p>
          <a:p>
            <a:pPr>
              <a:spcBef>
                <a:spcPts val="1400"/>
              </a:spcBef>
            </a:pPr>
            <a:r>
              <a:rPr sz="2000" dirty="0">
                <a:solidFill>
                  <a:srgbClr val="0F172A"/>
                </a:solidFill>
                <a:latin typeface="Arial"/>
              </a:rPr>
              <a:t>Reduce Vikash </a:t>
            </a:r>
            <a:r>
              <a:rPr sz="2000" dirty="0" err="1">
                <a:solidFill>
                  <a:srgbClr val="0F172A"/>
                </a:solidFill>
                <a:latin typeface="Arial"/>
              </a:rPr>
              <a:t>Electronics's</a:t>
            </a:r>
            <a:r>
              <a:rPr sz="2000" dirty="0">
                <a:solidFill>
                  <a:srgbClr val="0F172A"/>
                </a:solidFill>
                <a:latin typeface="Arial"/>
              </a:rPr>
              <a:t> dependency on third-party listing apps and eliminate commission charges paid to aggregators.</a:t>
            </a:r>
          </a:p>
          <a:p>
            <a:pPr>
              <a:spcBef>
                <a:spcPts val="1400"/>
              </a:spcBef>
            </a:pPr>
            <a:r>
              <a:rPr sz="2000" dirty="0">
                <a:solidFill>
                  <a:srgbClr val="0F172A"/>
                </a:solidFill>
                <a:latin typeface="Arial"/>
              </a:rPr>
              <a:t>Display business information — verified workshop location in </a:t>
            </a:r>
            <a:r>
              <a:rPr sz="2000" dirty="0" err="1">
                <a:solidFill>
                  <a:srgbClr val="0F172A"/>
                </a:solidFill>
                <a:latin typeface="Arial"/>
              </a:rPr>
              <a:t>Udhna</a:t>
            </a:r>
            <a:r>
              <a:rPr sz="2000" dirty="0">
                <a:solidFill>
                  <a:srgbClr val="0F172A"/>
                </a:solidFill>
                <a:latin typeface="Arial"/>
              </a:rPr>
              <a:t> Yard, address, contact number (+91 98254 85520), working hours, and direct WhatsApp links — in one place.</a:t>
            </a:r>
          </a:p>
          <a:p>
            <a:pPr>
              <a:spcBef>
                <a:spcPts val="1400"/>
              </a:spcBef>
            </a:pPr>
            <a:r>
              <a:rPr sz="2000" dirty="0">
                <a:solidFill>
                  <a:srgbClr val="0F172A"/>
                </a:solidFill>
                <a:latin typeface="Arial"/>
              </a:rPr>
              <a:t>Provide the workshop technician (Mr. Murlidhar Chaudhari) with a simple way to showcase specialized bench skills (voice coil rewinding, Sharpy optical calibration, transistor balancing) and manage incoming inquiries.</a:t>
            </a:r>
          </a:p>
          <a:p>
            <a:pPr>
              <a:spcBef>
                <a:spcPts val="1400"/>
              </a:spcBef>
            </a:pPr>
            <a:r>
              <a:rPr sz="2000" dirty="0">
                <a:solidFill>
                  <a:srgbClr val="0F172A"/>
                </a:solidFill>
                <a:latin typeface="Arial"/>
              </a:rPr>
              <a:t>Improve customer conversion, trust, and business inquiry speed by cutting out third-party middleman delays.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Order Process Flow</a:t>
            </a:r>
          </a:p>
        </p:txBody>
      </p:sp>
      <p:sp>
        <p:nvSpPr>
          <p:cNvPr id="3" name="Rounded Rectangle 2"/>
          <p:cNvSpPr/>
          <p:nvPr/>
        </p:nvSpPr>
        <p:spPr>
          <a:xfrm>
            <a:off x="7315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Browse
Services</a:t>
            </a:r>
          </a:p>
        </p:txBody>
      </p:sp>
      <p:sp>
        <p:nvSpPr>
          <p:cNvPr id="4" name="Right Arrow 3"/>
          <p:cNvSpPr/>
          <p:nvPr/>
        </p:nvSpPr>
        <p:spPr>
          <a:xfrm>
            <a:off x="22677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5603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Select
Category</a:t>
            </a:r>
          </a:p>
        </p:txBody>
      </p:sp>
      <p:sp>
        <p:nvSpPr>
          <p:cNvPr id="6" name="Right Arrow 5"/>
          <p:cNvSpPr/>
          <p:nvPr/>
        </p:nvSpPr>
        <p:spPr>
          <a:xfrm>
            <a:off x="40965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View
Diagnostics</a:t>
            </a:r>
          </a:p>
        </p:txBody>
      </p:sp>
      <p:sp>
        <p:nvSpPr>
          <p:cNvPr id="8" name="Right Arrow 7"/>
          <p:cNvSpPr/>
          <p:nvPr/>
        </p:nvSpPr>
        <p:spPr>
          <a:xfrm>
            <a:off x="59253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179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Inquire /
Call Tech</a:t>
            </a:r>
          </a:p>
        </p:txBody>
      </p:sp>
      <p:sp>
        <p:nvSpPr>
          <p:cNvPr id="10" name="Right Arrow 9"/>
          <p:cNvSpPr/>
          <p:nvPr/>
        </p:nvSpPr>
        <p:spPr>
          <a:xfrm>
            <a:off x="77541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467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Workshop Bench
Inspection</a:t>
            </a:r>
          </a:p>
        </p:txBody>
      </p:sp>
      <p:sp>
        <p:nvSpPr>
          <p:cNvPr id="12" name="Right Arrow 11"/>
          <p:cNvSpPr/>
          <p:nvPr/>
        </p:nvSpPr>
        <p:spPr>
          <a:xfrm>
            <a:off x="95829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8755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Repair
Confirmed</a:t>
            </a:r>
          </a:p>
        </p:txBody>
      </p:sp>
      <p:sp>
        <p:nvSpPr>
          <p:cNvPr id="14" name="TextBox 13"/>
          <p:cNvSpPr txBox="1"/>
          <p:nvPr/>
        </p:nvSpPr>
        <p:spPr>
          <a:xfrm>
            <a:off x="731520" y="4846320"/>
            <a:ext cx="10728655" cy="1097280"/>
          </a:xfrm>
          <a:prstGeom prst="rect">
            <a:avLst/>
          </a:prstGeom>
          <a:noFill/>
        </p:spPr>
        <p:txBody>
          <a:bodyPr wrap="square">
            <a:spAutoFit/>
          </a:bodyPr>
          <a:lstStyle/>
          <a:p>
            <a:pPr algn="ctr"/>
            <a:r>
              <a:rPr sz="1600">
                <a:solidFill>
                  <a:srgbClr val="0F172A"/>
                </a:solidFill>
                <a:latin typeface="Arial"/>
              </a:rPr>
              <a:t>Customers move through the entire journey on Vikash Electronics's own
website — no aggregator hand-off, and no commission paid at any step.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Problem Analysis</a:t>
            </a:r>
          </a:p>
          <a:p>
            <a:pPr algn="ctr">
              <a:spcBef>
                <a:spcPts val="400"/>
              </a:spcBef>
            </a:pPr>
            <a:r>
              <a:rPr sz="2200" b="1">
                <a:solidFill>
                  <a:srgbClr val="DC2626"/>
                </a:solidFill>
                <a:latin typeface="Arial"/>
              </a:rPr>
              <a:t>(Understand the problem)</a:t>
            </a:r>
          </a:p>
        </p:txBody>
      </p:sp>
      <p:sp>
        <p:nvSpPr>
          <p:cNvPr id="3" name="TextBox 2"/>
          <p:cNvSpPr txBox="1"/>
          <p:nvPr/>
        </p:nvSpPr>
        <p:spPr>
          <a:xfrm>
            <a:off x="1112367" y="1105146"/>
            <a:ext cx="9966960" cy="7078861"/>
          </a:xfrm>
          <a:prstGeom prst="rect">
            <a:avLst/>
          </a:prstGeom>
          <a:noFill/>
        </p:spPr>
        <p:txBody>
          <a:bodyPr wrap="square">
            <a:spAutoFit/>
          </a:bodyPr>
          <a:lstStyle/>
          <a:p>
            <a:pPr>
              <a:spcBef>
                <a:spcPts val="1200"/>
              </a:spcBef>
            </a:pPr>
            <a:r>
              <a:rPr sz="2400" b="1" dirty="0">
                <a:solidFill>
                  <a:srgbClr val="0F172A"/>
                </a:solidFill>
                <a:latin typeface="Arial"/>
              </a:rPr>
              <a:t>I. Who are the stockholders in the solution to the problem?
</a:t>
            </a:r>
            <a:r>
              <a:rPr sz="2400" dirty="0">
                <a:solidFill>
                  <a:srgbClr val="0F172A"/>
                </a:solidFill>
                <a:latin typeface="Arial"/>
              </a:rPr>
              <a:t>The workshop proprietor &amp; chief technician of Vikash Electronics, customers exploring electronic equipment repairs (DJs, sound rental vendors, event managers), senior bench testing staff, and the site administrator.</a:t>
            </a:r>
          </a:p>
          <a:p>
            <a:pPr>
              <a:spcBef>
                <a:spcPts val="1200"/>
              </a:spcBef>
            </a:pPr>
            <a:r>
              <a:rPr sz="2400" b="1" dirty="0">
                <a:solidFill>
                  <a:srgbClr val="0F172A"/>
                </a:solidFill>
                <a:latin typeface="Arial"/>
              </a:rPr>
              <a:t>II. What are the unknowns?
</a:t>
            </a:r>
            <a:r>
              <a:rPr sz="2400" dirty="0">
                <a:solidFill>
                  <a:srgbClr val="0F172A"/>
                </a:solidFill>
                <a:latin typeface="Arial"/>
              </a:rPr>
              <a:t>The customer preferred communication method, how custom component repairs (voice coil rewinding, Sharpy motors) will be managed, and how repair inquiry status will be tracked in real time.</a:t>
            </a:r>
          </a:p>
          <a:p>
            <a:pPr>
              <a:spcBef>
                <a:spcPts val="1200"/>
              </a:spcBef>
            </a:pPr>
            <a:r>
              <a:rPr sz="2400" b="1" dirty="0">
                <a:solidFill>
                  <a:srgbClr val="0F172A"/>
                </a:solidFill>
                <a:latin typeface="Arial"/>
              </a:rPr>
              <a:t>III. Can the problem be compartmentalized?
</a:t>
            </a:r>
            <a:r>
              <a:rPr sz="2400" dirty="0">
                <a:solidFill>
                  <a:srgbClr val="0F172A"/>
                </a:solidFill>
                <a:latin typeface="Arial"/>
              </a:rPr>
              <a:t>Yes — into modules: service catalog showcase, category filter, equipment diagnostics modal, direct call &amp; WhatsApp inquiry panel, and workshop geolocation routing.</a:t>
            </a:r>
          </a:p>
          <a:p>
            <a:pPr>
              <a:spcBef>
                <a:spcPts val="1200"/>
              </a:spcBef>
            </a:pPr>
            <a:r>
              <a:rPr sz="2400" b="1" dirty="0">
                <a:solidFill>
                  <a:srgbClr val="0F172A"/>
                </a:solidFill>
                <a:latin typeface="Arial"/>
              </a:rPr>
              <a:t>IV. Can the problem be represented graphically?
</a:t>
            </a:r>
            <a:r>
              <a:rPr sz="2400" dirty="0">
                <a:solidFill>
                  <a:srgbClr val="0F172A"/>
                </a:solidFill>
                <a:latin typeface="Arial"/>
              </a:rPr>
              <a:t>Yes, the flow can be represented through flowcharts and data flow diagrams covering browsing, filtering, and repair inquiry booking.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Problem Analysis</a:t>
            </a:r>
          </a:p>
          <a:p>
            <a:pPr algn="ctr">
              <a:spcBef>
                <a:spcPts val="400"/>
              </a:spcBef>
            </a:pPr>
            <a:r>
              <a:rPr sz="2200" b="1">
                <a:solidFill>
                  <a:srgbClr val="DC2626"/>
                </a:solidFill>
                <a:latin typeface="Arial"/>
              </a:rPr>
              <a:t>(Plan the solution)</a:t>
            </a:r>
          </a:p>
        </p:txBody>
      </p:sp>
      <p:sp>
        <p:nvSpPr>
          <p:cNvPr id="3" name="TextBox 2"/>
          <p:cNvSpPr txBox="1"/>
          <p:nvPr/>
        </p:nvSpPr>
        <p:spPr>
          <a:xfrm>
            <a:off x="1112367" y="1193636"/>
            <a:ext cx="9966960" cy="5478423"/>
          </a:xfrm>
          <a:prstGeom prst="rect">
            <a:avLst/>
          </a:prstGeom>
          <a:noFill/>
        </p:spPr>
        <p:txBody>
          <a:bodyPr wrap="square">
            <a:spAutoFit/>
          </a:bodyPr>
          <a:lstStyle/>
          <a:p>
            <a:pPr>
              <a:spcBef>
                <a:spcPts val="1200"/>
              </a:spcBef>
            </a:pPr>
            <a:r>
              <a:rPr sz="2400" b="1" dirty="0">
                <a:solidFill>
                  <a:srgbClr val="0F172A"/>
                </a:solidFill>
                <a:latin typeface="Arial"/>
              </a:rPr>
              <a:t>I. Have you seen similar problem before?
</a:t>
            </a:r>
            <a:r>
              <a:rPr sz="2000" dirty="0">
                <a:solidFill>
                  <a:srgbClr val="0F172A"/>
                </a:solidFill>
                <a:latin typeface="Arial"/>
              </a:rPr>
              <a:t>Yes, in platforms like electronics repair portals, pro-audio service showcases, and bespoke hardware maintenance websites.</a:t>
            </a:r>
          </a:p>
          <a:p>
            <a:pPr>
              <a:spcBef>
                <a:spcPts val="1200"/>
              </a:spcBef>
            </a:pPr>
            <a:r>
              <a:rPr sz="2400" b="1" dirty="0">
                <a:solidFill>
                  <a:srgbClr val="0F172A"/>
                </a:solidFill>
                <a:latin typeface="Arial"/>
              </a:rPr>
              <a:t>II. Has a similar problem been solved?
</a:t>
            </a:r>
            <a:r>
              <a:rPr sz="2000" dirty="0">
                <a:solidFill>
                  <a:srgbClr val="0F172A"/>
                </a:solidFill>
                <a:latin typeface="Arial"/>
              </a:rPr>
              <a:t>Yes — many specialized repair workshops now run their own direct showcase websites to avoid third-party aggregator fees and commissions.</a:t>
            </a:r>
          </a:p>
          <a:p>
            <a:pPr>
              <a:spcBef>
                <a:spcPts val="1200"/>
              </a:spcBef>
            </a:pPr>
            <a:r>
              <a:rPr sz="2400" b="1" dirty="0">
                <a:solidFill>
                  <a:srgbClr val="0F172A"/>
                </a:solidFill>
                <a:latin typeface="Arial"/>
              </a:rPr>
              <a:t>III. Can sub-problems be defined?
</a:t>
            </a:r>
            <a:r>
              <a:rPr sz="2000" dirty="0">
                <a:solidFill>
                  <a:srgbClr val="0F172A"/>
                </a:solidFill>
                <a:latin typeface="Arial"/>
              </a:rPr>
              <a:t>Yes: service catalog browsing, equipment category filtering, diagnostic symptom modal, one-tap mobile calling, WhatsApp integration, and workshop location routing.</a:t>
            </a:r>
          </a:p>
          <a:p>
            <a:pPr>
              <a:spcBef>
                <a:spcPts val="1200"/>
              </a:spcBef>
            </a:pPr>
            <a:r>
              <a:rPr sz="2400" b="1" dirty="0">
                <a:solidFill>
                  <a:srgbClr val="0F172A"/>
                </a:solidFill>
                <a:latin typeface="Arial"/>
              </a:rPr>
              <a:t>IV. Can you represent a solution in a manner that leads to effective implementation?
</a:t>
            </a:r>
            <a:r>
              <a:rPr sz="2000" dirty="0">
                <a:solidFill>
                  <a:srgbClr val="0F172A"/>
                </a:solidFill>
                <a:latin typeface="Arial"/>
              </a:rPr>
              <a:t>Yes, through a modular architecture diagram and UML diagrams that lead to effective, phase-wise implementation.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System Architecture</a:t>
            </a:r>
          </a:p>
        </p:txBody>
      </p:sp>
      <p:sp>
        <p:nvSpPr>
          <p:cNvPr id="3" name="Rounded Rectangle 2"/>
          <p:cNvSpPr/>
          <p:nvPr/>
        </p:nvSpPr>
        <p:spPr>
          <a:xfrm>
            <a:off x="4389120" y="1645920"/>
            <a:ext cx="329184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Customer</a:t>
            </a:r>
          </a:p>
          <a:p>
            <a:pPr algn="ctr">
              <a:spcBef>
                <a:spcPts val="200"/>
              </a:spcBef>
            </a:pPr>
            <a:r>
              <a:rPr sz="950">
                <a:solidFill>
                  <a:srgbClr val="334155"/>
                </a:solidFill>
                <a:latin typeface="Arial"/>
              </a:rPr>
              <a:t>(Web / Mobile Browser)</a:t>
            </a:r>
          </a:p>
        </p:txBody>
      </p:sp>
      <p:sp>
        <p:nvSpPr>
          <p:cNvPr id="4" name="Down Arrow 3"/>
          <p:cNvSpPr/>
          <p:nvPr/>
        </p:nvSpPr>
        <p:spPr>
          <a:xfrm>
            <a:off x="5943600" y="2423160"/>
            <a:ext cx="182880" cy="32004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389120" y="2788920"/>
            <a:ext cx="329184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Website Frontend (Next.js)</a:t>
            </a:r>
          </a:p>
          <a:p>
            <a:pPr algn="ctr">
              <a:spcBef>
                <a:spcPts val="200"/>
              </a:spcBef>
            </a:pPr>
            <a:r>
              <a:rPr sz="950">
                <a:solidFill>
                  <a:srgbClr val="334155"/>
                </a:solidFill>
                <a:latin typeface="Arial"/>
              </a:rPr>
              <a:t>(Catalog, Category Filter, Modals)</a:t>
            </a:r>
          </a:p>
        </p:txBody>
      </p:sp>
      <p:sp>
        <p:nvSpPr>
          <p:cNvPr id="6" name="Down Arrow 5"/>
          <p:cNvSpPr/>
          <p:nvPr/>
        </p:nvSpPr>
        <p:spPr>
          <a:xfrm>
            <a:off x="5943600" y="3566160"/>
            <a:ext cx="182880" cy="32004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3931920"/>
            <a:ext cx="329184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Backend / API Router</a:t>
            </a:r>
          </a:p>
          <a:p>
            <a:pPr algn="ctr">
              <a:spcBef>
                <a:spcPts val="200"/>
              </a:spcBef>
            </a:pPr>
            <a:r>
              <a:rPr sz="950">
                <a:solidFill>
                  <a:srgbClr val="334155"/>
                </a:solidFill>
                <a:latin typeface="Arial"/>
              </a:rPr>
              <a:t>(Inquiry Routing, Telephony &amp; Maps)</a:t>
            </a:r>
          </a:p>
        </p:txBody>
      </p:sp>
      <p:sp>
        <p:nvSpPr>
          <p:cNvPr id="8" name="Left Arrow 7"/>
          <p:cNvSpPr/>
          <p:nvPr/>
        </p:nvSpPr>
        <p:spPr>
          <a:xfrm>
            <a:off x="3749039" y="4160520"/>
            <a:ext cx="548640" cy="182880"/>
          </a:xfrm>
          <a:prstGeom prst="lef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97280" y="3931920"/>
            <a:ext cx="256032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Structured Data Store</a:t>
            </a:r>
          </a:p>
          <a:p>
            <a:pPr algn="ctr">
              <a:spcBef>
                <a:spcPts val="200"/>
              </a:spcBef>
            </a:pPr>
            <a:r>
              <a:rPr sz="950">
                <a:solidFill>
                  <a:srgbClr val="334155"/>
                </a:solidFill>
                <a:latin typeface="Arial"/>
              </a:rPr>
              <a:t>(business.ts, services.ts, Schema.org)</a:t>
            </a:r>
          </a:p>
        </p:txBody>
      </p:sp>
      <p:sp>
        <p:nvSpPr>
          <p:cNvPr id="10" name="Right Arrow 9"/>
          <p:cNvSpPr/>
          <p:nvPr/>
        </p:nvSpPr>
        <p:spPr>
          <a:xfrm>
            <a:off x="7772400" y="4160520"/>
            <a:ext cx="548640" cy="182880"/>
          </a:xfrm>
          <a:prstGeom prst="right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412480" y="3931920"/>
            <a:ext cx="2560320" cy="73152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WhatsApp &amp; Phone Gateway</a:t>
            </a:r>
          </a:p>
          <a:p>
            <a:pPr algn="ctr">
              <a:spcBef>
                <a:spcPts val="200"/>
              </a:spcBef>
            </a:pPr>
            <a:r>
              <a:rPr sz="950">
                <a:solidFill>
                  <a:srgbClr val="334155"/>
                </a:solidFill>
                <a:latin typeface="Arial"/>
              </a:rPr>
              <a:t>(Direct Technician Chat &amp; 1-Tap Dialer)</a:t>
            </a:r>
          </a:p>
        </p:txBody>
      </p:sp>
      <p:sp>
        <p:nvSpPr>
          <p:cNvPr id="12" name="Down Arrow 11"/>
          <p:cNvSpPr/>
          <p:nvPr/>
        </p:nvSpPr>
        <p:spPr>
          <a:xfrm>
            <a:off x="5943600" y="4709160"/>
            <a:ext cx="182880" cy="32004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89120" y="5074920"/>
            <a:ext cx="329184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Workshop Management</a:t>
            </a:r>
          </a:p>
          <a:p>
            <a:pPr algn="ctr">
              <a:spcBef>
                <a:spcPts val="200"/>
              </a:spcBef>
            </a:pPr>
            <a:r>
              <a:rPr sz="950">
                <a:solidFill>
                  <a:srgbClr val="334155"/>
                </a:solidFill>
                <a:latin typeface="Arial"/>
              </a:rPr>
              <a:t>(Proprietor: Service Catalog &amp; Intake Records)</a:t>
            </a:r>
          </a:p>
        </p:txBody>
      </p:sp>
      <p:sp>
        <p:nvSpPr>
          <p:cNvPr id="14" name="TextBox 13"/>
          <p:cNvSpPr txBox="1"/>
          <p:nvPr/>
        </p:nvSpPr>
        <p:spPr>
          <a:xfrm>
            <a:off x="731520" y="5943600"/>
            <a:ext cx="10728655" cy="731520"/>
          </a:xfrm>
          <a:prstGeom prst="rect">
            <a:avLst/>
          </a:prstGeom>
          <a:noFill/>
        </p:spPr>
        <p:txBody>
          <a:bodyPr wrap="square">
            <a:spAutoFit/>
          </a:bodyPr>
          <a:lstStyle/>
          <a:p>
            <a:pPr algn="ctr"/>
            <a:r>
              <a:rPr sz="1300">
                <a:solidFill>
                  <a:srgbClr val="0F172A"/>
                </a:solidFill>
                <a:latin typeface="Arial"/>
              </a:rPr>
              <a:t>Customer requests flow from the website through the frontend to the data store and WhatsApp gateway;
the owner manages repair services and customer inquiries directly without middleman aggregators.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Problem Analysis</a:t>
            </a:r>
          </a:p>
          <a:p>
            <a:pPr algn="ctr">
              <a:spcBef>
                <a:spcPts val="400"/>
              </a:spcBef>
            </a:pPr>
            <a:r>
              <a:rPr sz="2200" b="1">
                <a:solidFill>
                  <a:srgbClr val="DC2626"/>
                </a:solidFill>
                <a:latin typeface="Arial"/>
              </a:rPr>
              <a:t>(Carry out the plan)</a:t>
            </a:r>
          </a:p>
        </p:txBody>
      </p:sp>
      <p:sp>
        <p:nvSpPr>
          <p:cNvPr id="3" name="TextBox 2"/>
          <p:cNvSpPr txBox="1"/>
          <p:nvPr/>
        </p:nvSpPr>
        <p:spPr>
          <a:xfrm>
            <a:off x="1097280" y="1645920"/>
            <a:ext cx="9966960" cy="4293483"/>
          </a:xfrm>
          <a:prstGeom prst="rect">
            <a:avLst/>
          </a:prstGeom>
          <a:noFill/>
        </p:spPr>
        <p:txBody>
          <a:bodyPr wrap="square">
            <a:spAutoFit/>
          </a:bodyPr>
          <a:lstStyle/>
          <a:p>
            <a:pPr>
              <a:spcBef>
                <a:spcPts val="1800"/>
              </a:spcBef>
            </a:pPr>
            <a:r>
              <a:rPr sz="2800" b="1" dirty="0">
                <a:solidFill>
                  <a:srgbClr val="0F172A"/>
                </a:solidFill>
                <a:latin typeface="Arial"/>
              </a:rPr>
              <a:t>I. Does the solution conform to the plan?
</a:t>
            </a:r>
            <a:r>
              <a:rPr sz="2400" dirty="0">
                <a:solidFill>
                  <a:srgbClr val="0F172A"/>
                </a:solidFill>
                <a:latin typeface="Arial"/>
              </a:rPr>
              <a:t>Yes — development proceeds module by module (service catalog, category filter, diagnostic modal, WhatsApp routing, Google Maps geolocation) as per the defined architecture.</a:t>
            </a:r>
          </a:p>
          <a:p>
            <a:pPr>
              <a:spcBef>
                <a:spcPts val="1800"/>
              </a:spcBef>
            </a:pPr>
            <a:r>
              <a:rPr sz="2800" b="1" dirty="0">
                <a:solidFill>
                  <a:srgbClr val="0F172A"/>
                </a:solidFill>
                <a:latin typeface="Arial"/>
              </a:rPr>
              <a:t>II. Is each component part of the solution provably correct?
</a:t>
            </a:r>
            <a:r>
              <a:rPr sz="2400" dirty="0">
                <a:solidFill>
                  <a:srgbClr val="0F172A"/>
                </a:solidFill>
                <a:latin typeface="Arial"/>
              </a:rPr>
              <a:t>Yes, each component is tested independently — for example, category filtering, detail modal triggers, phone number validations, and WhatsApp URL generation are each verified before integration.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Problem Analysis</a:t>
            </a:r>
          </a:p>
          <a:p>
            <a:pPr algn="ctr">
              <a:spcBef>
                <a:spcPts val="400"/>
              </a:spcBef>
            </a:pPr>
            <a:r>
              <a:rPr sz="2200" b="1">
                <a:solidFill>
                  <a:srgbClr val="DC2626"/>
                </a:solidFill>
                <a:latin typeface="Arial"/>
              </a:rPr>
              <a:t>(Examine the results)</a:t>
            </a:r>
          </a:p>
        </p:txBody>
      </p:sp>
      <p:sp>
        <p:nvSpPr>
          <p:cNvPr id="3" name="TextBox 2"/>
          <p:cNvSpPr txBox="1"/>
          <p:nvPr/>
        </p:nvSpPr>
        <p:spPr>
          <a:xfrm>
            <a:off x="1097280" y="1645920"/>
            <a:ext cx="9966960" cy="4724370"/>
          </a:xfrm>
          <a:prstGeom prst="rect">
            <a:avLst/>
          </a:prstGeom>
          <a:noFill/>
        </p:spPr>
        <p:txBody>
          <a:bodyPr wrap="square">
            <a:spAutoFit/>
          </a:bodyPr>
          <a:lstStyle/>
          <a:p>
            <a:pPr>
              <a:spcBef>
                <a:spcPts val="1800"/>
              </a:spcBef>
            </a:pPr>
            <a:r>
              <a:rPr sz="2800" b="1" dirty="0">
                <a:solidFill>
                  <a:srgbClr val="0F172A"/>
                </a:solidFill>
                <a:latin typeface="Arial"/>
              </a:rPr>
              <a:t>I. Is it possible to test each component part of the solution?
</a:t>
            </a:r>
            <a:r>
              <a:rPr sz="2400" dirty="0">
                <a:solidFill>
                  <a:srgbClr val="0F172A"/>
                </a:solidFill>
                <a:latin typeface="Arial"/>
              </a:rPr>
              <a:t>Yes — service catalog loading, category filtering, one-tap mobile calling, WhatsApp pre-filled message generation, and Google Maps location routing are all verifiable on their own.</a:t>
            </a:r>
          </a:p>
          <a:p>
            <a:pPr>
              <a:spcBef>
                <a:spcPts val="1800"/>
              </a:spcBef>
            </a:pPr>
            <a:r>
              <a:rPr sz="2800" b="1" dirty="0">
                <a:solidFill>
                  <a:srgbClr val="0F172A"/>
                </a:solidFill>
                <a:latin typeface="Arial"/>
              </a:rPr>
              <a:t>II. Does the solution produce results that conform to the data, functions, and features that are required?
</a:t>
            </a:r>
            <a:r>
              <a:rPr sz="2400" dirty="0">
                <a:solidFill>
                  <a:srgbClr val="0F172A"/>
                </a:solidFill>
                <a:latin typeface="Arial"/>
              </a:rPr>
              <a:t>Yes — customers can view the repair catalog, explore equipment diagnostic details, initiate direct repair consultations, and navigate to the workshop, all without a third-party app.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Requirement Engineering</a:t>
            </a:r>
          </a:p>
          <a:p>
            <a:pPr algn="ctr">
              <a:spcBef>
                <a:spcPts val="400"/>
              </a:spcBef>
            </a:pPr>
            <a:r>
              <a:rPr sz="2200" b="1">
                <a:solidFill>
                  <a:srgbClr val="DC2626"/>
                </a:solidFill>
                <a:latin typeface="Arial"/>
              </a:rPr>
              <a:t>(Client-side communication)</a:t>
            </a:r>
          </a:p>
        </p:txBody>
      </p:sp>
      <p:sp>
        <p:nvSpPr>
          <p:cNvPr id="3" name="TextBox 2"/>
          <p:cNvSpPr txBox="1"/>
          <p:nvPr/>
        </p:nvSpPr>
        <p:spPr>
          <a:xfrm>
            <a:off x="1112367" y="1239074"/>
            <a:ext cx="9966960" cy="5298886"/>
          </a:xfrm>
          <a:prstGeom prst="rect">
            <a:avLst/>
          </a:prstGeom>
          <a:noFill/>
        </p:spPr>
        <p:txBody>
          <a:bodyPr wrap="square">
            <a:spAutoFit/>
          </a:bodyPr>
          <a:lstStyle/>
          <a:p>
            <a:pPr>
              <a:spcBef>
                <a:spcPts val="1400"/>
              </a:spcBef>
            </a:pPr>
            <a:r>
              <a:rPr sz="2000" dirty="0">
                <a:solidFill>
                  <a:srgbClr val="0F172A"/>
                </a:solidFill>
                <a:latin typeface="Arial"/>
              </a:rPr>
              <a:t>Complete repair catalog list with categories (Audio, Lighting, Visual, General), equipment bench images, diagnosis highlights, and component tags, matching the pro-audio positioning of the brand.</a:t>
            </a:r>
          </a:p>
          <a:p>
            <a:pPr>
              <a:spcBef>
                <a:spcPts val="1400"/>
              </a:spcBef>
            </a:pPr>
            <a:r>
              <a:rPr sz="2000" dirty="0">
                <a:solidFill>
                  <a:srgbClr val="0F172A"/>
                </a:solidFill>
                <a:latin typeface="Arial"/>
              </a:rPr>
              <a:t>Business details to be displayed: physical workshop address in </a:t>
            </a:r>
            <a:r>
              <a:rPr sz="2000" dirty="0" err="1">
                <a:solidFill>
                  <a:srgbClr val="0F172A"/>
                </a:solidFill>
                <a:latin typeface="Arial"/>
              </a:rPr>
              <a:t>Udhna</a:t>
            </a:r>
            <a:r>
              <a:rPr sz="2000" dirty="0">
                <a:solidFill>
                  <a:srgbClr val="0F172A"/>
                </a:solidFill>
                <a:latin typeface="Arial"/>
              </a:rPr>
              <a:t> Yard, direct contact helpline (+91 98254 85520), and social media links (Instagram/WhatsApp/Facebook).</a:t>
            </a:r>
          </a:p>
          <a:p>
            <a:pPr>
              <a:spcBef>
                <a:spcPts val="1400"/>
              </a:spcBef>
            </a:pPr>
            <a:r>
              <a:rPr sz="2000" dirty="0">
                <a:solidFill>
                  <a:srgbClr val="0F172A"/>
                </a:solidFill>
                <a:latin typeface="Arial"/>
              </a:rPr>
              <a:t>Direct WhatsApp communication support that avoids the commission charged by third-party marketplace platforms.</a:t>
            </a:r>
          </a:p>
          <a:p>
            <a:pPr>
              <a:spcBef>
                <a:spcPts val="1400"/>
              </a:spcBef>
            </a:pPr>
            <a:r>
              <a:rPr sz="2000" dirty="0">
                <a:solidFill>
                  <a:srgbClr val="0F172A"/>
                </a:solidFill>
                <a:latin typeface="Arial"/>
              </a:rPr>
              <a:t>A simple way for the workshop technician to showcase specialized skills (voice coil rewinding, Sharpy moving head calibration, power amplifier transistor balancing).</a:t>
            </a:r>
          </a:p>
          <a:p>
            <a:pPr>
              <a:spcBef>
                <a:spcPts val="1400"/>
              </a:spcBef>
            </a:pPr>
            <a:r>
              <a:rPr sz="2000" dirty="0">
                <a:solidFill>
                  <a:srgbClr val="0F172A"/>
                </a:solidFill>
                <a:latin typeface="Arial"/>
              </a:rPr>
              <a:t>A clean, mobile-friendly design consistent with Vikash </a:t>
            </a:r>
            <a:r>
              <a:rPr sz="2000" dirty="0" err="1">
                <a:solidFill>
                  <a:srgbClr val="0F172A"/>
                </a:solidFill>
                <a:latin typeface="Arial"/>
              </a:rPr>
              <a:t>Electronics's</a:t>
            </a:r>
            <a:r>
              <a:rPr sz="2000" dirty="0">
                <a:solidFill>
                  <a:srgbClr val="0F172A"/>
                </a:solidFill>
                <a:latin typeface="Arial"/>
              </a:rPr>
              <a:t> existing pro-audio stage and DJ equipment identity.</a:t>
            </a:r>
          </a:p>
          <a:p>
            <a:pPr>
              <a:spcBef>
                <a:spcPts val="1400"/>
              </a:spcBef>
            </a:pPr>
            <a:r>
              <a:rPr sz="2000" dirty="0">
                <a:solidFill>
                  <a:srgbClr val="0F172A"/>
                </a:solidFill>
                <a:latin typeface="Arial"/>
              </a:rPr>
              <a:t>Easy updates to repair catalog items and pricing without needing developer help each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Requirement Engineering</a:t>
            </a:r>
          </a:p>
          <a:p>
            <a:pPr algn="ctr">
              <a:spcBef>
                <a:spcPts val="400"/>
              </a:spcBef>
            </a:pPr>
            <a:r>
              <a:rPr sz="2200" b="1">
                <a:solidFill>
                  <a:srgbClr val="DC2626"/>
                </a:solidFill>
                <a:latin typeface="Arial"/>
              </a:rPr>
              <a:t>(Functional Requirements)</a:t>
            </a:r>
          </a:p>
        </p:txBody>
      </p:sp>
      <p:sp>
        <p:nvSpPr>
          <p:cNvPr id="3" name="TextBox 2"/>
          <p:cNvSpPr txBox="1"/>
          <p:nvPr/>
        </p:nvSpPr>
        <p:spPr>
          <a:xfrm>
            <a:off x="914400" y="1371600"/>
            <a:ext cx="10332720" cy="457200"/>
          </a:xfrm>
          <a:prstGeom prst="rect">
            <a:avLst/>
          </a:prstGeom>
          <a:noFill/>
        </p:spPr>
        <p:txBody>
          <a:bodyPr wrap="none">
            <a:spAutoFit/>
          </a:bodyPr>
          <a:lstStyle/>
          <a:p>
            <a:pPr>
              <a:defRPr sz="1400">
                <a:solidFill>
                  <a:srgbClr val="0F172A"/>
                </a:solidFill>
                <a:latin typeface="Arial"/>
              </a:defRPr>
            </a:pPr>
            <a:r>
              <a:t>Enlisted below are the functional requirements for the website:</a:t>
            </a:r>
          </a:p>
        </p:txBody>
      </p:sp>
      <p:graphicFrame>
        <p:nvGraphicFramePr>
          <p:cNvPr id="4" name="Table 3"/>
          <p:cNvGraphicFramePr>
            <a:graphicFrameLocks noGrp="1"/>
          </p:cNvGraphicFramePr>
          <p:nvPr/>
        </p:nvGraphicFramePr>
        <p:xfrm>
          <a:off x="914400" y="2011680"/>
          <a:ext cx="10332720" cy="32918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658368">
                <a:tc>
                  <a:txBody>
                    <a:bodyPr/>
                    <a:lstStyle/>
                    <a:p>
                      <a:pPr>
                        <a:defRPr sz="1300" b="1">
                          <a:solidFill>
                            <a:srgbClr val="0F172A"/>
                          </a:solidFill>
                        </a:defRPr>
                      </a:pPr>
                      <a:r>
                        <a:t>FR-1</a:t>
                      </a:r>
                    </a:p>
                  </a:txBody>
                  <a:tcPr>
                    <a:solidFill>
                      <a:srgbClr val="E6CCCC"/>
                    </a:solidFill>
                  </a:tcPr>
                </a:tc>
                <a:tc>
                  <a:txBody>
                    <a:bodyPr/>
                    <a:lstStyle/>
                    <a:p>
                      <a:pPr>
                        <a:defRPr sz="1300" b="1">
                          <a:solidFill>
                            <a:srgbClr val="0F172A"/>
                          </a:solidFill>
                        </a:defRPr>
                      </a:pPr>
                      <a:r>
                        <a:t>Service Showcase &amp; Multi-Category Filtering</a:t>
                      </a:r>
                    </a:p>
                  </a:txBody>
                  <a:tcPr>
                    <a:solidFill>
                      <a:srgbClr val="E6CCCC"/>
                    </a:solidFill>
                  </a:tcPr>
                </a:tc>
                <a:extLst>
                  <a:ext uri="{0D108BD9-81ED-4DB2-BD59-A6C34878D82A}">
                    <a16:rowId xmlns:a16="http://schemas.microsoft.com/office/drawing/2014/main" val="10000"/>
                  </a:ext>
                </a:extLst>
              </a:tr>
              <a:tr h="658368">
                <a:tc>
                  <a:txBody>
                    <a:bodyPr/>
                    <a:lstStyle/>
                    <a:p>
                      <a:pPr>
                        <a:defRPr sz="1200" b="1">
                          <a:solidFill>
                            <a:srgbClr val="0F172A"/>
                          </a:solidFill>
                        </a:defRPr>
                      </a:pPr>
                      <a:r>
                        <a:t>Description</a:t>
                      </a:r>
                    </a:p>
                  </a:txBody>
                  <a:tcPr>
                    <a:solidFill>
                      <a:srgbClr val="FFFFFF"/>
                    </a:solidFill>
                  </a:tcPr>
                </a:tc>
                <a:tc>
                  <a:txBody>
                    <a:bodyPr/>
                    <a:lstStyle/>
                    <a:p>
                      <a:pPr>
                        <a:defRPr sz="1200">
                          <a:solidFill>
                            <a:srgbClr val="0F172A"/>
                          </a:solidFill>
                        </a:defRPr>
                      </a:pPr>
                      <a:r>
                        <a:t>Used to let customers browse electronic repair services filtered by Audio, Lighting, Visual, and General categories.</a:t>
                      </a:r>
                    </a:p>
                  </a:txBody>
                  <a:tcPr>
                    <a:solidFill>
                      <a:srgbClr val="FFFFFF"/>
                    </a:solidFill>
                  </a:tcPr>
                </a:tc>
                <a:extLst>
                  <a:ext uri="{0D108BD9-81ED-4DB2-BD59-A6C34878D82A}">
                    <a16:rowId xmlns:a16="http://schemas.microsoft.com/office/drawing/2014/main" val="10001"/>
                  </a:ext>
                </a:extLst>
              </a:tr>
              <a:tr h="658368">
                <a:tc>
                  <a:txBody>
                    <a:bodyPr/>
                    <a:lstStyle/>
                    <a:p>
                      <a:pPr>
                        <a:defRPr sz="1200" b="1">
                          <a:solidFill>
                            <a:srgbClr val="0F172A"/>
                          </a:solidFill>
                        </a:defRPr>
                      </a:pPr>
                      <a:r>
                        <a:t>Actor(s)</a:t>
                      </a:r>
                    </a:p>
                  </a:txBody>
                  <a:tcPr>
                    <a:solidFill>
                      <a:srgbClr val="FFFFFF"/>
                    </a:solidFill>
                  </a:tcPr>
                </a:tc>
                <a:tc>
                  <a:txBody>
                    <a:bodyPr/>
                    <a:lstStyle/>
                    <a:p>
                      <a:pPr>
                        <a:defRPr sz="1200">
                          <a:solidFill>
                            <a:srgbClr val="0F172A"/>
                          </a:solidFill>
                        </a:defRPr>
                      </a:pPr>
                      <a:r>
                        <a:t>Customer (DJ, Event Organizer, Consumer)</a:t>
                      </a:r>
                    </a:p>
                  </a:txBody>
                  <a:tcPr>
                    <a:solidFill>
                      <a:srgbClr val="FFFFFF"/>
                    </a:solidFill>
                  </a:tcPr>
                </a:tc>
                <a:extLst>
                  <a:ext uri="{0D108BD9-81ED-4DB2-BD59-A6C34878D82A}">
                    <a16:rowId xmlns:a16="http://schemas.microsoft.com/office/drawing/2014/main" val="10002"/>
                  </a:ext>
                </a:extLst>
              </a:tr>
              <a:tr h="658368">
                <a:tc>
                  <a:txBody>
                    <a:bodyPr/>
                    <a:lstStyle/>
                    <a:p>
                      <a:pPr>
                        <a:defRPr sz="1200" b="1">
                          <a:solidFill>
                            <a:srgbClr val="0F172A"/>
                          </a:solidFill>
                        </a:defRPr>
                      </a:pPr>
                      <a:r>
                        <a:t>Input(s)</a:t>
                      </a:r>
                    </a:p>
                  </a:txBody>
                  <a:tcPr>
                    <a:solidFill>
                      <a:srgbClr val="FFFFFF"/>
                    </a:solidFill>
                  </a:tcPr>
                </a:tc>
                <a:tc>
                  <a:txBody>
                    <a:bodyPr/>
                    <a:lstStyle/>
                    <a:p>
                      <a:pPr>
                        <a:defRPr sz="1200">
                          <a:solidFill>
                            <a:srgbClr val="0F172A"/>
                          </a:solidFill>
                        </a:defRPr>
                      </a:pPr>
                      <a:r>
                        <a:t>Category tab selection (Audio, Lighting, Visual, General), equipment service selection.</a:t>
                      </a:r>
                    </a:p>
                  </a:txBody>
                  <a:tcPr>
                    <a:solidFill>
                      <a:srgbClr val="FFFFFF"/>
                    </a:solidFill>
                  </a:tcPr>
                </a:tc>
                <a:extLst>
                  <a:ext uri="{0D108BD9-81ED-4DB2-BD59-A6C34878D82A}">
                    <a16:rowId xmlns:a16="http://schemas.microsoft.com/office/drawing/2014/main" val="10003"/>
                  </a:ext>
                </a:extLst>
              </a:tr>
              <a:tr h="658368">
                <a:tc>
                  <a:txBody>
                    <a:bodyPr/>
                    <a:lstStyle/>
                    <a:p>
                      <a:pPr>
                        <a:defRPr sz="1200" b="1">
                          <a:solidFill>
                            <a:srgbClr val="0F172A"/>
                          </a:solidFill>
                        </a:defRPr>
                      </a:pPr>
                      <a:r>
                        <a:t>Output(s)</a:t>
                      </a:r>
                    </a:p>
                  </a:txBody>
                  <a:tcPr>
                    <a:solidFill>
                      <a:srgbClr val="FFFFFF"/>
                    </a:solidFill>
                  </a:tcPr>
                </a:tc>
                <a:tc>
                  <a:txBody>
                    <a:bodyPr/>
                    <a:lstStyle/>
                    <a:p>
                      <a:pPr>
                        <a:defRPr sz="1200">
                          <a:solidFill>
                            <a:srgbClr val="0F172A"/>
                          </a:solidFill>
                        </a:defRPr>
                      </a:pPr>
                      <a:r>
                        <a:t>Interactive service cards rendered with technical failure details, diagnostic highlights, and repair specifications.</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Requirement Engineering</a:t>
            </a:r>
          </a:p>
          <a:p>
            <a:pPr algn="ctr">
              <a:spcBef>
                <a:spcPts val="400"/>
              </a:spcBef>
            </a:pPr>
            <a:r>
              <a:rPr sz="2200" b="1">
                <a:solidFill>
                  <a:srgbClr val="DC2626"/>
                </a:solidFill>
                <a:latin typeface="Arial"/>
              </a:rPr>
              <a:t>(Functional Requirements)</a:t>
            </a:r>
          </a:p>
        </p:txBody>
      </p:sp>
      <p:graphicFrame>
        <p:nvGraphicFramePr>
          <p:cNvPr id="3" name="Table 2"/>
          <p:cNvGraphicFramePr>
            <a:graphicFrameLocks noGrp="1"/>
          </p:cNvGraphicFramePr>
          <p:nvPr/>
        </p:nvGraphicFramePr>
        <p:xfrm>
          <a:off x="914400" y="1828800"/>
          <a:ext cx="10332720" cy="32918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658368">
                <a:tc>
                  <a:txBody>
                    <a:bodyPr/>
                    <a:lstStyle/>
                    <a:p>
                      <a:pPr>
                        <a:defRPr sz="1300" b="1">
                          <a:solidFill>
                            <a:srgbClr val="0F172A"/>
                          </a:solidFill>
                        </a:defRPr>
                      </a:pPr>
                      <a:r>
                        <a:t>FR-2</a:t>
                      </a:r>
                    </a:p>
                  </a:txBody>
                  <a:tcPr>
                    <a:solidFill>
                      <a:srgbClr val="E6CCCC"/>
                    </a:solidFill>
                  </a:tcPr>
                </a:tc>
                <a:tc>
                  <a:txBody>
                    <a:bodyPr/>
                    <a:lstStyle/>
                    <a:p>
                      <a:pPr>
                        <a:defRPr sz="1300" b="1">
                          <a:solidFill>
                            <a:srgbClr val="0F172A"/>
                          </a:solidFill>
                        </a:defRPr>
                      </a:pPr>
                      <a:r>
                        <a:t>Direct Emergency Call &amp; WhatsApp Consultation</a:t>
                      </a:r>
                    </a:p>
                  </a:txBody>
                  <a:tcPr>
                    <a:solidFill>
                      <a:srgbClr val="E6CCCC"/>
                    </a:solidFill>
                  </a:tcPr>
                </a:tc>
                <a:extLst>
                  <a:ext uri="{0D108BD9-81ED-4DB2-BD59-A6C34878D82A}">
                    <a16:rowId xmlns:a16="http://schemas.microsoft.com/office/drawing/2014/main" val="10000"/>
                  </a:ext>
                </a:extLst>
              </a:tr>
              <a:tr h="658368">
                <a:tc>
                  <a:txBody>
                    <a:bodyPr/>
                    <a:lstStyle/>
                    <a:p>
                      <a:pPr>
                        <a:defRPr sz="1200" b="1">
                          <a:solidFill>
                            <a:srgbClr val="0F172A"/>
                          </a:solidFill>
                        </a:defRPr>
                      </a:pPr>
                      <a:r>
                        <a:t>Description</a:t>
                      </a:r>
                    </a:p>
                  </a:txBody>
                  <a:tcPr>
                    <a:solidFill>
                      <a:srgbClr val="FFFFFF"/>
                    </a:solidFill>
                  </a:tcPr>
                </a:tc>
                <a:tc>
                  <a:txBody>
                    <a:bodyPr/>
                    <a:lstStyle/>
                    <a:p>
                      <a:pPr>
                        <a:defRPr sz="1200">
                          <a:solidFill>
                            <a:srgbClr val="0F172A"/>
                          </a:solidFill>
                        </a:defRPr>
                      </a:pPr>
                      <a:r>
                        <a:t>Used to let the customer initiate instant telephonic or WhatsApp consultation directly with the technician.</a:t>
                      </a:r>
                    </a:p>
                  </a:txBody>
                  <a:tcPr>
                    <a:solidFill>
                      <a:srgbClr val="FFFFFF"/>
                    </a:solidFill>
                  </a:tcPr>
                </a:tc>
                <a:extLst>
                  <a:ext uri="{0D108BD9-81ED-4DB2-BD59-A6C34878D82A}">
                    <a16:rowId xmlns:a16="http://schemas.microsoft.com/office/drawing/2014/main" val="10001"/>
                  </a:ext>
                </a:extLst>
              </a:tr>
              <a:tr h="658368">
                <a:tc>
                  <a:txBody>
                    <a:bodyPr/>
                    <a:lstStyle/>
                    <a:p>
                      <a:pPr>
                        <a:defRPr sz="1200" b="1">
                          <a:solidFill>
                            <a:srgbClr val="0F172A"/>
                          </a:solidFill>
                        </a:defRPr>
                      </a:pPr>
                      <a:r>
                        <a:t>Actor(s)</a:t>
                      </a:r>
                    </a:p>
                  </a:txBody>
                  <a:tcPr>
                    <a:solidFill>
                      <a:srgbClr val="FFFFFF"/>
                    </a:solidFill>
                  </a:tcPr>
                </a:tc>
                <a:tc>
                  <a:txBody>
                    <a:bodyPr/>
                    <a:lstStyle/>
                    <a:p>
                      <a:pPr>
                        <a:defRPr sz="1200">
                          <a:solidFill>
                            <a:srgbClr val="0F172A"/>
                          </a:solidFill>
                        </a:defRPr>
                      </a:pPr>
                      <a:r>
                        <a:t>Customer, Chief Technician (Murlidhar Chaudhari)</a:t>
                      </a:r>
                    </a:p>
                  </a:txBody>
                  <a:tcPr>
                    <a:solidFill>
                      <a:srgbClr val="FFFFFF"/>
                    </a:solidFill>
                  </a:tcPr>
                </a:tc>
                <a:extLst>
                  <a:ext uri="{0D108BD9-81ED-4DB2-BD59-A6C34878D82A}">
                    <a16:rowId xmlns:a16="http://schemas.microsoft.com/office/drawing/2014/main" val="10002"/>
                  </a:ext>
                </a:extLst>
              </a:tr>
              <a:tr h="658368">
                <a:tc>
                  <a:txBody>
                    <a:bodyPr/>
                    <a:lstStyle/>
                    <a:p>
                      <a:pPr>
                        <a:defRPr sz="1200" b="1">
                          <a:solidFill>
                            <a:srgbClr val="0F172A"/>
                          </a:solidFill>
                        </a:defRPr>
                      </a:pPr>
                      <a:r>
                        <a:t>Input(s)</a:t>
                      </a:r>
                    </a:p>
                  </a:txBody>
                  <a:tcPr>
                    <a:solidFill>
                      <a:srgbClr val="FFFFFF"/>
                    </a:solidFill>
                  </a:tcPr>
                </a:tc>
                <a:tc>
                  <a:txBody>
                    <a:bodyPr/>
                    <a:lstStyle/>
                    <a:p>
                      <a:pPr>
                        <a:defRPr sz="1200">
                          <a:solidFill>
                            <a:srgbClr val="0F172A"/>
                          </a:solidFill>
                        </a:defRPr>
                      </a:pPr>
                      <a:r>
                        <a:t>Customer clicks 'Call Now' (+91 98254 85520) or 'Inquire on WhatsApp' action button on any service card.</a:t>
                      </a:r>
                    </a:p>
                  </a:txBody>
                  <a:tcPr>
                    <a:solidFill>
                      <a:srgbClr val="FFFFFF"/>
                    </a:solidFill>
                  </a:tcPr>
                </a:tc>
                <a:extLst>
                  <a:ext uri="{0D108BD9-81ED-4DB2-BD59-A6C34878D82A}">
                    <a16:rowId xmlns:a16="http://schemas.microsoft.com/office/drawing/2014/main" val="10003"/>
                  </a:ext>
                </a:extLst>
              </a:tr>
              <a:tr h="658368">
                <a:tc>
                  <a:txBody>
                    <a:bodyPr/>
                    <a:lstStyle/>
                    <a:p>
                      <a:pPr>
                        <a:defRPr sz="1200" b="1">
                          <a:solidFill>
                            <a:srgbClr val="0F172A"/>
                          </a:solidFill>
                        </a:defRPr>
                      </a:pPr>
                      <a:r>
                        <a:t>Output(s)</a:t>
                      </a:r>
                    </a:p>
                  </a:txBody>
                  <a:tcPr>
                    <a:solidFill>
                      <a:srgbClr val="FFFFFF"/>
                    </a:solidFill>
                  </a:tcPr>
                </a:tc>
                <a:tc>
                  <a:txBody>
                    <a:bodyPr/>
                    <a:lstStyle/>
                    <a:p>
                      <a:pPr>
                        <a:defRPr sz="1200">
                          <a:solidFill>
                            <a:srgbClr val="0F172A"/>
                          </a:solidFill>
                        </a:defRPr>
                      </a:pPr>
                      <a:r>
                        <a:t>Native phone dialer prompted with business number, or WhatsApp window launched with pre-filled fault query text.</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Requirement Engineering</a:t>
            </a:r>
          </a:p>
          <a:p>
            <a:pPr algn="ctr">
              <a:spcBef>
                <a:spcPts val="400"/>
              </a:spcBef>
            </a:pPr>
            <a:r>
              <a:rPr sz="2200" b="1">
                <a:solidFill>
                  <a:srgbClr val="DC2626"/>
                </a:solidFill>
                <a:latin typeface="Arial"/>
              </a:rPr>
              <a:t>(Functional Requirements)</a:t>
            </a:r>
          </a:p>
        </p:txBody>
      </p:sp>
      <p:graphicFrame>
        <p:nvGraphicFramePr>
          <p:cNvPr id="3" name="Table 2"/>
          <p:cNvGraphicFramePr>
            <a:graphicFrameLocks noGrp="1"/>
          </p:cNvGraphicFramePr>
          <p:nvPr/>
        </p:nvGraphicFramePr>
        <p:xfrm>
          <a:off x="914400" y="1828800"/>
          <a:ext cx="10332720" cy="32918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658368">
                <a:tc>
                  <a:txBody>
                    <a:bodyPr/>
                    <a:lstStyle/>
                    <a:p>
                      <a:pPr>
                        <a:defRPr sz="1300" b="1">
                          <a:solidFill>
                            <a:srgbClr val="0F172A"/>
                          </a:solidFill>
                        </a:defRPr>
                      </a:pPr>
                      <a:r>
                        <a:t>FR-3</a:t>
                      </a:r>
                    </a:p>
                  </a:txBody>
                  <a:tcPr>
                    <a:solidFill>
                      <a:srgbClr val="E6CCCC"/>
                    </a:solidFill>
                  </a:tcPr>
                </a:tc>
                <a:tc>
                  <a:txBody>
                    <a:bodyPr/>
                    <a:lstStyle/>
                    <a:p>
                      <a:pPr>
                        <a:defRPr sz="1300" b="1">
                          <a:solidFill>
                            <a:srgbClr val="0F172A"/>
                          </a:solidFill>
                        </a:defRPr>
                      </a:pPr>
                      <a:r>
                        <a:t>Workshop Geolocation &amp; Turn-by-Turn Navigation</a:t>
                      </a:r>
                    </a:p>
                  </a:txBody>
                  <a:tcPr>
                    <a:solidFill>
                      <a:srgbClr val="E6CCCC"/>
                    </a:solidFill>
                  </a:tcPr>
                </a:tc>
                <a:extLst>
                  <a:ext uri="{0D108BD9-81ED-4DB2-BD59-A6C34878D82A}">
                    <a16:rowId xmlns:a16="http://schemas.microsoft.com/office/drawing/2014/main" val="10000"/>
                  </a:ext>
                </a:extLst>
              </a:tr>
              <a:tr h="658368">
                <a:tc>
                  <a:txBody>
                    <a:bodyPr/>
                    <a:lstStyle/>
                    <a:p>
                      <a:pPr>
                        <a:defRPr sz="1200" b="1">
                          <a:solidFill>
                            <a:srgbClr val="0F172A"/>
                          </a:solidFill>
                        </a:defRPr>
                      </a:pPr>
                      <a:r>
                        <a:t>Description</a:t>
                      </a:r>
                    </a:p>
                  </a:txBody>
                  <a:tcPr>
                    <a:solidFill>
                      <a:srgbClr val="FFFFFF"/>
                    </a:solidFill>
                  </a:tcPr>
                </a:tc>
                <a:tc>
                  <a:txBody>
                    <a:bodyPr/>
                    <a:lstStyle/>
                    <a:p>
                      <a:pPr>
                        <a:defRPr sz="1200">
                          <a:solidFill>
                            <a:srgbClr val="0F172A"/>
                          </a:solidFill>
                        </a:defRPr>
                      </a:pPr>
                      <a:r>
                        <a:t>Used to display the exact workshop location in Udhna Yard, Surat and provide GPS routing for equipment drop-off.</a:t>
                      </a:r>
                    </a:p>
                  </a:txBody>
                  <a:tcPr>
                    <a:solidFill>
                      <a:srgbClr val="FFFFFF"/>
                    </a:solidFill>
                  </a:tcPr>
                </a:tc>
                <a:extLst>
                  <a:ext uri="{0D108BD9-81ED-4DB2-BD59-A6C34878D82A}">
                    <a16:rowId xmlns:a16="http://schemas.microsoft.com/office/drawing/2014/main" val="10001"/>
                  </a:ext>
                </a:extLst>
              </a:tr>
              <a:tr h="658368">
                <a:tc>
                  <a:txBody>
                    <a:bodyPr/>
                    <a:lstStyle/>
                    <a:p>
                      <a:pPr>
                        <a:defRPr sz="1200" b="1">
                          <a:solidFill>
                            <a:srgbClr val="0F172A"/>
                          </a:solidFill>
                        </a:defRPr>
                      </a:pPr>
                      <a:r>
                        <a:t>Actor(s)</a:t>
                      </a:r>
                    </a:p>
                  </a:txBody>
                  <a:tcPr>
                    <a:solidFill>
                      <a:srgbClr val="FFFFFF"/>
                    </a:solidFill>
                  </a:tcPr>
                </a:tc>
                <a:tc>
                  <a:txBody>
                    <a:bodyPr/>
                    <a:lstStyle/>
                    <a:p>
                      <a:pPr>
                        <a:defRPr sz="1200">
                          <a:solidFill>
                            <a:srgbClr val="0F172A"/>
                          </a:solidFill>
                        </a:defRPr>
                      </a:pPr>
                      <a:r>
                        <a:t>Customer</a:t>
                      </a:r>
                    </a:p>
                  </a:txBody>
                  <a:tcPr>
                    <a:solidFill>
                      <a:srgbClr val="FFFFFF"/>
                    </a:solidFill>
                  </a:tcPr>
                </a:tc>
                <a:extLst>
                  <a:ext uri="{0D108BD9-81ED-4DB2-BD59-A6C34878D82A}">
                    <a16:rowId xmlns:a16="http://schemas.microsoft.com/office/drawing/2014/main" val="10002"/>
                  </a:ext>
                </a:extLst>
              </a:tr>
              <a:tr h="658368">
                <a:tc>
                  <a:txBody>
                    <a:bodyPr/>
                    <a:lstStyle/>
                    <a:p>
                      <a:pPr>
                        <a:defRPr sz="1200" b="1">
                          <a:solidFill>
                            <a:srgbClr val="0F172A"/>
                          </a:solidFill>
                        </a:defRPr>
                      </a:pPr>
                      <a:r>
                        <a:t>Input(s)</a:t>
                      </a:r>
                    </a:p>
                  </a:txBody>
                  <a:tcPr>
                    <a:solidFill>
                      <a:srgbClr val="FFFFFF"/>
                    </a:solidFill>
                  </a:tcPr>
                </a:tc>
                <a:tc>
                  <a:txBody>
                    <a:bodyPr/>
                    <a:lstStyle/>
                    <a:p>
                      <a:pPr>
                        <a:defRPr sz="1200">
                          <a:solidFill>
                            <a:srgbClr val="0F172A"/>
                          </a:solidFill>
                        </a:defRPr>
                      </a:pPr>
                      <a:r>
                        <a:t>Customer scrolls to Contact section or selects 'Get Directions' on Google Map.</a:t>
                      </a:r>
                    </a:p>
                  </a:txBody>
                  <a:tcPr>
                    <a:solidFill>
                      <a:srgbClr val="FFFFFF"/>
                    </a:solidFill>
                  </a:tcPr>
                </a:tc>
                <a:extLst>
                  <a:ext uri="{0D108BD9-81ED-4DB2-BD59-A6C34878D82A}">
                    <a16:rowId xmlns:a16="http://schemas.microsoft.com/office/drawing/2014/main" val="10003"/>
                  </a:ext>
                </a:extLst>
              </a:tr>
              <a:tr h="658368">
                <a:tc>
                  <a:txBody>
                    <a:bodyPr/>
                    <a:lstStyle/>
                    <a:p>
                      <a:pPr>
                        <a:defRPr sz="1200" b="1">
                          <a:solidFill>
                            <a:srgbClr val="0F172A"/>
                          </a:solidFill>
                        </a:defRPr>
                      </a:pPr>
                      <a:r>
                        <a:t>Output(s)</a:t>
                      </a:r>
                    </a:p>
                  </a:txBody>
                  <a:tcPr>
                    <a:solidFill>
                      <a:srgbClr val="FFFFFF"/>
                    </a:solidFill>
                  </a:tcPr>
                </a:tc>
                <a:tc>
                  <a:txBody>
                    <a:bodyPr/>
                    <a:lstStyle/>
                    <a:p>
                      <a:pPr>
                        <a:defRPr sz="1200">
                          <a:solidFill>
                            <a:srgbClr val="0F172A"/>
                          </a:solidFill>
                        </a:defRPr>
                      </a:pPr>
                      <a:r>
                        <a:t>Embedded interactive Google Map centered on Plot 199, Sanjay Nagar, Udhna Yard, with GPS navigation route generated.</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Software Development Model</a:t>
            </a:r>
          </a:p>
        </p:txBody>
      </p:sp>
      <p:sp>
        <p:nvSpPr>
          <p:cNvPr id="3" name="TextBox 2"/>
          <p:cNvSpPr txBox="1"/>
          <p:nvPr/>
        </p:nvSpPr>
        <p:spPr>
          <a:xfrm>
            <a:off x="1097280" y="1554480"/>
            <a:ext cx="9966960" cy="2011680"/>
          </a:xfrm>
          <a:prstGeom prst="rect">
            <a:avLst/>
          </a:prstGeom>
          <a:noFill/>
        </p:spPr>
        <p:txBody>
          <a:bodyPr wrap="square">
            <a:spAutoFit/>
          </a:bodyPr>
          <a:lstStyle/>
          <a:p>
            <a:r>
              <a:rPr sz="1400" b="1">
                <a:solidFill>
                  <a:srgbClr val="0F172A"/>
                </a:solidFill>
              </a:rPr>
              <a:t>This project follows the Agile (Scrum) development model</a:t>
            </a:r>
          </a:p>
          <a:p>
            <a:pPr>
              <a:spcBef>
                <a:spcPts val="800"/>
              </a:spcBef>
            </a:pPr>
            <a:r>
              <a:rPr sz="1300">
                <a:solidFill>
                  <a:srgbClr val="0F172A"/>
                </a:solidFill>
              </a:rPr>
              <a:t>Work is broken into short sprints, each delivering a usable increment — e.g., service catalog first, then category filtering, then direct WhatsApp integration, then map navigation</a:t>
            </a:r>
          </a:p>
          <a:p>
            <a:pPr>
              <a:spcBef>
                <a:spcPts val="800"/>
              </a:spcBef>
            </a:pPr>
            <a:r>
              <a:rPr sz="1300">
                <a:solidFill>
                  <a:srgbClr val="0F172A"/>
                </a:solidFill>
              </a:rPr>
              <a:t>Each sprint includes planning, development, testing, and a review with the client before moving to the next module</a:t>
            </a:r>
          </a:p>
        </p:txBody>
      </p:sp>
      <p:sp>
        <p:nvSpPr>
          <p:cNvPr id="4" name="Rounded Rectangle 3"/>
          <p:cNvSpPr/>
          <p:nvPr/>
        </p:nvSpPr>
        <p:spPr>
          <a:xfrm>
            <a:off x="128016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Plan</a:t>
            </a:r>
          </a:p>
        </p:txBody>
      </p:sp>
      <p:sp>
        <p:nvSpPr>
          <p:cNvPr id="5" name="Right Arrow 4"/>
          <p:cNvSpPr/>
          <p:nvPr/>
        </p:nvSpPr>
        <p:spPr>
          <a:xfrm>
            <a:off x="2999232" y="4206240"/>
            <a:ext cx="219456"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9184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Design</a:t>
            </a:r>
          </a:p>
        </p:txBody>
      </p:sp>
      <p:sp>
        <p:nvSpPr>
          <p:cNvPr id="7" name="Right Arrow 6"/>
          <p:cNvSpPr/>
          <p:nvPr/>
        </p:nvSpPr>
        <p:spPr>
          <a:xfrm>
            <a:off x="5010912" y="4206240"/>
            <a:ext cx="219456"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Develop</a:t>
            </a:r>
          </a:p>
        </p:txBody>
      </p:sp>
      <p:sp>
        <p:nvSpPr>
          <p:cNvPr id="9" name="Right Arrow 8"/>
          <p:cNvSpPr/>
          <p:nvPr/>
        </p:nvSpPr>
        <p:spPr>
          <a:xfrm>
            <a:off x="7022592" y="4206240"/>
            <a:ext cx="219456"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Test</a:t>
            </a:r>
          </a:p>
        </p:txBody>
      </p:sp>
      <p:sp>
        <p:nvSpPr>
          <p:cNvPr id="11" name="Right Arrow 10"/>
          <p:cNvSpPr/>
          <p:nvPr/>
        </p:nvSpPr>
        <p:spPr>
          <a:xfrm>
            <a:off x="9034272" y="4206240"/>
            <a:ext cx="219456"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32688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Review</a:t>
            </a:r>
          </a:p>
        </p:txBody>
      </p:sp>
      <p:sp>
        <p:nvSpPr>
          <p:cNvPr id="13" name="Rectangle 12"/>
          <p:cNvSpPr/>
          <p:nvPr/>
        </p:nvSpPr>
        <p:spPr>
          <a:xfrm>
            <a:off x="2103120" y="5166360"/>
            <a:ext cx="80467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Up Arrow 13"/>
          <p:cNvSpPr/>
          <p:nvPr/>
        </p:nvSpPr>
        <p:spPr>
          <a:xfrm>
            <a:off x="2011680" y="4800600"/>
            <a:ext cx="182880" cy="365760"/>
          </a:xfrm>
          <a:prstGeom prst="up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149840" y="4754880"/>
            <a:ext cx="36576"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5486400"/>
            <a:ext cx="10332720" cy="548640"/>
          </a:xfrm>
          <a:prstGeom prst="rect">
            <a:avLst/>
          </a:prstGeom>
          <a:noFill/>
        </p:spPr>
        <p:txBody>
          <a:bodyPr wrap="none">
            <a:spAutoFit/>
          </a:bodyPr>
          <a:lstStyle/>
          <a:p>
            <a:pPr algn="ctr"/>
            <a:r>
              <a:rPr sz="1200">
                <a:solidFill>
                  <a:srgbClr val="0F172A"/>
                </a:solidFill>
              </a:rPr>
              <a:t>repeats every sprint, with client review at the end of each cycle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(Developing the use cases)</a:t>
            </a:r>
          </a:p>
        </p:txBody>
      </p:sp>
      <p:sp>
        <p:nvSpPr>
          <p:cNvPr id="3" name="TextBox 2"/>
          <p:cNvSpPr txBox="1"/>
          <p:nvPr/>
        </p:nvSpPr>
        <p:spPr>
          <a:xfrm>
            <a:off x="1097280" y="1252629"/>
            <a:ext cx="9966960" cy="7048083"/>
          </a:xfrm>
          <a:prstGeom prst="rect">
            <a:avLst/>
          </a:prstGeom>
          <a:noFill/>
        </p:spPr>
        <p:txBody>
          <a:bodyPr wrap="square">
            <a:spAutoFit/>
          </a:bodyPr>
          <a:lstStyle/>
          <a:p>
            <a:pPr>
              <a:spcBef>
                <a:spcPts val="800"/>
              </a:spcBef>
            </a:pPr>
            <a:r>
              <a:rPr sz="2800" dirty="0">
                <a:solidFill>
                  <a:srgbClr val="0F172A"/>
                </a:solidFill>
                <a:latin typeface="Arial"/>
              </a:rPr>
              <a:t>I. Who are the primary and secondary actors?</a:t>
            </a:r>
          </a:p>
          <a:p>
            <a:pPr>
              <a:spcBef>
                <a:spcPts val="800"/>
              </a:spcBef>
            </a:pPr>
            <a:r>
              <a:rPr sz="2800" dirty="0">
                <a:solidFill>
                  <a:srgbClr val="0F172A"/>
                </a:solidFill>
                <a:latin typeface="Arial"/>
              </a:rPr>
              <a:t>II. What are the actor's goal(s)?</a:t>
            </a:r>
          </a:p>
          <a:p>
            <a:pPr>
              <a:spcBef>
                <a:spcPts val="800"/>
              </a:spcBef>
            </a:pPr>
            <a:r>
              <a:rPr sz="2800" dirty="0">
                <a:solidFill>
                  <a:srgbClr val="0F172A"/>
                </a:solidFill>
                <a:latin typeface="Arial"/>
              </a:rPr>
              <a:t>III. What preconditions should exist before the story begins?</a:t>
            </a:r>
          </a:p>
          <a:p>
            <a:pPr>
              <a:spcBef>
                <a:spcPts val="800"/>
              </a:spcBef>
            </a:pPr>
            <a:r>
              <a:rPr sz="2800" dirty="0">
                <a:solidFill>
                  <a:srgbClr val="0F172A"/>
                </a:solidFill>
                <a:latin typeface="Arial"/>
              </a:rPr>
              <a:t>IV. What main tasks or functions are performed by the actor?</a:t>
            </a:r>
          </a:p>
          <a:p>
            <a:pPr>
              <a:spcBef>
                <a:spcPts val="800"/>
              </a:spcBef>
            </a:pPr>
            <a:r>
              <a:rPr sz="2800" dirty="0">
                <a:solidFill>
                  <a:srgbClr val="0F172A"/>
                </a:solidFill>
                <a:latin typeface="Arial"/>
              </a:rPr>
              <a:t>V. What exceptions might be considered as the story is described?</a:t>
            </a:r>
          </a:p>
          <a:p>
            <a:pPr>
              <a:spcBef>
                <a:spcPts val="800"/>
              </a:spcBef>
            </a:pPr>
            <a:r>
              <a:rPr sz="2800" dirty="0">
                <a:solidFill>
                  <a:srgbClr val="0F172A"/>
                </a:solidFill>
                <a:latin typeface="Arial"/>
              </a:rPr>
              <a:t>VI. What variations in the actor's interaction are possible?</a:t>
            </a:r>
          </a:p>
          <a:p>
            <a:pPr>
              <a:spcBef>
                <a:spcPts val="800"/>
              </a:spcBef>
            </a:pPr>
            <a:r>
              <a:rPr sz="2800" dirty="0">
                <a:solidFill>
                  <a:srgbClr val="0F172A"/>
                </a:solidFill>
                <a:latin typeface="Arial"/>
              </a:rPr>
              <a:t>VII. What system information will the actor acquire, produce, or change?</a:t>
            </a:r>
          </a:p>
          <a:p>
            <a:pPr>
              <a:spcBef>
                <a:spcPts val="800"/>
              </a:spcBef>
            </a:pPr>
            <a:r>
              <a:rPr sz="2800" dirty="0">
                <a:solidFill>
                  <a:srgbClr val="0F172A"/>
                </a:solidFill>
                <a:latin typeface="Arial"/>
              </a:rPr>
              <a:t>VIII. Will the actor have to inform the system about changes in the external environment?</a:t>
            </a:r>
          </a:p>
          <a:p>
            <a:pPr>
              <a:spcBef>
                <a:spcPts val="800"/>
              </a:spcBef>
            </a:pPr>
            <a:r>
              <a:rPr sz="2800" dirty="0">
                <a:solidFill>
                  <a:srgbClr val="0F172A"/>
                </a:solidFill>
                <a:latin typeface="Arial"/>
              </a:rPr>
              <a:t>IX. What information does the actor desire from the system?</a:t>
            </a:r>
          </a:p>
          <a:p>
            <a:pPr>
              <a:spcBef>
                <a:spcPts val="800"/>
              </a:spcBef>
            </a:pPr>
            <a:r>
              <a:rPr sz="2800" dirty="0">
                <a:solidFill>
                  <a:srgbClr val="0F172A"/>
                </a:solidFill>
                <a:latin typeface="Arial"/>
              </a:rPr>
              <a:t>X. Does the actor wish to be informed about unexpected changes?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(Use Case Diagram)</a:t>
            </a:r>
          </a:p>
        </p:txBody>
      </p:sp>
      <p:sp>
        <p:nvSpPr>
          <p:cNvPr id="3" name="Rounded Rectangle 2"/>
          <p:cNvSpPr/>
          <p:nvPr/>
        </p:nvSpPr>
        <p:spPr>
          <a:xfrm>
            <a:off x="3931920" y="1463040"/>
            <a:ext cx="5120640" cy="4937760"/>
          </a:xfrm>
          <a:prstGeom prst="roundRect">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0" y="6016752"/>
            <a:ext cx="5120640" cy="365760"/>
          </a:xfrm>
          <a:prstGeom prst="rect">
            <a:avLst/>
          </a:prstGeom>
          <a:noFill/>
        </p:spPr>
        <p:txBody>
          <a:bodyPr wrap="none">
            <a:spAutoFit/>
          </a:bodyPr>
          <a:lstStyle/>
          <a:p>
            <a:pPr algn="ctr"/>
            <a:r>
              <a:rPr sz="1200" b="1">
                <a:solidFill>
                  <a:srgbClr val="0F172A"/>
                </a:solidFill>
              </a:rPr>
              <a:t>Vikash Electronics Web Platform</a:t>
            </a:r>
          </a:p>
        </p:txBody>
      </p:sp>
      <p:sp>
        <p:nvSpPr>
          <p:cNvPr id="5" name="Oval 4"/>
          <p:cNvSpPr/>
          <p:nvPr/>
        </p:nvSpPr>
        <p:spPr>
          <a:xfrm>
            <a:off x="4297680" y="1691640"/>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Browse Repair Services Catalog</a:t>
            </a:r>
          </a:p>
        </p:txBody>
      </p:sp>
      <p:sp>
        <p:nvSpPr>
          <p:cNvPr id="6" name="Oval 5"/>
          <p:cNvSpPr/>
          <p:nvPr/>
        </p:nvSpPr>
        <p:spPr>
          <a:xfrm>
            <a:off x="4297680" y="2350008"/>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Filter by Equipment Category</a:t>
            </a:r>
          </a:p>
        </p:txBody>
      </p:sp>
      <p:sp>
        <p:nvSpPr>
          <p:cNvPr id="7" name="Oval 6"/>
          <p:cNvSpPr/>
          <p:nvPr/>
        </p:nvSpPr>
        <p:spPr>
          <a:xfrm>
            <a:off x="4297680" y="3008376"/>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Inspect Fault Diagnostics &amp; Highlights</a:t>
            </a:r>
          </a:p>
        </p:txBody>
      </p:sp>
      <p:sp>
        <p:nvSpPr>
          <p:cNvPr id="8" name="Oval 7"/>
          <p:cNvSpPr/>
          <p:nvPr/>
        </p:nvSpPr>
        <p:spPr>
          <a:xfrm>
            <a:off x="4297680" y="3666744"/>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1-Tap Phone Call (+91 98254 85520)</a:t>
            </a:r>
          </a:p>
        </p:txBody>
      </p:sp>
      <p:sp>
        <p:nvSpPr>
          <p:cNvPr id="9" name="Oval 8"/>
          <p:cNvSpPr/>
          <p:nvPr/>
        </p:nvSpPr>
        <p:spPr>
          <a:xfrm>
            <a:off x="4297680" y="4325112"/>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Inquire via WhatsApp (Pre-filled Query)</a:t>
            </a:r>
          </a:p>
        </p:txBody>
      </p:sp>
      <p:sp>
        <p:nvSpPr>
          <p:cNvPr id="10" name="Oval 9"/>
          <p:cNvSpPr/>
          <p:nvPr/>
        </p:nvSpPr>
        <p:spPr>
          <a:xfrm>
            <a:off x="4297680" y="4983480"/>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Locate Workshop &amp; Navigate (GPS)</a:t>
            </a:r>
          </a:p>
        </p:txBody>
      </p:sp>
      <p:sp>
        <p:nvSpPr>
          <p:cNvPr id="11" name="Oval 10"/>
          <p:cNvSpPr/>
          <p:nvPr/>
        </p:nvSpPr>
        <p:spPr>
          <a:xfrm>
            <a:off x="1554480" y="2682830"/>
            <a:ext cx="365760" cy="36576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715827" y="3062355"/>
            <a:ext cx="18288"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441507" y="3236976"/>
            <a:ext cx="5486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rot="2027610">
            <a:off x="1593452" y="352272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rot="19645433">
            <a:off x="1825164" y="3509613"/>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069080"/>
            <a:ext cx="2194560" cy="548640"/>
          </a:xfrm>
          <a:prstGeom prst="rect">
            <a:avLst/>
          </a:prstGeom>
          <a:noFill/>
        </p:spPr>
        <p:txBody>
          <a:bodyPr wrap="none">
            <a:spAutoFit/>
          </a:bodyPr>
          <a:lstStyle/>
          <a:p>
            <a:pPr algn="ctr"/>
            <a:r>
              <a:rPr sz="1100" b="1">
                <a:solidFill>
                  <a:srgbClr val="0F172A"/>
                </a:solidFill>
              </a:rPr>
              <a:t>Customer
(DJ / Sound Vendor)</a:t>
            </a:r>
          </a:p>
        </p:txBody>
      </p:sp>
      <p:sp>
        <p:nvSpPr>
          <p:cNvPr id="17" name="Rectangle 16"/>
          <p:cNvSpPr/>
          <p:nvPr/>
        </p:nvSpPr>
        <p:spPr>
          <a:xfrm>
            <a:off x="2286000" y="1947672"/>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86000" y="2606040"/>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286000" y="3264408"/>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286000" y="3922776"/>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286000" y="4581144"/>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286000" y="5239512"/>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607040" y="3108960"/>
            <a:ext cx="365760" cy="36576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780776" y="3474720"/>
            <a:ext cx="18288"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515600" y="3611880"/>
            <a:ext cx="5486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rot="1876105">
            <a:off x="10657027" y="3937949"/>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rot="19621389">
            <a:off x="10893969" y="3918203"/>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92640" y="4434840"/>
            <a:ext cx="2194560" cy="548640"/>
          </a:xfrm>
          <a:prstGeom prst="rect">
            <a:avLst/>
          </a:prstGeom>
          <a:noFill/>
        </p:spPr>
        <p:txBody>
          <a:bodyPr wrap="none">
            <a:spAutoFit/>
          </a:bodyPr>
          <a:lstStyle/>
          <a:p>
            <a:pPr algn="ctr"/>
            <a:r>
              <a:rPr sz="1100" b="1">
                <a:solidFill>
                  <a:srgbClr val="0F172A"/>
                </a:solidFill>
              </a:rPr>
              <a:t>Chief Technician
(Murlidhar C.)</a:t>
            </a:r>
          </a:p>
        </p:txBody>
      </p:sp>
      <p:sp>
        <p:nvSpPr>
          <p:cNvPr id="29" name="Rectangle 28"/>
          <p:cNvSpPr/>
          <p:nvPr/>
        </p:nvSpPr>
        <p:spPr>
          <a:xfrm>
            <a:off x="8686800" y="3922776"/>
            <a:ext cx="182880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686800" y="4581144"/>
            <a:ext cx="182880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686800" y="5239512"/>
            <a:ext cx="182880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(Class Diagram)</a:t>
            </a:r>
          </a:p>
        </p:txBody>
      </p:sp>
      <p:sp>
        <p:nvSpPr>
          <p:cNvPr id="3" name="Rectangle 2"/>
          <p:cNvSpPr/>
          <p:nvPr/>
        </p:nvSpPr>
        <p:spPr>
          <a:xfrm>
            <a:off x="822960" y="1645920"/>
            <a:ext cx="310896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1645920"/>
            <a:ext cx="310896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F172A"/>
                </a:solidFill>
              </a:rPr>
              <a:t>Customer</a:t>
            </a:r>
          </a:p>
        </p:txBody>
      </p:sp>
      <p:sp>
        <p:nvSpPr>
          <p:cNvPr id="5" name="TextBox 4"/>
          <p:cNvSpPr txBox="1"/>
          <p:nvPr/>
        </p:nvSpPr>
        <p:spPr>
          <a:xfrm>
            <a:off x="877824" y="2011680"/>
            <a:ext cx="2999232" cy="1609344"/>
          </a:xfrm>
          <a:prstGeom prst="rect">
            <a:avLst/>
          </a:prstGeom>
          <a:noFill/>
        </p:spPr>
        <p:txBody>
          <a:bodyPr wrap="square" lIns="0" tIns="0">
            <a:spAutoFit/>
          </a:bodyPr>
          <a:lstStyle/>
          <a:p>
            <a:r>
              <a:rPr sz="800">
                <a:solidFill>
                  <a:srgbClr val="0F172A"/>
                </a:solidFill>
              </a:rPr>
              <a:t>- customerId: string</a:t>
            </a:r>
          </a:p>
          <a:p>
            <a:r>
              <a:rPr sz="800">
                <a:solidFill>
                  <a:srgbClr val="0F172A"/>
                </a:solidFill>
              </a:rPr>
              <a:t>- name: string</a:t>
            </a:r>
          </a:p>
          <a:p>
            <a:r>
              <a:rPr sz="800">
                <a:solidFill>
                  <a:srgbClr val="0F172A"/>
                </a:solidFill>
              </a:rPr>
              <a:t>- phone: string</a:t>
            </a:r>
          </a:p>
          <a:p>
            <a:r>
              <a:rPr sz="800">
                <a:solidFill>
                  <a:srgbClr val="0F172A"/>
                </a:solidFill>
              </a:rPr>
              <a:t>- equipmentType: string</a:t>
            </a:r>
          </a:p>
          <a:p>
            <a:r>
              <a:rPr sz="600">
                <a:solidFill>
                  <a:srgbClr val="CBD5E1"/>
                </a:solidFill>
              </a:rPr>
              <a:t>--------------------------------------</a:t>
            </a:r>
          </a:p>
          <a:p>
            <a:r>
              <a:rPr sz="800">
                <a:solidFill>
                  <a:srgbClr val="0F172A"/>
                </a:solidFill>
              </a:rPr>
              <a:t>+ browseServices()</a:t>
            </a:r>
          </a:p>
          <a:p>
            <a:r>
              <a:rPr sz="800">
                <a:solidFill>
                  <a:srgbClr val="0F172A"/>
                </a:solidFill>
              </a:rPr>
              <a:t>+ filterCategory()</a:t>
            </a:r>
          </a:p>
          <a:p>
            <a:r>
              <a:rPr sz="800">
                <a:solidFill>
                  <a:srgbClr val="0F172A"/>
                </a:solidFill>
              </a:rPr>
              <a:t>+ callTechnician()</a:t>
            </a:r>
          </a:p>
          <a:p>
            <a:r>
              <a:rPr sz="800">
                <a:solidFill>
                  <a:srgbClr val="0F172A"/>
                </a:solidFill>
              </a:rPr>
              <a:t>+ initiateWhatsApp()</a:t>
            </a:r>
          </a:p>
        </p:txBody>
      </p:sp>
      <p:sp>
        <p:nvSpPr>
          <p:cNvPr id="6" name="Rectangle 5"/>
          <p:cNvSpPr/>
          <p:nvPr/>
        </p:nvSpPr>
        <p:spPr>
          <a:xfrm>
            <a:off x="4480560" y="1645920"/>
            <a:ext cx="320040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80560" y="1645920"/>
            <a:ext cx="320040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F172A"/>
                </a:solidFill>
              </a:rPr>
              <a:t>RepairService</a:t>
            </a:r>
          </a:p>
        </p:txBody>
      </p:sp>
      <p:sp>
        <p:nvSpPr>
          <p:cNvPr id="8" name="TextBox 7"/>
          <p:cNvSpPr txBox="1"/>
          <p:nvPr/>
        </p:nvSpPr>
        <p:spPr>
          <a:xfrm>
            <a:off x="4535424" y="2011680"/>
            <a:ext cx="3090672" cy="1609344"/>
          </a:xfrm>
          <a:prstGeom prst="rect">
            <a:avLst/>
          </a:prstGeom>
          <a:noFill/>
        </p:spPr>
        <p:txBody>
          <a:bodyPr wrap="square" lIns="0" tIns="0">
            <a:spAutoFit/>
          </a:bodyPr>
          <a:lstStyle/>
          <a:p>
            <a:r>
              <a:rPr sz="800">
                <a:solidFill>
                  <a:srgbClr val="0F172A"/>
                </a:solidFill>
              </a:rPr>
              <a:t>- id: string</a:t>
            </a:r>
          </a:p>
          <a:p>
            <a:r>
              <a:rPr sz="800">
                <a:solidFill>
                  <a:srgbClr val="0F172A"/>
                </a:solidFill>
              </a:rPr>
              <a:t>- title: string</a:t>
            </a:r>
          </a:p>
          <a:p>
            <a:r>
              <a:rPr sz="800">
                <a:solidFill>
                  <a:srgbClr val="0F172A"/>
                </a:solidFill>
              </a:rPr>
              <a:t>- category: string</a:t>
            </a:r>
          </a:p>
          <a:p>
            <a:r>
              <a:rPr sz="800">
                <a:solidFill>
                  <a:srgbClr val="0F172A"/>
                </a:solidFill>
              </a:rPr>
              <a:t>- description: string</a:t>
            </a:r>
          </a:p>
          <a:p>
            <a:r>
              <a:rPr sz="800">
                <a:solidFill>
                  <a:srgbClr val="0F172A"/>
                </a:solidFill>
              </a:rPr>
              <a:t>- highlights: string[]</a:t>
            </a:r>
          </a:p>
          <a:p>
            <a:r>
              <a:rPr sz="600">
                <a:solidFill>
                  <a:srgbClr val="CBD5E1"/>
                </a:solidFill>
              </a:rPr>
              <a:t>--------------------------------------</a:t>
            </a:r>
          </a:p>
          <a:p>
            <a:r>
              <a:rPr sz="800">
                <a:solidFill>
                  <a:srgbClr val="0F172A"/>
                </a:solidFill>
              </a:rPr>
              <a:t>+ getServiceDetails()</a:t>
            </a:r>
          </a:p>
          <a:p>
            <a:r>
              <a:rPr sz="800">
                <a:solidFill>
                  <a:srgbClr val="0F172A"/>
                </a:solidFill>
              </a:rPr>
              <a:t>+ getByCategory()</a:t>
            </a:r>
          </a:p>
          <a:p>
            <a:r>
              <a:rPr sz="800">
                <a:solidFill>
                  <a:srgbClr val="0F172A"/>
                </a:solidFill>
              </a:rPr>
              <a:t>+ getDiagnosticInfo()</a:t>
            </a:r>
          </a:p>
        </p:txBody>
      </p:sp>
      <p:sp>
        <p:nvSpPr>
          <p:cNvPr id="9" name="Rectangle 8"/>
          <p:cNvSpPr/>
          <p:nvPr/>
        </p:nvSpPr>
        <p:spPr>
          <a:xfrm>
            <a:off x="8229600" y="1645920"/>
            <a:ext cx="310896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0" y="1645920"/>
            <a:ext cx="310896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F172A"/>
                </a:solidFill>
              </a:rPr>
              <a:t>Technician</a:t>
            </a:r>
          </a:p>
        </p:txBody>
      </p:sp>
      <p:sp>
        <p:nvSpPr>
          <p:cNvPr id="11" name="TextBox 10"/>
          <p:cNvSpPr txBox="1"/>
          <p:nvPr/>
        </p:nvSpPr>
        <p:spPr>
          <a:xfrm>
            <a:off x="8284464" y="2011680"/>
            <a:ext cx="2999232" cy="1609344"/>
          </a:xfrm>
          <a:prstGeom prst="rect">
            <a:avLst/>
          </a:prstGeom>
          <a:noFill/>
        </p:spPr>
        <p:txBody>
          <a:bodyPr wrap="square" lIns="0" tIns="0">
            <a:spAutoFit/>
          </a:bodyPr>
          <a:lstStyle/>
          <a:p>
            <a:r>
              <a:rPr sz="800">
                <a:solidFill>
                  <a:srgbClr val="0F172A"/>
                </a:solidFill>
              </a:rPr>
              <a:t>- name: string</a:t>
            </a:r>
          </a:p>
          <a:p>
            <a:r>
              <a:rPr sz="800">
                <a:solidFill>
                  <a:srgbClr val="0F172A"/>
                </a:solidFill>
              </a:rPr>
              <a:t>- role: string</a:t>
            </a:r>
          </a:p>
          <a:p>
            <a:r>
              <a:rPr sz="800">
                <a:solidFill>
                  <a:srgbClr val="0F172A"/>
                </a:solidFill>
              </a:rPr>
              <a:t>- phone: string</a:t>
            </a:r>
          </a:p>
          <a:p>
            <a:r>
              <a:rPr sz="800">
                <a:solidFill>
                  <a:srgbClr val="0F172A"/>
                </a:solidFill>
              </a:rPr>
              <a:t>- workshopAddress: string</a:t>
            </a:r>
          </a:p>
          <a:p>
            <a:r>
              <a:rPr sz="600">
                <a:solidFill>
                  <a:srgbClr val="CBD5E1"/>
                </a:solidFill>
              </a:rPr>
              <a:t>--------------------------------------</a:t>
            </a:r>
          </a:p>
          <a:p>
            <a:r>
              <a:rPr sz="800">
                <a:solidFill>
                  <a:srgbClr val="0F172A"/>
                </a:solidFill>
              </a:rPr>
              <a:t>+ receivePhoneCall()</a:t>
            </a:r>
          </a:p>
          <a:p>
            <a:r>
              <a:rPr sz="800">
                <a:solidFill>
                  <a:srgbClr val="0F172A"/>
                </a:solidFill>
              </a:rPr>
              <a:t>+ consultWhatsApp()</a:t>
            </a:r>
          </a:p>
          <a:p>
            <a:r>
              <a:rPr sz="800">
                <a:solidFill>
                  <a:srgbClr val="0F172A"/>
                </a:solidFill>
              </a:rPr>
              <a:t>+ diagnoseEquipment()</a:t>
            </a:r>
          </a:p>
          <a:p>
            <a:r>
              <a:rPr sz="800">
                <a:solidFill>
                  <a:srgbClr val="0F172A"/>
                </a:solidFill>
              </a:rPr>
              <a:t>+ executeBenchRepair()</a:t>
            </a:r>
          </a:p>
        </p:txBody>
      </p:sp>
      <p:sp>
        <p:nvSpPr>
          <p:cNvPr id="12" name="Rectangle 11"/>
          <p:cNvSpPr/>
          <p:nvPr/>
        </p:nvSpPr>
        <p:spPr>
          <a:xfrm>
            <a:off x="822960" y="4206240"/>
            <a:ext cx="310896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 y="4206240"/>
            <a:ext cx="310896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F172A"/>
                </a:solidFill>
              </a:rPr>
              <a:t>RepairInquiry</a:t>
            </a:r>
          </a:p>
        </p:txBody>
      </p:sp>
      <p:sp>
        <p:nvSpPr>
          <p:cNvPr id="14" name="TextBox 13"/>
          <p:cNvSpPr txBox="1"/>
          <p:nvPr/>
        </p:nvSpPr>
        <p:spPr>
          <a:xfrm>
            <a:off x="877824" y="4572000"/>
            <a:ext cx="2999232" cy="1609344"/>
          </a:xfrm>
          <a:prstGeom prst="rect">
            <a:avLst/>
          </a:prstGeom>
          <a:noFill/>
        </p:spPr>
        <p:txBody>
          <a:bodyPr wrap="square" lIns="0" tIns="0">
            <a:spAutoFit/>
          </a:bodyPr>
          <a:lstStyle/>
          <a:p>
            <a:r>
              <a:rPr sz="800">
                <a:solidFill>
                  <a:srgbClr val="0F172A"/>
                </a:solidFill>
              </a:rPr>
              <a:t>- inquiryId: string</a:t>
            </a:r>
          </a:p>
          <a:p>
            <a:r>
              <a:rPr sz="800">
                <a:solidFill>
                  <a:srgbClr val="0F172A"/>
                </a:solidFill>
              </a:rPr>
              <a:t>- equipmentTitle: string</a:t>
            </a:r>
          </a:p>
          <a:p>
            <a:r>
              <a:rPr sz="800">
                <a:solidFill>
                  <a:srgbClr val="0F172A"/>
                </a:solidFill>
              </a:rPr>
              <a:t>- faultSymptoms: string</a:t>
            </a:r>
          </a:p>
          <a:p>
            <a:r>
              <a:rPr sz="800">
                <a:solidFill>
                  <a:srgbClr val="0F172A"/>
                </a:solidFill>
              </a:rPr>
              <a:t>- preferredChannel: enum</a:t>
            </a:r>
          </a:p>
          <a:p>
            <a:r>
              <a:rPr sz="600">
                <a:solidFill>
                  <a:srgbClr val="CBD5E1"/>
                </a:solidFill>
              </a:rPr>
              <a:t>--------------------------------------</a:t>
            </a:r>
          </a:p>
          <a:p>
            <a:r>
              <a:rPr sz="800">
                <a:solidFill>
                  <a:srgbClr val="0F172A"/>
                </a:solidFill>
              </a:rPr>
              <a:t>+ buildWhatsAppQuery()</a:t>
            </a:r>
          </a:p>
          <a:p>
            <a:r>
              <a:rPr sz="800">
                <a:solidFill>
                  <a:srgbClr val="0F172A"/>
                </a:solidFill>
              </a:rPr>
              <a:t>+ triggerDialer()</a:t>
            </a:r>
          </a:p>
          <a:p>
            <a:r>
              <a:rPr sz="800">
                <a:solidFill>
                  <a:srgbClr val="0F172A"/>
                </a:solidFill>
              </a:rPr>
              <a:t>+ logInquiry()</a:t>
            </a:r>
          </a:p>
        </p:txBody>
      </p:sp>
      <p:sp>
        <p:nvSpPr>
          <p:cNvPr id="15" name="Rectangle 14"/>
          <p:cNvSpPr/>
          <p:nvPr/>
        </p:nvSpPr>
        <p:spPr>
          <a:xfrm>
            <a:off x="4480560" y="4206240"/>
            <a:ext cx="320040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480560" y="4206240"/>
            <a:ext cx="320040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F172A"/>
                </a:solidFill>
              </a:rPr>
              <a:t>Category</a:t>
            </a:r>
          </a:p>
        </p:txBody>
      </p:sp>
      <p:sp>
        <p:nvSpPr>
          <p:cNvPr id="17" name="TextBox 16"/>
          <p:cNvSpPr txBox="1"/>
          <p:nvPr/>
        </p:nvSpPr>
        <p:spPr>
          <a:xfrm>
            <a:off x="4535424" y="4572000"/>
            <a:ext cx="3090672" cy="1609344"/>
          </a:xfrm>
          <a:prstGeom prst="rect">
            <a:avLst/>
          </a:prstGeom>
          <a:noFill/>
        </p:spPr>
        <p:txBody>
          <a:bodyPr wrap="square" lIns="0" tIns="0">
            <a:spAutoFit/>
          </a:bodyPr>
          <a:lstStyle/>
          <a:p>
            <a:r>
              <a:rPr sz="800">
                <a:solidFill>
                  <a:srgbClr val="0F172A"/>
                </a:solidFill>
              </a:rPr>
              <a:t>- id: string</a:t>
            </a:r>
          </a:p>
          <a:p>
            <a:r>
              <a:rPr sz="800">
                <a:solidFill>
                  <a:srgbClr val="0F172A"/>
                </a:solidFill>
              </a:rPr>
              <a:t>- label: string</a:t>
            </a:r>
          </a:p>
          <a:p>
            <a:r>
              <a:rPr sz="800">
                <a:solidFill>
                  <a:srgbClr val="0F172A"/>
                </a:solidFill>
              </a:rPr>
              <a:t>- iconName: string</a:t>
            </a:r>
          </a:p>
          <a:p>
            <a:r>
              <a:rPr sz="800">
                <a:solidFill>
                  <a:srgbClr val="0F172A"/>
                </a:solidFill>
              </a:rPr>
              <a:t>- serviceCount: int</a:t>
            </a:r>
          </a:p>
          <a:p>
            <a:r>
              <a:rPr sz="600">
                <a:solidFill>
                  <a:srgbClr val="CBD5E1"/>
                </a:solidFill>
              </a:rPr>
              <a:t>--------------------------------------</a:t>
            </a:r>
          </a:p>
          <a:p>
            <a:r>
              <a:rPr sz="800">
                <a:solidFill>
                  <a:srgbClr val="0F172A"/>
                </a:solidFill>
              </a:rPr>
              <a:t>+ filterServices()</a:t>
            </a:r>
          </a:p>
          <a:p>
            <a:r>
              <a:rPr sz="800">
                <a:solidFill>
                  <a:srgbClr val="0F172A"/>
                </a:solidFill>
              </a:rPr>
              <a:t>+ getCategoryList()</a:t>
            </a:r>
          </a:p>
        </p:txBody>
      </p:sp>
      <p:sp>
        <p:nvSpPr>
          <p:cNvPr id="18" name="Rectangle 17"/>
          <p:cNvSpPr/>
          <p:nvPr/>
        </p:nvSpPr>
        <p:spPr>
          <a:xfrm>
            <a:off x="8229600" y="4206240"/>
            <a:ext cx="310896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0" y="4206240"/>
            <a:ext cx="310896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F172A"/>
                </a:solidFill>
              </a:rPr>
              <a:t>WorkshopLocation</a:t>
            </a:r>
          </a:p>
        </p:txBody>
      </p:sp>
      <p:sp>
        <p:nvSpPr>
          <p:cNvPr id="20" name="TextBox 19"/>
          <p:cNvSpPr txBox="1"/>
          <p:nvPr/>
        </p:nvSpPr>
        <p:spPr>
          <a:xfrm>
            <a:off x="8284464" y="4572000"/>
            <a:ext cx="2999232" cy="1609344"/>
          </a:xfrm>
          <a:prstGeom prst="rect">
            <a:avLst/>
          </a:prstGeom>
          <a:noFill/>
        </p:spPr>
        <p:txBody>
          <a:bodyPr wrap="square" lIns="0" tIns="0">
            <a:spAutoFit/>
          </a:bodyPr>
          <a:lstStyle/>
          <a:p>
            <a:r>
              <a:rPr sz="800">
                <a:solidFill>
                  <a:srgbClr val="0F172A"/>
                </a:solidFill>
              </a:rPr>
              <a:t>- plotNo: string</a:t>
            </a:r>
          </a:p>
          <a:p>
            <a:r>
              <a:rPr sz="800">
                <a:solidFill>
                  <a:srgbClr val="0F172A"/>
                </a:solidFill>
              </a:rPr>
              <a:t>- area: string</a:t>
            </a:r>
          </a:p>
          <a:p>
            <a:r>
              <a:rPr sz="800">
                <a:solidFill>
                  <a:srgbClr val="0F172A"/>
                </a:solidFill>
              </a:rPr>
              <a:t>- landmark: string</a:t>
            </a:r>
          </a:p>
          <a:p>
            <a:r>
              <a:rPr sz="800">
                <a:solidFill>
                  <a:srgbClr val="0F172A"/>
                </a:solidFill>
              </a:rPr>
              <a:t>- city: string</a:t>
            </a:r>
          </a:p>
          <a:p>
            <a:r>
              <a:rPr sz="800">
                <a:solidFill>
                  <a:srgbClr val="0F172A"/>
                </a:solidFill>
              </a:rPr>
              <a:t>- operatingHours: string</a:t>
            </a:r>
          </a:p>
          <a:p>
            <a:r>
              <a:rPr sz="600">
                <a:solidFill>
                  <a:srgbClr val="CBD5E1"/>
                </a:solidFill>
              </a:rPr>
              <a:t>--------------------------------------</a:t>
            </a:r>
          </a:p>
          <a:p>
            <a:r>
              <a:rPr sz="800">
                <a:solidFill>
                  <a:srgbClr val="0F172A"/>
                </a:solidFill>
              </a:rPr>
              <a:t>+ getFullAddress()</a:t>
            </a:r>
          </a:p>
          <a:p>
            <a:r>
              <a:rPr sz="800">
                <a:solidFill>
                  <a:srgbClr val="0F172A"/>
                </a:solidFill>
              </a:rPr>
              <a:t>+ openGoogleMaps()</a:t>
            </a:r>
          </a:p>
          <a:p>
            <a:r>
              <a:rPr sz="800">
                <a:solidFill>
                  <a:srgbClr val="0F172A"/>
                </a:solidFill>
              </a:rPr>
              <a:t>+ getCoordinates()</a:t>
            </a:r>
          </a:p>
        </p:txBody>
      </p:sp>
      <p:sp>
        <p:nvSpPr>
          <p:cNvPr id="21" name="Rectangle 20"/>
          <p:cNvSpPr/>
          <p:nvPr/>
        </p:nvSpPr>
        <p:spPr>
          <a:xfrm>
            <a:off x="2377440" y="3657600"/>
            <a:ext cx="18288" cy="548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71600" y="3703320"/>
            <a:ext cx="914400" cy="365760"/>
          </a:xfrm>
          <a:prstGeom prst="rect">
            <a:avLst/>
          </a:prstGeom>
          <a:noFill/>
        </p:spPr>
        <p:txBody>
          <a:bodyPr wrap="none">
            <a:spAutoFit/>
          </a:bodyPr>
          <a:lstStyle/>
          <a:p>
            <a:pPr>
              <a:defRPr sz="750" b="1"/>
            </a:pPr>
            <a:r>
              <a:t>initiates</a:t>
            </a:r>
            <a:br/>
            <a:r>
              <a:t>1        *</a:t>
            </a:r>
          </a:p>
        </p:txBody>
      </p:sp>
      <p:sp>
        <p:nvSpPr>
          <p:cNvPr id="23" name="Rectangle 22"/>
          <p:cNvSpPr/>
          <p:nvPr/>
        </p:nvSpPr>
        <p:spPr>
          <a:xfrm>
            <a:off x="3931920" y="5212080"/>
            <a:ext cx="5486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49039" y="4892040"/>
            <a:ext cx="914400" cy="274320"/>
          </a:xfrm>
          <a:prstGeom prst="rect">
            <a:avLst/>
          </a:prstGeom>
          <a:noFill/>
        </p:spPr>
        <p:txBody>
          <a:bodyPr wrap="none">
            <a:spAutoFit/>
          </a:bodyPr>
          <a:lstStyle/>
          <a:p>
            <a:pPr>
              <a:defRPr sz="750" b="1"/>
            </a:pPr>
            <a:r>
              <a:t>queries 1  *</a:t>
            </a:r>
          </a:p>
        </p:txBody>
      </p:sp>
      <p:sp>
        <p:nvSpPr>
          <p:cNvPr id="25" name="Rectangle 24"/>
          <p:cNvSpPr/>
          <p:nvPr/>
        </p:nvSpPr>
        <p:spPr>
          <a:xfrm>
            <a:off x="6080760" y="3657600"/>
            <a:ext cx="18288" cy="548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26480" y="3703320"/>
            <a:ext cx="1097280" cy="365760"/>
          </a:xfrm>
          <a:prstGeom prst="rect">
            <a:avLst/>
          </a:prstGeom>
          <a:noFill/>
        </p:spPr>
        <p:txBody>
          <a:bodyPr wrap="none">
            <a:spAutoFit/>
          </a:bodyPr>
          <a:lstStyle/>
          <a:p>
            <a:pPr>
              <a:defRPr sz="750" b="1"/>
            </a:pPr>
            <a:r>
              <a:t>categorized_by</a:t>
            </a:r>
            <a:br/>
            <a:r>
              <a:t>*        1</a:t>
            </a:r>
          </a:p>
        </p:txBody>
      </p:sp>
      <p:sp>
        <p:nvSpPr>
          <p:cNvPr id="27" name="Rectangle 26"/>
          <p:cNvSpPr/>
          <p:nvPr/>
        </p:nvSpPr>
        <p:spPr>
          <a:xfrm>
            <a:off x="9784080" y="3657600"/>
            <a:ext cx="18288" cy="548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78240" y="3703320"/>
            <a:ext cx="914400" cy="365760"/>
          </a:xfrm>
          <a:prstGeom prst="rect">
            <a:avLst/>
          </a:prstGeom>
          <a:noFill/>
        </p:spPr>
        <p:txBody>
          <a:bodyPr wrap="none">
            <a:spAutoFit/>
          </a:bodyPr>
          <a:lstStyle/>
          <a:p>
            <a:pPr>
              <a:defRPr sz="750" b="1"/>
            </a:pPr>
            <a:r>
              <a:t>operates_at</a:t>
            </a:r>
            <a:br/>
            <a:r>
              <a:t>1        1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(Sequence Diagram)</a:t>
            </a:r>
          </a:p>
        </p:txBody>
      </p:sp>
      <p:sp>
        <p:nvSpPr>
          <p:cNvPr id="3" name="TextBox 2"/>
          <p:cNvSpPr txBox="1"/>
          <p:nvPr/>
        </p:nvSpPr>
        <p:spPr>
          <a:xfrm>
            <a:off x="731520" y="1298448"/>
            <a:ext cx="10728655" cy="365760"/>
          </a:xfrm>
          <a:prstGeom prst="rect">
            <a:avLst/>
          </a:prstGeom>
          <a:noFill/>
        </p:spPr>
        <p:txBody>
          <a:bodyPr wrap="none">
            <a:spAutoFit/>
          </a:bodyPr>
          <a:lstStyle/>
          <a:p>
            <a:pPr algn="ctr"/>
            <a:r>
              <a:rPr sz="1350" b="1">
                <a:solidFill>
                  <a:srgbClr val="0F172A"/>
                </a:solidFill>
              </a:rPr>
              <a:t>Use case: Service Browsing &amp; Direct WhatsApp Consultation</a:t>
            </a:r>
          </a:p>
        </p:txBody>
      </p:sp>
      <p:sp>
        <p:nvSpPr>
          <p:cNvPr id="4" name="Rounded Rectangle 3"/>
          <p:cNvSpPr/>
          <p:nvPr/>
        </p:nvSpPr>
        <p:spPr>
          <a:xfrm>
            <a:off x="45720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Customer</a:t>
            </a:r>
          </a:p>
        </p:txBody>
      </p:sp>
      <p:sp>
        <p:nvSpPr>
          <p:cNvPr id="5" name="Rectangle 4"/>
          <p:cNvSpPr/>
          <p:nvPr/>
        </p:nvSpPr>
        <p:spPr>
          <a:xfrm>
            <a:off x="128016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83464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Website Frontend
(Next.js UI)</a:t>
            </a:r>
          </a:p>
        </p:txBody>
      </p:sp>
      <p:sp>
        <p:nvSpPr>
          <p:cNvPr id="7" name="Rectangle 6"/>
          <p:cNvSpPr/>
          <p:nvPr/>
        </p:nvSpPr>
        <p:spPr>
          <a:xfrm>
            <a:off x="365760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21208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Data Store
(business.ts)</a:t>
            </a:r>
          </a:p>
        </p:txBody>
      </p:sp>
      <p:sp>
        <p:nvSpPr>
          <p:cNvPr id="9" name="Rectangle 8"/>
          <p:cNvSpPr/>
          <p:nvPr/>
        </p:nvSpPr>
        <p:spPr>
          <a:xfrm>
            <a:off x="603504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8952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WhatsApp Gateway
(wa.me API)</a:t>
            </a:r>
          </a:p>
        </p:txBody>
      </p:sp>
      <p:sp>
        <p:nvSpPr>
          <p:cNvPr id="11" name="Rectangle 10"/>
          <p:cNvSpPr/>
          <p:nvPr/>
        </p:nvSpPr>
        <p:spPr>
          <a:xfrm>
            <a:off x="841248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96696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Technician
(Murlidhar C.)</a:t>
            </a:r>
          </a:p>
        </p:txBody>
      </p:sp>
      <p:sp>
        <p:nvSpPr>
          <p:cNvPr id="13" name="Rectangle 12"/>
          <p:cNvSpPr/>
          <p:nvPr/>
        </p:nvSpPr>
        <p:spPr>
          <a:xfrm>
            <a:off x="1078992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280160" y="265176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3566160" y="261518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80160" y="2432304"/>
            <a:ext cx="2377440" cy="219456"/>
          </a:xfrm>
          <a:prstGeom prst="rect">
            <a:avLst/>
          </a:prstGeom>
          <a:noFill/>
        </p:spPr>
        <p:txBody>
          <a:bodyPr wrap="none">
            <a:spAutoFit/>
          </a:bodyPr>
          <a:lstStyle/>
          <a:p>
            <a:pPr algn="ctr"/>
            <a:r>
              <a:rPr sz="800" b="1">
                <a:solidFill>
                  <a:srgbClr val="0F172A"/>
                </a:solidFill>
              </a:rPr>
              <a:t>1. Visit Website &amp; Browse Repair Services</a:t>
            </a:r>
          </a:p>
        </p:txBody>
      </p:sp>
      <p:sp>
        <p:nvSpPr>
          <p:cNvPr id="17" name="Rectangle 16"/>
          <p:cNvSpPr/>
          <p:nvPr/>
        </p:nvSpPr>
        <p:spPr>
          <a:xfrm>
            <a:off x="3657600" y="315468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ight Arrow 17"/>
          <p:cNvSpPr/>
          <p:nvPr/>
        </p:nvSpPr>
        <p:spPr>
          <a:xfrm>
            <a:off x="5943600" y="311810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0" y="2935224"/>
            <a:ext cx="2377440" cy="219456"/>
          </a:xfrm>
          <a:prstGeom prst="rect">
            <a:avLst/>
          </a:prstGeom>
          <a:noFill/>
        </p:spPr>
        <p:txBody>
          <a:bodyPr wrap="none">
            <a:spAutoFit/>
          </a:bodyPr>
          <a:lstStyle/>
          <a:p>
            <a:pPr algn="ctr"/>
            <a:r>
              <a:rPr sz="800" b="1">
                <a:solidFill>
                  <a:srgbClr val="0F172A"/>
                </a:solidFill>
              </a:rPr>
              <a:t>2. Query Categories (Audio, Lighting, Visual)</a:t>
            </a:r>
          </a:p>
        </p:txBody>
      </p:sp>
      <p:sp>
        <p:nvSpPr>
          <p:cNvPr id="20" name="Rectangle 19"/>
          <p:cNvSpPr/>
          <p:nvPr/>
        </p:nvSpPr>
        <p:spPr>
          <a:xfrm>
            <a:off x="3657600" y="365760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Left Arrow 20"/>
          <p:cNvSpPr/>
          <p:nvPr/>
        </p:nvSpPr>
        <p:spPr>
          <a:xfrm>
            <a:off x="3657600" y="3621024"/>
            <a:ext cx="91440" cy="91440"/>
          </a:xfrm>
          <a:prstGeom prst="lef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0" y="3438144"/>
            <a:ext cx="2377440" cy="219456"/>
          </a:xfrm>
          <a:prstGeom prst="rect">
            <a:avLst/>
          </a:prstGeom>
          <a:noFill/>
        </p:spPr>
        <p:txBody>
          <a:bodyPr wrap="none">
            <a:spAutoFit/>
          </a:bodyPr>
          <a:lstStyle/>
          <a:p>
            <a:pPr algn="ctr"/>
            <a:r>
              <a:rPr sz="800" b="1">
                <a:solidFill>
                  <a:srgbClr val="0F172A"/>
                </a:solidFill>
              </a:rPr>
              <a:t>3. Return Service Details &amp; Diagnostic Specs</a:t>
            </a:r>
          </a:p>
        </p:txBody>
      </p:sp>
      <p:sp>
        <p:nvSpPr>
          <p:cNvPr id="23" name="Rectangle 22"/>
          <p:cNvSpPr/>
          <p:nvPr/>
        </p:nvSpPr>
        <p:spPr>
          <a:xfrm>
            <a:off x="1280160" y="416052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Left Arrow 23"/>
          <p:cNvSpPr/>
          <p:nvPr/>
        </p:nvSpPr>
        <p:spPr>
          <a:xfrm>
            <a:off x="1280160" y="4123944"/>
            <a:ext cx="91440" cy="91440"/>
          </a:xfrm>
          <a:prstGeom prst="lef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0160" y="3941064"/>
            <a:ext cx="2377440" cy="219456"/>
          </a:xfrm>
          <a:prstGeom prst="rect">
            <a:avLst/>
          </a:prstGeom>
          <a:noFill/>
        </p:spPr>
        <p:txBody>
          <a:bodyPr wrap="none">
            <a:spAutoFit/>
          </a:bodyPr>
          <a:lstStyle/>
          <a:p>
            <a:pPr algn="ctr"/>
            <a:r>
              <a:rPr sz="800" b="1">
                <a:solidFill>
                  <a:srgbClr val="0F172A"/>
                </a:solidFill>
              </a:rPr>
              <a:t>4. Render Service Cards &amp; Diagnostic Highlights</a:t>
            </a:r>
          </a:p>
        </p:txBody>
      </p:sp>
      <p:sp>
        <p:nvSpPr>
          <p:cNvPr id="26" name="Rectangle 25"/>
          <p:cNvSpPr/>
          <p:nvPr/>
        </p:nvSpPr>
        <p:spPr>
          <a:xfrm>
            <a:off x="1280160" y="466344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ight Arrow 26"/>
          <p:cNvSpPr/>
          <p:nvPr/>
        </p:nvSpPr>
        <p:spPr>
          <a:xfrm>
            <a:off x="3566160" y="462686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443984"/>
            <a:ext cx="2377440" cy="219456"/>
          </a:xfrm>
          <a:prstGeom prst="rect">
            <a:avLst/>
          </a:prstGeom>
          <a:noFill/>
        </p:spPr>
        <p:txBody>
          <a:bodyPr wrap="none">
            <a:spAutoFit/>
          </a:bodyPr>
          <a:lstStyle/>
          <a:p>
            <a:pPr algn="ctr"/>
            <a:r>
              <a:rPr sz="800" b="1">
                <a:solidFill>
                  <a:srgbClr val="0F172A"/>
                </a:solidFill>
              </a:rPr>
              <a:t>5. Click 'Inquire on WhatsApp' on Equipment</a:t>
            </a:r>
          </a:p>
        </p:txBody>
      </p:sp>
      <p:sp>
        <p:nvSpPr>
          <p:cNvPr id="29" name="Rectangle 28"/>
          <p:cNvSpPr/>
          <p:nvPr/>
        </p:nvSpPr>
        <p:spPr>
          <a:xfrm>
            <a:off x="3657600" y="5166360"/>
            <a:ext cx="475488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29"/>
          <p:cNvSpPr/>
          <p:nvPr/>
        </p:nvSpPr>
        <p:spPr>
          <a:xfrm>
            <a:off x="8321040" y="512978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0" y="4946904"/>
            <a:ext cx="4754880" cy="219456"/>
          </a:xfrm>
          <a:prstGeom prst="rect">
            <a:avLst/>
          </a:prstGeom>
          <a:noFill/>
        </p:spPr>
        <p:txBody>
          <a:bodyPr wrap="none">
            <a:spAutoFit/>
          </a:bodyPr>
          <a:lstStyle/>
          <a:p>
            <a:pPr algn="ctr"/>
            <a:r>
              <a:rPr sz="800" b="1">
                <a:solidFill>
                  <a:srgbClr val="0F172A"/>
                </a:solidFill>
              </a:rPr>
              <a:t>6. Construct Pre-filled URL with Equipment Info</a:t>
            </a:r>
          </a:p>
        </p:txBody>
      </p:sp>
      <p:sp>
        <p:nvSpPr>
          <p:cNvPr id="32" name="Rectangle 31"/>
          <p:cNvSpPr/>
          <p:nvPr/>
        </p:nvSpPr>
        <p:spPr>
          <a:xfrm>
            <a:off x="8412480" y="566928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ight Arrow 32"/>
          <p:cNvSpPr/>
          <p:nvPr/>
        </p:nvSpPr>
        <p:spPr>
          <a:xfrm>
            <a:off x="10698480" y="563270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80" y="5449824"/>
            <a:ext cx="2377440" cy="219456"/>
          </a:xfrm>
          <a:prstGeom prst="rect">
            <a:avLst/>
          </a:prstGeom>
          <a:noFill/>
        </p:spPr>
        <p:txBody>
          <a:bodyPr wrap="none">
            <a:spAutoFit/>
          </a:bodyPr>
          <a:lstStyle/>
          <a:p>
            <a:pPr algn="ctr"/>
            <a:r>
              <a:rPr sz="800" b="1">
                <a:solidFill>
                  <a:srgbClr val="0F172A"/>
                </a:solidFill>
              </a:rPr>
              <a:t>7. Deliver Inquiry Message to +91 98254 85520</a:t>
            </a:r>
          </a:p>
        </p:txBody>
      </p:sp>
      <p:sp>
        <p:nvSpPr>
          <p:cNvPr id="35" name="Rectangle 34"/>
          <p:cNvSpPr/>
          <p:nvPr/>
        </p:nvSpPr>
        <p:spPr>
          <a:xfrm>
            <a:off x="1280160" y="6172200"/>
            <a:ext cx="950976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Left Arrow 35"/>
          <p:cNvSpPr/>
          <p:nvPr/>
        </p:nvSpPr>
        <p:spPr>
          <a:xfrm>
            <a:off x="1280160" y="6135624"/>
            <a:ext cx="91440" cy="91440"/>
          </a:xfrm>
          <a:prstGeom prst="lef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280160" y="5952744"/>
            <a:ext cx="9509760" cy="219456"/>
          </a:xfrm>
          <a:prstGeom prst="rect">
            <a:avLst/>
          </a:prstGeom>
          <a:noFill/>
        </p:spPr>
        <p:txBody>
          <a:bodyPr wrap="none">
            <a:spAutoFit/>
          </a:bodyPr>
          <a:lstStyle/>
          <a:p>
            <a:pPr algn="ctr"/>
            <a:r>
              <a:rPr sz="800" b="1">
                <a:solidFill>
                  <a:srgbClr val="0F172A"/>
                </a:solidFill>
              </a:rPr>
              <a:t>8. Direct Consultation on Diagnosis &amp; Drop-off</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(Activity Diagram)</a:t>
            </a:r>
          </a:p>
        </p:txBody>
      </p:sp>
      <p:sp>
        <p:nvSpPr>
          <p:cNvPr id="3" name="Oval 2"/>
          <p:cNvSpPr/>
          <p:nvPr/>
        </p:nvSpPr>
        <p:spPr>
          <a:xfrm>
            <a:off x="5897880" y="1508760"/>
            <a:ext cx="320040" cy="32004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own Arrow 3"/>
          <p:cNvSpPr/>
          <p:nvPr/>
        </p:nvSpPr>
        <p:spPr>
          <a:xfrm>
            <a:off x="5989320" y="182880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389120" y="2057400"/>
            <a:ext cx="3291840" cy="5029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Browse Repair Services on Website</a:t>
            </a:r>
          </a:p>
        </p:txBody>
      </p:sp>
      <p:sp>
        <p:nvSpPr>
          <p:cNvPr id="6" name="Down Arrow 5"/>
          <p:cNvSpPr/>
          <p:nvPr/>
        </p:nvSpPr>
        <p:spPr>
          <a:xfrm>
            <a:off x="5989320" y="256032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2788920"/>
            <a:ext cx="3291840" cy="5029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Filter Category (Audio, Lighting, Visual)</a:t>
            </a:r>
          </a:p>
        </p:txBody>
      </p:sp>
      <p:sp>
        <p:nvSpPr>
          <p:cNvPr id="8" name="Down Arrow 7"/>
          <p:cNvSpPr/>
          <p:nvPr/>
        </p:nvSpPr>
        <p:spPr>
          <a:xfrm>
            <a:off x="5989320" y="329184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9120" y="3520440"/>
            <a:ext cx="3291840" cy="5029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Inspect Diagnostics &amp; Component Fixes</a:t>
            </a:r>
          </a:p>
        </p:txBody>
      </p:sp>
      <p:sp>
        <p:nvSpPr>
          <p:cNvPr id="10" name="Down Arrow 9"/>
          <p:cNvSpPr/>
          <p:nvPr/>
        </p:nvSpPr>
        <p:spPr>
          <a:xfrm>
            <a:off x="5989320" y="402336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iamond 10"/>
          <p:cNvSpPr/>
          <p:nvPr/>
        </p:nvSpPr>
        <p:spPr>
          <a:xfrm>
            <a:off x="4937760" y="4251960"/>
            <a:ext cx="2194560" cy="868680"/>
          </a:xfrm>
          <a:prstGeom prst="diamond">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DC2626"/>
                </a:solidFill>
              </a:rPr>
              <a:t>Choose Contact
Channel?</a:t>
            </a:r>
          </a:p>
        </p:txBody>
      </p:sp>
      <p:sp>
        <p:nvSpPr>
          <p:cNvPr id="12" name="Left Arrow 11"/>
          <p:cNvSpPr/>
          <p:nvPr/>
        </p:nvSpPr>
        <p:spPr>
          <a:xfrm>
            <a:off x="4023360" y="4617720"/>
            <a:ext cx="914400" cy="137160"/>
          </a:xfrm>
          <a:prstGeom prst="lef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23360" y="4343400"/>
            <a:ext cx="914400" cy="274320"/>
          </a:xfrm>
          <a:prstGeom prst="rect">
            <a:avLst/>
          </a:prstGeom>
          <a:noFill/>
        </p:spPr>
        <p:txBody>
          <a:bodyPr wrap="none">
            <a:spAutoFit/>
          </a:bodyPr>
          <a:lstStyle/>
          <a:p>
            <a:pPr>
              <a:defRPr sz="850" b="1"/>
            </a:pPr>
            <a:r>
              <a:t>Phone</a:t>
            </a:r>
          </a:p>
        </p:txBody>
      </p:sp>
      <p:sp>
        <p:nvSpPr>
          <p:cNvPr id="14" name="Rounded Rectangle 13"/>
          <p:cNvSpPr/>
          <p:nvPr/>
        </p:nvSpPr>
        <p:spPr>
          <a:xfrm>
            <a:off x="1097280" y="4389120"/>
            <a:ext cx="2926080" cy="5943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Launch Native Phone Dialer
(+91 98254 85520)</a:t>
            </a:r>
          </a:p>
        </p:txBody>
      </p:sp>
      <p:sp>
        <p:nvSpPr>
          <p:cNvPr id="15" name="Right Arrow 14"/>
          <p:cNvSpPr/>
          <p:nvPr/>
        </p:nvSpPr>
        <p:spPr>
          <a:xfrm>
            <a:off x="7132320" y="4617720"/>
            <a:ext cx="9144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4343400"/>
            <a:ext cx="914400" cy="274320"/>
          </a:xfrm>
          <a:prstGeom prst="rect">
            <a:avLst/>
          </a:prstGeom>
          <a:noFill/>
        </p:spPr>
        <p:txBody>
          <a:bodyPr wrap="none">
            <a:spAutoFit/>
          </a:bodyPr>
          <a:lstStyle/>
          <a:p>
            <a:pPr>
              <a:defRPr sz="850" b="1"/>
            </a:pPr>
            <a:r>
              <a:t>WhatsApp</a:t>
            </a:r>
          </a:p>
        </p:txBody>
      </p:sp>
      <p:sp>
        <p:nvSpPr>
          <p:cNvPr id="17" name="Rounded Rectangle 16"/>
          <p:cNvSpPr/>
          <p:nvPr/>
        </p:nvSpPr>
        <p:spPr>
          <a:xfrm>
            <a:off x="8046720" y="4389120"/>
            <a:ext cx="3017520" cy="5943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Open Pre-filled WhatsApp Chat
(wa.me link with fault text)</a:t>
            </a:r>
          </a:p>
        </p:txBody>
      </p:sp>
      <p:sp>
        <p:nvSpPr>
          <p:cNvPr id="18" name="Rectangle 17"/>
          <p:cNvSpPr/>
          <p:nvPr/>
        </p:nvSpPr>
        <p:spPr>
          <a:xfrm>
            <a:off x="2560320" y="498348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509760" y="498348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60320" y="5394960"/>
            <a:ext cx="6949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own Arrow 20"/>
          <p:cNvSpPr/>
          <p:nvPr/>
        </p:nvSpPr>
        <p:spPr>
          <a:xfrm>
            <a:off x="5989320" y="539496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206240" y="5623560"/>
            <a:ext cx="3657600" cy="5029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Direct Consultation &amp; Drop-off at Udhna Yard</a:t>
            </a:r>
          </a:p>
        </p:txBody>
      </p:sp>
      <p:sp>
        <p:nvSpPr>
          <p:cNvPr id="23" name="Down Arrow 22"/>
          <p:cNvSpPr/>
          <p:nvPr/>
        </p:nvSpPr>
        <p:spPr>
          <a:xfrm>
            <a:off x="5989320" y="6126480"/>
            <a:ext cx="137160" cy="18288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897880" y="6327648"/>
            <a:ext cx="320040" cy="32004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943600" y="6373368"/>
            <a:ext cx="228600" cy="22860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(State Diagram)</a:t>
            </a:r>
          </a:p>
        </p:txBody>
      </p:sp>
      <p:sp>
        <p:nvSpPr>
          <p:cNvPr id="3" name="TextBox 2"/>
          <p:cNvSpPr txBox="1"/>
          <p:nvPr/>
        </p:nvSpPr>
        <p:spPr>
          <a:xfrm>
            <a:off x="731520" y="1298448"/>
            <a:ext cx="10728655" cy="365760"/>
          </a:xfrm>
          <a:prstGeom prst="rect">
            <a:avLst/>
          </a:prstGeom>
          <a:noFill/>
        </p:spPr>
        <p:txBody>
          <a:bodyPr wrap="none">
            <a:spAutoFit/>
          </a:bodyPr>
          <a:lstStyle/>
          <a:p>
            <a:pPr algn="ctr"/>
            <a:r>
              <a:rPr sz="1500" b="1">
                <a:solidFill>
                  <a:srgbClr val="0F172A"/>
                </a:solidFill>
              </a:rPr>
              <a:t>Equipment Repair Service &amp; Job Lifecycle</a:t>
            </a:r>
          </a:p>
        </p:txBody>
      </p:sp>
      <p:sp>
        <p:nvSpPr>
          <p:cNvPr id="4" name="Oval 3"/>
          <p:cNvSpPr/>
          <p:nvPr/>
        </p:nvSpPr>
        <p:spPr>
          <a:xfrm>
            <a:off x="731520" y="3017520"/>
            <a:ext cx="320040" cy="32004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ight Arrow 4"/>
          <p:cNvSpPr/>
          <p:nvPr/>
        </p:nvSpPr>
        <p:spPr>
          <a:xfrm>
            <a:off x="1051560" y="3108960"/>
            <a:ext cx="27432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71600" y="2788920"/>
            <a:ext cx="155448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Inquiry
Initiated</a:t>
            </a:r>
          </a:p>
        </p:txBody>
      </p:sp>
      <p:sp>
        <p:nvSpPr>
          <p:cNvPr id="7" name="Rounded Rectangle 6"/>
          <p:cNvSpPr/>
          <p:nvPr/>
        </p:nvSpPr>
        <p:spPr>
          <a:xfrm>
            <a:off x="3474720" y="2788920"/>
            <a:ext cx="155448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Technician
Consulted</a:t>
            </a:r>
          </a:p>
        </p:txBody>
      </p:sp>
      <p:sp>
        <p:nvSpPr>
          <p:cNvPr id="8" name="Rounded Rectangle 7"/>
          <p:cNvSpPr/>
          <p:nvPr/>
        </p:nvSpPr>
        <p:spPr>
          <a:xfrm>
            <a:off x="5577840" y="2788920"/>
            <a:ext cx="155448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Bench
Diagnosis</a:t>
            </a:r>
          </a:p>
        </p:txBody>
      </p:sp>
      <p:sp>
        <p:nvSpPr>
          <p:cNvPr id="9" name="Rounded Rectangle 8"/>
          <p:cNvSpPr/>
          <p:nvPr/>
        </p:nvSpPr>
        <p:spPr>
          <a:xfrm>
            <a:off x="7680960" y="2788920"/>
            <a:ext cx="182880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Precision Repair
&amp; Testing</a:t>
            </a:r>
          </a:p>
        </p:txBody>
      </p:sp>
      <p:sp>
        <p:nvSpPr>
          <p:cNvPr id="10" name="Rounded Rectangle 9"/>
          <p:cNvSpPr/>
          <p:nvPr/>
        </p:nvSpPr>
        <p:spPr>
          <a:xfrm>
            <a:off x="10058400" y="2788920"/>
            <a:ext cx="146304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F172A"/>
                </a:solidFill>
                <a:latin typeface="Arial"/>
              </a:rPr>
              <a:t>Stage Ready
Delivered</a:t>
            </a:r>
          </a:p>
        </p:txBody>
      </p:sp>
      <p:sp>
        <p:nvSpPr>
          <p:cNvPr id="11" name="Right Arrow 10"/>
          <p:cNvSpPr/>
          <p:nvPr/>
        </p:nvSpPr>
        <p:spPr>
          <a:xfrm>
            <a:off x="2971800" y="3172968"/>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26080" y="2898648"/>
            <a:ext cx="548640" cy="228600"/>
          </a:xfrm>
          <a:prstGeom prst="rect">
            <a:avLst/>
          </a:prstGeom>
          <a:noFill/>
        </p:spPr>
        <p:txBody>
          <a:bodyPr wrap="none">
            <a:spAutoFit/>
          </a:bodyPr>
          <a:lstStyle/>
          <a:p>
            <a:pPr algn="ctr"/>
            <a:r>
              <a:rPr sz="800">
                <a:solidFill>
                  <a:srgbClr val="0F172A"/>
                </a:solidFill>
              </a:rPr>
              <a:t>call / chat</a:t>
            </a:r>
          </a:p>
        </p:txBody>
      </p:sp>
      <p:sp>
        <p:nvSpPr>
          <p:cNvPr id="13" name="Right Arrow 12"/>
          <p:cNvSpPr/>
          <p:nvPr/>
        </p:nvSpPr>
        <p:spPr>
          <a:xfrm>
            <a:off x="5074920" y="3172968"/>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0" y="2898648"/>
            <a:ext cx="548640" cy="228600"/>
          </a:xfrm>
          <a:prstGeom prst="rect">
            <a:avLst/>
          </a:prstGeom>
          <a:noFill/>
        </p:spPr>
        <p:txBody>
          <a:bodyPr wrap="none">
            <a:spAutoFit/>
          </a:bodyPr>
          <a:lstStyle/>
          <a:p>
            <a:pPr algn="ctr"/>
            <a:r>
              <a:rPr sz="800">
                <a:solidFill>
                  <a:srgbClr val="0F172A"/>
                </a:solidFill>
              </a:rPr>
              <a:t>gear intake</a:t>
            </a:r>
          </a:p>
        </p:txBody>
      </p:sp>
      <p:sp>
        <p:nvSpPr>
          <p:cNvPr id="15" name="Right Arrow 14"/>
          <p:cNvSpPr/>
          <p:nvPr/>
        </p:nvSpPr>
        <p:spPr>
          <a:xfrm>
            <a:off x="7178040" y="3172968"/>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2898648"/>
            <a:ext cx="548640" cy="228600"/>
          </a:xfrm>
          <a:prstGeom prst="rect">
            <a:avLst/>
          </a:prstGeom>
          <a:noFill/>
        </p:spPr>
        <p:txBody>
          <a:bodyPr wrap="none">
            <a:spAutoFit/>
          </a:bodyPr>
          <a:lstStyle/>
          <a:p>
            <a:pPr algn="ctr"/>
            <a:r>
              <a:rPr sz="800">
                <a:solidFill>
                  <a:srgbClr val="0F172A"/>
                </a:solidFill>
              </a:rPr>
              <a:t>quote ok</a:t>
            </a:r>
          </a:p>
        </p:txBody>
      </p:sp>
      <p:sp>
        <p:nvSpPr>
          <p:cNvPr id="17" name="Right Arrow 16"/>
          <p:cNvSpPr/>
          <p:nvPr/>
        </p:nvSpPr>
        <p:spPr>
          <a:xfrm>
            <a:off x="9555480" y="3172968"/>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2898648"/>
            <a:ext cx="548640" cy="228600"/>
          </a:xfrm>
          <a:prstGeom prst="rect">
            <a:avLst/>
          </a:prstGeom>
          <a:noFill/>
        </p:spPr>
        <p:txBody>
          <a:bodyPr wrap="none">
            <a:spAutoFit/>
          </a:bodyPr>
          <a:lstStyle/>
          <a:p>
            <a:pPr algn="ctr"/>
            <a:r>
              <a:rPr sz="800">
                <a:solidFill>
                  <a:srgbClr val="0F172A"/>
                </a:solidFill>
              </a:rPr>
              <a:t>burn-in pass</a:t>
            </a:r>
          </a:p>
        </p:txBody>
      </p:sp>
      <p:sp>
        <p:nvSpPr>
          <p:cNvPr id="19" name="Oval 18"/>
          <p:cNvSpPr/>
          <p:nvPr/>
        </p:nvSpPr>
        <p:spPr>
          <a:xfrm>
            <a:off x="11704320" y="3017520"/>
            <a:ext cx="320040" cy="32004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750040" y="3063240"/>
            <a:ext cx="228600" cy="22860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20"/>
          <p:cNvSpPr/>
          <p:nvPr/>
        </p:nvSpPr>
        <p:spPr>
          <a:xfrm>
            <a:off x="11521440" y="3108960"/>
            <a:ext cx="18288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389120" y="4663440"/>
            <a:ext cx="2377440" cy="7772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DC2626"/>
                </a:solidFill>
              </a:rPr>
              <a:t>Inquiry Cancelled /
Beyond Repair</a:t>
            </a:r>
          </a:p>
        </p:txBody>
      </p:sp>
      <p:sp>
        <p:nvSpPr>
          <p:cNvPr id="23" name="Down Arrow 22"/>
          <p:cNvSpPr/>
          <p:nvPr/>
        </p:nvSpPr>
        <p:spPr>
          <a:xfrm>
            <a:off x="6217920" y="3566160"/>
            <a:ext cx="137160" cy="1097280"/>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55080" y="3931920"/>
            <a:ext cx="1645920" cy="274320"/>
          </a:xfrm>
          <a:prstGeom prst="rect">
            <a:avLst/>
          </a:prstGeom>
          <a:noFill/>
        </p:spPr>
        <p:txBody>
          <a:bodyPr wrap="none">
            <a:spAutoFit/>
          </a:bodyPr>
          <a:lstStyle/>
          <a:p>
            <a:pPr>
              <a:defRPr sz="800">
                <a:solidFill>
                  <a:srgbClr val="DC2626"/>
                </a:solidFill>
              </a:defRPr>
            </a:pPr>
            <a:r>
              <a:t>parts unavailable /</a:t>
            </a:r>
            <a:br/>
            <a:r>
              <a:t>quote declined</a:t>
            </a:r>
          </a:p>
        </p:txBody>
      </p:sp>
      <p:sp>
        <p:nvSpPr>
          <p:cNvPr id="25" name="Right Arrow 24"/>
          <p:cNvSpPr/>
          <p:nvPr/>
        </p:nvSpPr>
        <p:spPr>
          <a:xfrm>
            <a:off x="6766560" y="4983480"/>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23760" y="4892040"/>
            <a:ext cx="320040" cy="32004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269480" y="4937760"/>
            <a:ext cx="228600" cy="22860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Deployment Diagram</a:t>
            </a:r>
          </a:p>
        </p:txBody>
      </p:sp>
      <p:sp>
        <p:nvSpPr>
          <p:cNvPr id="3" name="Rectangle 2"/>
          <p:cNvSpPr/>
          <p:nvPr/>
        </p:nvSpPr>
        <p:spPr>
          <a:xfrm>
            <a:off x="822960" y="1920240"/>
            <a:ext cx="3017520" cy="13716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334155"/>
                </a:solidFill>
              </a:rPr>
              <a:t>&lt;&lt;device&gt;&gt;
</a:t>
            </a:r>
            <a:r>
              <a:rPr sz="1100" b="1">
                <a:solidFill>
                  <a:srgbClr val="0F172A"/>
                </a:solidFill>
              </a:rPr>
              <a:t>Customer Device
</a:t>
            </a:r>
            <a:r>
              <a:rPr sz="850">
                <a:solidFill>
                  <a:srgbClr val="0F172A"/>
                </a:solidFill>
              </a:rPr>
              <a:t>Web / Mobile Browser
(Chrome, Safari, Edge, Mobile Web)</a:t>
            </a:r>
          </a:p>
        </p:txBody>
      </p:sp>
      <p:sp>
        <p:nvSpPr>
          <p:cNvPr id="4" name="Parallelogram 3"/>
          <p:cNvSpPr/>
          <p:nvPr/>
        </p:nvSpPr>
        <p:spPr>
          <a:xfrm>
            <a:off x="914400" y="1755648"/>
            <a:ext cx="3017520" cy="164592"/>
          </a:xfrm>
          <a:prstGeom prst="parallelogram">
            <a:avLst/>
          </a:prstGeom>
          <a:solidFill>
            <a:srgbClr val="F8FAFC"/>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0" y="1847088"/>
            <a:ext cx="137160" cy="1371600"/>
          </a:xfrm>
          <a:prstGeom prst="rect">
            <a:avLst/>
          </a:prstGeom>
          <a:solidFill>
            <a:srgbClr val="CBD5E1"/>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0" y="1920240"/>
            <a:ext cx="3017520" cy="13716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334155"/>
                </a:solidFill>
              </a:rPr>
              <a:t>&lt;&lt;server&gt;&gt;
</a:t>
            </a:r>
            <a:r>
              <a:rPr sz="1100" b="1">
                <a:solidFill>
                  <a:srgbClr val="0F172A"/>
                </a:solidFill>
              </a:rPr>
              <a:t>Next.js Web Server
</a:t>
            </a:r>
            <a:r>
              <a:rPr sz="850">
                <a:solidFill>
                  <a:srgbClr val="0F172A"/>
                </a:solidFill>
              </a:rPr>
              <a:t>Node.js Edge Runtime
React 18 SSR / Static Site Generation</a:t>
            </a:r>
          </a:p>
        </p:txBody>
      </p:sp>
      <p:sp>
        <p:nvSpPr>
          <p:cNvPr id="7" name="Parallelogram 6"/>
          <p:cNvSpPr/>
          <p:nvPr/>
        </p:nvSpPr>
        <p:spPr>
          <a:xfrm>
            <a:off x="4663440" y="1755648"/>
            <a:ext cx="3017520" cy="164592"/>
          </a:xfrm>
          <a:prstGeom prst="parallelogram">
            <a:avLst/>
          </a:prstGeom>
          <a:solidFill>
            <a:srgbClr val="F8FAFC"/>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89520" y="1847088"/>
            <a:ext cx="137160" cy="1371600"/>
          </a:xfrm>
          <a:prstGeom prst="rect">
            <a:avLst/>
          </a:prstGeom>
          <a:solidFill>
            <a:srgbClr val="CBD5E1"/>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321040" y="1920240"/>
            <a:ext cx="3017520" cy="13716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334155"/>
                </a:solidFill>
              </a:rPr>
              <a:t>&lt;&lt;external system&gt;&gt;
</a:t>
            </a:r>
            <a:r>
              <a:rPr sz="1100" b="1">
                <a:solidFill>
                  <a:srgbClr val="0F172A"/>
                </a:solidFill>
              </a:rPr>
              <a:t>External Gateways
</a:t>
            </a:r>
            <a:r>
              <a:rPr sz="850">
                <a:solidFill>
                  <a:srgbClr val="0F172A"/>
                </a:solidFill>
              </a:rPr>
              <a:t>WhatsApp Web / wa.me Protocol
RFC 3966 Native Dialer &amp; Google Maps</a:t>
            </a:r>
          </a:p>
        </p:txBody>
      </p:sp>
      <p:sp>
        <p:nvSpPr>
          <p:cNvPr id="10" name="Parallelogram 9"/>
          <p:cNvSpPr/>
          <p:nvPr/>
        </p:nvSpPr>
        <p:spPr>
          <a:xfrm>
            <a:off x="8412480" y="1755648"/>
            <a:ext cx="3017520" cy="164592"/>
          </a:xfrm>
          <a:prstGeom prst="parallelogram">
            <a:avLst/>
          </a:prstGeom>
          <a:solidFill>
            <a:srgbClr val="F8FAFC"/>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338560" y="1847088"/>
            <a:ext cx="137160" cy="1371600"/>
          </a:xfrm>
          <a:prstGeom prst="rect">
            <a:avLst/>
          </a:prstGeom>
          <a:solidFill>
            <a:srgbClr val="CBD5E1"/>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0" y="4297680"/>
            <a:ext cx="3017520" cy="128016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334155"/>
                </a:solidFill>
              </a:rPr>
              <a:t>&lt;&lt;storage&gt;&gt;
</a:t>
            </a:r>
            <a:r>
              <a:rPr sz="1100" b="1">
                <a:solidFill>
                  <a:srgbClr val="0F172A"/>
                </a:solidFill>
              </a:rPr>
              <a:t>Structured Data Store
</a:t>
            </a:r>
            <a:r>
              <a:rPr sz="850">
                <a:solidFill>
                  <a:srgbClr val="0F172A"/>
                </a:solidFill>
              </a:rPr>
              <a:t>business.ts &amp; services.ts Models
Schema.org LocalBusiness JSON-LD</a:t>
            </a:r>
          </a:p>
        </p:txBody>
      </p:sp>
      <p:sp>
        <p:nvSpPr>
          <p:cNvPr id="13" name="Parallelogram 12"/>
          <p:cNvSpPr/>
          <p:nvPr/>
        </p:nvSpPr>
        <p:spPr>
          <a:xfrm>
            <a:off x="4663440" y="4133088"/>
            <a:ext cx="3017520" cy="164592"/>
          </a:xfrm>
          <a:prstGeom prst="parallelogram">
            <a:avLst/>
          </a:prstGeom>
          <a:solidFill>
            <a:srgbClr val="F8FAFC"/>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4224528"/>
            <a:ext cx="137160" cy="1280160"/>
          </a:xfrm>
          <a:prstGeom prst="rect">
            <a:avLst/>
          </a:prstGeom>
          <a:solidFill>
            <a:srgbClr val="CBD5E1"/>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40480" y="2560320"/>
            <a:ext cx="73152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49039" y="2240280"/>
            <a:ext cx="914400" cy="320040"/>
          </a:xfrm>
          <a:prstGeom prst="rect">
            <a:avLst/>
          </a:prstGeom>
          <a:noFill/>
        </p:spPr>
        <p:txBody>
          <a:bodyPr wrap="none">
            <a:spAutoFit/>
          </a:bodyPr>
          <a:lstStyle/>
          <a:p>
            <a:pPr algn="ctr">
              <a:defRPr sz="800" b="1"/>
            </a:pPr>
            <a:r>
              <a:t>HTTPS</a:t>
            </a:r>
            <a:br/>
            <a:r>
              <a:t>Port 443</a:t>
            </a:r>
          </a:p>
        </p:txBody>
      </p:sp>
      <p:sp>
        <p:nvSpPr>
          <p:cNvPr id="17" name="Rectangle 16"/>
          <p:cNvSpPr/>
          <p:nvPr/>
        </p:nvSpPr>
        <p:spPr>
          <a:xfrm>
            <a:off x="7589520" y="2560320"/>
            <a:ext cx="73152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2240280"/>
            <a:ext cx="914400" cy="320040"/>
          </a:xfrm>
          <a:prstGeom prst="rect">
            <a:avLst/>
          </a:prstGeom>
          <a:noFill/>
        </p:spPr>
        <p:txBody>
          <a:bodyPr wrap="none">
            <a:spAutoFit/>
          </a:bodyPr>
          <a:lstStyle/>
          <a:p>
            <a:pPr algn="ctr">
              <a:defRPr sz="800" b="1"/>
            </a:pPr>
            <a:r>
              <a:t>HTTPS /</a:t>
            </a:r>
            <a:br/>
            <a:r>
              <a:t>Deep-link</a:t>
            </a:r>
          </a:p>
        </p:txBody>
      </p:sp>
      <p:sp>
        <p:nvSpPr>
          <p:cNvPr id="19" name="Rectangle 18"/>
          <p:cNvSpPr/>
          <p:nvPr/>
        </p:nvSpPr>
        <p:spPr>
          <a:xfrm>
            <a:off x="6080760" y="3291840"/>
            <a:ext cx="18288"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3657600"/>
            <a:ext cx="1371600" cy="274320"/>
          </a:xfrm>
          <a:prstGeom prst="rect">
            <a:avLst/>
          </a:prstGeom>
          <a:noFill/>
        </p:spPr>
        <p:txBody>
          <a:bodyPr wrap="none">
            <a:spAutoFit/>
          </a:bodyPr>
          <a:lstStyle/>
          <a:p>
            <a:pPr>
              <a:defRPr sz="800" b="1"/>
            </a:pPr>
            <a:r>
              <a:t>Internal Import</a:t>
            </a:r>
          </a:p>
        </p:txBody>
      </p:sp>
      <p:sp>
        <p:nvSpPr>
          <p:cNvPr id="21" name="TextBox 20"/>
          <p:cNvSpPr txBox="1"/>
          <p:nvPr/>
        </p:nvSpPr>
        <p:spPr>
          <a:xfrm>
            <a:off x="731520" y="5852160"/>
            <a:ext cx="10728655" cy="731520"/>
          </a:xfrm>
          <a:prstGeom prst="rect">
            <a:avLst/>
          </a:prstGeom>
          <a:noFill/>
        </p:spPr>
        <p:txBody>
          <a:bodyPr wrap="square">
            <a:spAutoFit/>
          </a:bodyPr>
          <a:lstStyle/>
          <a:p>
            <a:pPr algn="ctr"/>
            <a:r>
              <a:rPr sz="1350">
                <a:solidFill>
                  <a:srgbClr val="0F172A"/>
                </a:solidFill>
                <a:latin typeface="Arial"/>
              </a:rPr>
              <a:t>The customer's browser communicates with the Next.js server over HTTPS;
the server loads structured service data and deep-links directly to WhatsApp and telephony protocols.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(Use cases)</a:t>
            </a:r>
          </a:p>
        </p:txBody>
      </p:sp>
      <p:graphicFrame>
        <p:nvGraphicFramePr>
          <p:cNvPr id="3" name="Table 2"/>
          <p:cNvGraphicFramePr>
            <a:graphicFrameLocks noGrp="1"/>
          </p:cNvGraphicFramePr>
          <p:nvPr/>
        </p:nvGraphicFramePr>
        <p:xfrm>
          <a:off x="914400" y="1828800"/>
          <a:ext cx="10332720" cy="34747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694944">
                <a:tc>
                  <a:txBody>
                    <a:bodyPr/>
                    <a:lstStyle/>
                    <a:p>
                      <a:pPr>
                        <a:defRPr sz="1300" b="1">
                          <a:solidFill>
                            <a:srgbClr val="0F172A"/>
                          </a:solidFill>
                        </a:defRPr>
                      </a:pPr>
                      <a:r>
                        <a:t>Browse &amp; Inquire Equipment Repair</a:t>
                      </a:r>
                    </a:p>
                  </a:txBody>
                  <a:tcPr>
                    <a:solidFill>
                      <a:srgbClr val="E6CCCC"/>
                    </a:solidFill>
                  </a:tcPr>
                </a:tc>
                <a:tc>
                  <a:txBody>
                    <a:bodyPr/>
                    <a:lstStyle/>
                    <a:p>
                      <a:pPr>
                        <a:defRPr sz="1300" b="1">
                          <a:solidFill>
                            <a:srgbClr val="0F172A"/>
                          </a:solidFill>
                        </a:defRPr>
                      </a:pPr>
                      <a:endParaRPr/>
                    </a:p>
                  </a:txBody>
                  <a:tcPr>
                    <a:solidFill>
                      <a:srgbClr val="E6CCCC"/>
                    </a:solidFill>
                  </a:tcPr>
                </a:tc>
                <a:extLst>
                  <a:ext uri="{0D108BD9-81ED-4DB2-BD59-A6C34878D82A}">
                    <a16:rowId xmlns:a16="http://schemas.microsoft.com/office/drawing/2014/main" val="10000"/>
                  </a:ext>
                </a:extLst>
              </a:tr>
              <a:tr h="694944">
                <a:tc>
                  <a:txBody>
                    <a:bodyPr/>
                    <a:lstStyle/>
                    <a:p>
                      <a:pPr>
                        <a:defRPr sz="1200" b="1">
                          <a:solidFill>
                            <a:srgbClr val="0F172A"/>
                          </a:solidFill>
                        </a:defRPr>
                      </a:pPr>
                      <a:r>
                        <a:t>Primary Actor(s)</a:t>
                      </a:r>
                    </a:p>
                  </a:txBody>
                  <a:tcPr>
                    <a:solidFill>
                      <a:srgbClr val="FFFFFF"/>
                    </a:solidFill>
                  </a:tcPr>
                </a:tc>
                <a:tc>
                  <a:txBody>
                    <a:bodyPr/>
                    <a:lstStyle/>
                    <a:p>
                      <a:pPr>
                        <a:defRPr sz="1200">
                          <a:solidFill>
                            <a:srgbClr val="0F172A"/>
                          </a:solidFill>
                        </a:defRPr>
                      </a:pPr>
                      <a:r>
                        <a:t>Customer (DJ, Sound Vendor, Event Organizer)</a:t>
                      </a:r>
                    </a:p>
                  </a:txBody>
                  <a:tcPr>
                    <a:solidFill>
                      <a:srgbClr val="FFFFFF"/>
                    </a:solidFill>
                  </a:tcPr>
                </a:tc>
                <a:extLst>
                  <a:ext uri="{0D108BD9-81ED-4DB2-BD59-A6C34878D82A}">
                    <a16:rowId xmlns:a16="http://schemas.microsoft.com/office/drawing/2014/main" val="10001"/>
                  </a:ext>
                </a:extLst>
              </a:tr>
              <a:tr h="694944">
                <a:tc>
                  <a:txBody>
                    <a:bodyPr/>
                    <a:lstStyle/>
                    <a:p>
                      <a:pPr>
                        <a:defRPr sz="1200" b="1">
                          <a:solidFill>
                            <a:srgbClr val="0F172A"/>
                          </a:solidFill>
                        </a:defRPr>
                      </a:pPr>
                      <a:r>
                        <a:t>Goal of the use case</a:t>
                      </a:r>
                    </a:p>
                  </a:txBody>
                  <a:tcPr>
                    <a:solidFill>
                      <a:srgbClr val="FFFFFF"/>
                    </a:solidFill>
                  </a:tcPr>
                </a:tc>
                <a:tc>
                  <a:txBody>
                    <a:bodyPr/>
                    <a:lstStyle/>
                    <a:p>
                      <a:pPr>
                        <a:defRPr sz="1200">
                          <a:solidFill>
                            <a:srgbClr val="0F172A"/>
                          </a:solidFill>
                        </a:defRPr>
                      </a:pPr>
                      <a:r>
                        <a:t>To browse the specialized pro-audio and stage lighting repair services and inspect fault symptoms and diagnostic specs</a:t>
                      </a:r>
                    </a:p>
                  </a:txBody>
                  <a:tcPr>
                    <a:solidFill>
                      <a:srgbClr val="FFFFFF"/>
                    </a:solidFill>
                  </a:tcPr>
                </a:tc>
                <a:extLst>
                  <a:ext uri="{0D108BD9-81ED-4DB2-BD59-A6C34878D82A}">
                    <a16:rowId xmlns:a16="http://schemas.microsoft.com/office/drawing/2014/main" val="10002"/>
                  </a:ext>
                </a:extLst>
              </a:tr>
              <a:tr h="694944">
                <a:tc>
                  <a:txBody>
                    <a:bodyPr/>
                    <a:lstStyle/>
                    <a:p>
                      <a:pPr>
                        <a:defRPr sz="1200" b="1">
                          <a:solidFill>
                            <a:srgbClr val="0F172A"/>
                          </a:solidFill>
                        </a:defRPr>
                      </a:pPr>
                      <a:r>
                        <a:t>Precondition(s)</a:t>
                      </a:r>
                    </a:p>
                  </a:txBody>
                  <a:tcPr>
                    <a:solidFill>
                      <a:srgbClr val="FFFFFF"/>
                    </a:solidFill>
                  </a:tcPr>
                </a:tc>
                <a:tc>
                  <a:txBody>
                    <a:bodyPr/>
                    <a:lstStyle/>
                    <a:p>
                      <a:pPr>
                        <a:defRPr sz="1200">
                          <a:solidFill>
                            <a:srgbClr val="0F172A"/>
                          </a:solidFill>
                        </a:defRPr>
                      </a:pPr>
                      <a:r>
                        <a:t>Customer has access to an active internet connection and opens the Vikash Electronics website</a:t>
                      </a:r>
                    </a:p>
                  </a:txBody>
                  <a:tcPr>
                    <a:solidFill>
                      <a:srgbClr val="FFFFFF"/>
                    </a:solidFill>
                  </a:tcPr>
                </a:tc>
                <a:extLst>
                  <a:ext uri="{0D108BD9-81ED-4DB2-BD59-A6C34878D82A}">
                    <a16:rowId xmlns:a16="http://schemas.microsoft.com/office/drawing/2014/main" val="10003"/>
                  </a:ext>
                </a:extLst>
              </a:tr>
              <a:tr h="694944">
                <a:tc>
                  <a:txBody>
                    <a:bodyPr/>
                    <a:lstStyle/>
                    <a:p>
                      <a:pPr>
                        <a:defRPr sz="1200" b="1">
                          <a:solidFill>
                            <a:srgbClr val="0F172A"/>
                          </a:solidFill>
                        </a:defRPr>
                      </a:pPr>
                      <a:r>
                        <a:t>Trigger</a:t>
                      </a:r>
                    </a:p>
                  </a:txBody>
                  <a:tcPr>
                    <a:solidFill>
                      <a:srgbClr val="FFFFFF"/>
                    </a:solidFill>
                  </a:tcPr>
                </a:tc>
                <a:tc>
                  <a:txBody>
                    <a:bodyPr/>
                    <a:lstStyle/>
                    <a:p>
                      <a:pPr>
                        <a:defRPr sz="1200">
                          <a:solidFill>
                            <a:srgbClr val="0F172A"/>
                          </a:solidFill>
                        </a:defRPr>
                      </a:pPr>
                      <a:r>
                        <a:t>Customer selects a specific service card (Speakers, Amplifiers, Sharpy) and views diagnostic highlights</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(Use cases)</a:t>
            </a:r>
          </a:p>
        </p:txBody>
      </p:sp>
      <p:graphicFrame>
        <p:nvGraphicFramePr>
          <p:cNvPr id="3" name="Table 2"/>
          <p:cNvGraphicFramePr>
            <a:graphicFrameLocks noGrp="1"/>
          </p:cNvGraphicFramePr>
          <p:nvPr/>
        </p:nvGraphicFramePr>
        <p:xfrm>
          <a:off x="914400" y="1828800"/>
          <a:ext cx="10332720" cy="34747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694944">
                <a:tc>
                  <a:txBody>
                    <a:bodyPr/>
                    <a:lstStyle/>
                    <a:p>
                      <a:pPr>
                        <a:defRPr sz="1300" b="1">
                          <a:solidFill>
                            <a:srgbClr val="0F172A"/>
                          </a:solidFill>
                        </a:defRPr>
                      </a:pPr>
                      <a:r>
                        <a:t>Direct WhatsApp &amp; Call Consultation</a:t>
                      </a:r>
                    </a:p>
                  </a:txBody>
                  <a:tcPr>
                    <a:solidFill>
                      <a:srgbClr val="E6CCCC"/>
                    </a:solidFill>
                  </a:tcPr>
                </a:tc>
                <a:tc>
                  <a:txBody>
                    <a:bodyPr/>
                    <a:lstStyle/>
                    <a:p>
                      <a:pPr>
                        <a:defRPr sz="1300" b="1">
                          <a:solidFill>
                            <a:srgbClr val="0F172A"/>
                          </a:solidFill>
                        </a:defRPr>
                      </a:pPr>
                      <a:endParaRPr/>
                    </a:p>
                  </a:txBody>
                  <a:tcPr>
                    <a:solidFill>
                      <a:srgbClr val="E6CCCC"/>
                    </a:solidFill>
                  </a:tcPr>
                </a:tc>
                <a:extLst>
                  <a:ext uri="{0D108BD9-81ED-4DB2-BD59-A6C34878D82A}">
                    <a16:rowId xmlns:a16="http://schemas.microsoft.com/office/drawing/2014/main" val="10000"/>
                  </a:ext>
                </a:extLst>
              </a:tr>
              <a:tr h="694944">
                <a:tc>
                  <a:txBody>
                    <a:bodyPr/>
                    <a:lstStyle/>
                    <a:p>
                      <a:pPr>
                        <a:defRPr sz="1200" b="1">
                          <a:solidFill>
                            <a:srgbClr val="0F172A"/>
                          </a:solidFill>
                        </a:defRPr>
                      </a:pPr>
                      <a:r>
                        <a:t>Primary Actor(s)</a:t>
                      </a:r>
                    </a:p>
                  </a:txBody>
                  <a:tcPr>
                    <a:solidFill>
                      <a:srgbClr val="FFFFFF"/>
                    </a:solidFill>
                  </a:tcPr>
                </a:tc>
                <a:tc>
                  <a:txBody>
                    <a:bodyPr/>
                    <a:lstStyle/>
                    <a:p>
                      <a:pPr>
                        <a:defRPr sz="1200">
                          <a:solidFill>
                            <a:srgbClr val="0F172A"/>
                          </a:solidFill>
                        </a:defRPr>
                      </a:pPr>
                      <a:r>
                        <a:t>Customer (Equipment Owner)</a:t>
                      </a:r>
                    </a:p>
                  </a:txBody>
                  <a:tcPr>
                    <a:solidFill>
                      <a:srgbClr val="FFFFFF"/>
                    </a:solidFill>
                  </a:tcPr>
                </a:tc>
                <a:extLst>
                  <a:ext uri="{0D108BD9-81ED-4DB2-BD59-A6C34878D82A}">
                    <a16:rowId xmlns:a16="http://schemas.microsoft.com/office/drawing/2014/main" val="10001"/>
                  </a:ext>
                </a:extLst>
              </a:tr>
              <a:tr h="694944">
                <a:tc>
                  <a:txBody>
                    <a:bodyPr/>
                    <a:lstStyle/>
                    <a:p>
                      <a:pPr>
                        <a:defRPr sz="1200" b="1">
                          <a:solidFill>
                            <a:srgbClr val="0F172A"/>
                          </a:solidFill>
                        </a:defRPr>
                      </a:pPr>
                      <a:r>
                        <a:t>Goal of the use case</a:t>
                      </a:r>
                    </a:p>
                  </a:txBody>
                  <a:tcPr>
                    <a:solidFill>
                      <a:srgbClr val="FFFFFF"/>
                    </a:solidFill>
                  </a:tcPr>
                </a:tc>
                <a:tc>
                  <a:txBody>
                    <a:bodyPr/>
                    <a:lstStyle/>
                    <a:p>
                      <a:pPr>
                        <a:defRPr sz="1200">
                          <a:solidFill>
                            <a:srgbClr val="0F172A"/>
                          </a:solidFill>
                        </a:defRPr>
                      </a:pPr>
                      <a:r>
                        <a:t>To initiate instant zero-commission consultation with the chief technician regarding urgent repairs</a:t>
                      </a:r>
                    </a:p>
                  </a:txBody>
                  <a:tcPr>
                    <a:solidFill>
                      <a:srgbClr val="FFFFFF"/>
                    </a:solidFill>
                  </a:tcPr>
                </a:tc>
                <a:extLst>
                  <a:ext uri="{0D108BD9-81ED-4DB2-BD59-A6C34878D82A}">
                    <a16:rowId xmlns:a16="http://schemas.microsoft.com/office/drawing/2014/main" val="10002"/>
                  </a:ext>
                </a:extLst>
              </a:tr>
              <a:tr h="694944">
                <a:tc>
                  <a:txBody>
                    <a:bodyPr/>
                    <a:lstStyle/>
                    <a:p>
                      <a:pPr>
                        <a:defRPr sz="1200" b="1">
                          <a:solidFill>
                            <a:srgbClr val="0F172A"/>
                          </a:solidFill>
                        </a:defRPr>
                      </a:pPr>
                      <a:r>
                        <a:t>Precondition(s)</a:t>
                      </a:r>
                    </a:p>
                  </a:txBody>
                  <a:tcPr>
                    <a:solidFill>
                      <a:srgbClr val="FFFFFF"/>
                    </a:solidFill>
                  </a:tcPr>
                </a:tc>
                <a:tc>
                  <a:txBody>
                    <a:bodyPr/>
                    <a:lstStyle/>
                    <a:p>
                      <a:pPr>
                        <a:defRPr sz="1200">
                          <a:solidFill>
                            <a:srgbClr val="0F172A"/>
                          </a:solidFill>
                        </a:defRPr>
                      </a:pPr>
                      <a:r>
                        <a:t>Customer has identified faulty gear and selected the WhatsApp Inquiry or Call Now action</a:t>
                      </a:r>
                    </a:p>
                  </a:txBody>
                  <a:tcPr>
                    <a:solidFill>
                      <a:srgbClr val="FFFFFF"/>
                    </a:solidFill>
                  </a:tcPr>
                </a:tc>
                <a:extLst>
                  <a:ext uri="{0D108BD9-81ED-4DB2-BD59-A6C34878D82A}">
                    <a16:rowId xmlns:a16="http://schemas.microsoft.com/office/drawing/2014/main" val="10003"/>
                  </a:ext>
                </a:extLst>
              </a:tr>
              <a:tr h="694944">
                <a:tc>
                  <a:txBody>
                    <a:bodyPr/>
                    <a:lstStyle/>
                    <a:p>
                      <a:pPr>
                        <a:defRPr sz="1200" b="1">
                          <a:solidFill>
                            <a:srgbClr val="0F172A"/>
                          </a:solidFill>
                        </a:defRPr>
                      </a:pPr>
                      <a:r>
                        <a:t>Trigger</a:t>
                      </a:r>
                    </a:p>
                  </a:txBody>
                  <a:tcPr>
                    <a:solidFill>
                      <a:srgbClr val="FFFFFF"/>
                    </a:solidFill>
                  </a:tcPr>
                </a:tc>
                <a:tc>
                  <a:txBody>
                    <a:bodyPr/>
                    <a:lstStyle/>
                    <a:p>
                      <a:pPr>
                        <a:defRPr sz="1200">
                          <a:solidFill>
                            <a:srgbClr val="0F172A"/>
                          </a:solidFill>
                        </a:defRPr>
                      </a:pPr>
                      <a:r>
                        <a:t>Customer taps 'Call Now' or 'Inquire on WhatsApp' button on website</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Others</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600"/>
              </a:spcBef>
            </a:pPr>
            <a:r>
              <a:rPr sz="1350">
                <a:solidFill>
                  <a:srgbClr val="0F172A"/>
                </a:solidFill>
                <a:latin typeface="Arial"/>
              </a:rPr>
              <a:t>Technology stack implemented: Next.js 14 (React 18), TypeScript for strict static type checking, Tailwind CSS for dark slate theme styling, Framer Motion for micro-animations, and Lucide-React vector icon set.</a:t>
            </a:r>
          </a:p>
          <a:p>
            <a:pPr>
              <a:spcBef>
                <a:spcPts val="1600"/>
              </a:spcBef>
            </a:pPr>
            <a:r>
              <a:rPr sz="1350">
                <a:solidFill>
                  <a:srgbClr val="0F172A"/>
                </a:solidFill>
                <a:latin typeface="Arial"/>
              </a:rPr>
              <a:t>SEO &amp; Discoverability: Embedded Schema.org LocalBusiness structured JSON-LD data, geographic meta tags, and open-graph cards for dominant Surat pro-audio repair Google rankings.</a:t>
            </a:r>
          </a:p>
          <a:p>
            <a:pPr>
              <a:spcBef>
                <a:spcPts val="1600"/>
              </a:spcBef>
            </a:pPr>
            <a:r>
              <a:rPr sz="1350">
                <a:solidFill>
                  <a:srgbClr val="0F172A"/>
                </a:solidFill>
                <a:latin typeface="Arial"/>
              </a:rPr>
              <a:t>Additional planned features: Online repair tracking portal for customers to check equipment status by phone number, and direct links to the workshop's YouTube repair guides.</a:t>
            </a:r>
          </a:p>
          <a:p>
            <a:pPr>
              <a:spcBef>
                <a:spcPts val="1600"/>
              </a:spcBef>
            </a:pPr>
            <a:r>
              <a:rPr sz="1350">
                <a:solidFill>
                  <a:srgbClr val="0F172A"/>
                </a:solidFill>
                <a:latin typeface="Arial"/>
              </a:rPr>
              <a:t>Screenshots of development: Responsive portal successfully running on localhost:3000 featuring authentic workshop bench testing photos and full service catalog.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utu_flame_logo.png"/>
          <p:cNvPicPr>
            <a:picLocks noChangeAspect="1"/>
          </p:cNvPicPr>
          <p:nvPr/>
        </p:nvPicPr>
        <p:blipFill>
          <a:blip r:embed="rId2"/>
          <a:stretch>
            <a:fillRect/>
          </a:stretch>
        </p:blipFill>
        <p:spPr>
          <a:xfrm>
            <a:off x="731520" y="365760"/>
            <a:ext cx="1097280" cy="949747"/>
          </a:xfrm>
          <a:prstGeom prst="rect">
            <a:avLst/>
          </a:prstGeom>
        </p:spPr>
      </p:pic>
      <p:pic>
        <p:nvPicPr>
          <p:cNvPr id="3" name="Picture 2" descr="amtics_circle_logo.png"/>
          <p:cNvPicPr>
            <a:picLocks noChangeAspect="1"/>
          </p:cNvPicPr>
          <p:nvPr/>
        </p:nvPicPr>
        <p:blipFill>
          <a:blip r:embed="rId3"/>
          <a:stretch>
            <a:fillRect/>
          </a:stretch>
        </p:blipFill>
        <p:spPr>
          <a:xfrm>
            <a:off x="10332720" y="365760"/>
            <a:ext cx="1097280" cy="804114"/>
          </a:xfrm>
          <a:prstGeom prst="rect">
            <a:avLst/>
          </a:prstGeom>
        </p:spPr>
      </p:pic>
      <p:sp>
        <p:nvSpPr>
          <p:cNvPr id="4" name="TextBox 3"/>
          <p:cNvSpPr txBox="1"/>
          <p:nvPr/>
        </p:nvSpPr>
        <p:spPr>
          <a:xfrm>
            <a:off x="1828800" y="2011680"/>
            <a:ext cx="8534095" cy="1828800"/>
          </a:xfrm>
          <a:prstGeom prst="rect">
            <a:avLst/>
          </a:prstGeom>
          <a:noFill/>
        </p:spPr>
        <p:txBody>
          <a:bodyPr wrap="square">
            <a:spAutoFit/>
          </a:bodyPr>
          <a:lstStyle/>
          <a:p>
            <a:pPr algn="ctr"/>
            <a:r>
              <a:rPr sz="5000" b="1">
                <a:solidFill>
                  <a:srgbClr val="0F172A"/>
                </a:solidFill>
                <a:latin typeface="Arial"/>
              </a:rPr>
              <a:t>Thank You</a:t>
            </a:r>
          </a:p>
        </p:txBody>
      </p:sp>
      <p:sp>
        <p:nvSpPr>
          <p:cNvPr id="5" name="Rectangle 4"/>
          <p:cNvSpPr/>
          <p:nvPr/>
        </p:nvSpPr>
        <p:spPr>
          <a:xfrm>
            <a:off x="4663440" y="3291840"/>
            <a:ext cx="2834640"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3931920"/>
            <a:ext cx="8534095" cy="1645920"/>
          </a:xfrm>
          <a:prstGeom prst="rect">
            <a:avLst/>
          </a:prstGeom>
          <a:noFill/>
        </p:spPr>
        <p:txBody>
          <a:bodyPr wrap="square">
            <a:spAutoFit/>
          </a:bodyPr>
          <a:lstStyle/>
          <a:p>
            <a:pPr algn="ctr"/>
            <a:r>
              <a:rPr sz="1800" b="1">
                <a:solidFill>
                  <a:srgbClr val="0F172A"/>
                </a:solidFill>
                <a:latin typeface="Arial"/>
              </a:rPr>
              <a:t>Prathmesh Chaudhari (202503103510061)</a:t>
            </a:r>
          </a:p>
          <a:p>
            <a:pPr algn="ctr">
              <a:spcBef>
                <a:spcPts val="800"/>
              </a:spcBef>
            </a:pPr>
            <a:r>
              <a:rPr sz="1600">
                <a:solidFill>
                  <a:srgbClr val="334155"/>
                </a:solidFill>
                <a:latin typeface="Arial"/>
              </a:rPr>
              <a:t>Professional DJ &amp; Electronic Equipment Repair Portal — Vikash Electronics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2743</Words>
  <Application>Microsoft Office PowerPoint</Application>
  <PresentationFormat>Widescreen</PresentationFormat>
  <Paragraphs>297</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Prathmesh Chaudhari</cp:lastModifiedBy>
  <cp:revision>2</cp:revision>
  <dcterms:created xsi:type="dcterms:W3CDTF">2013-01-27T09:14:16Z</dcterms:created>
  <dcterms:modified xsi:type="dcterms:W3CDTF">2026-09-21T13:13:54Z</dcterms:modified>
  <cp:category/>
</cp:coreProperties>
</file>